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fdcc7439bc4106" /><Relationship Type="http://schemas.openxmlformats.org/officeDocument/2006/relationships/extended-properties" Target="/docProps/app.xml" Id="Rc6e0ba1df6554c6e" /><Relationship Type="http://schemas.openxmlformats.org/officeDocument/2006/relationships/officeDocument" Target="/ppt/presentation.xml" Id="R92a6b4f2133f4e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f29d030f0d40fa"/>
  </p:sldMasterIdLst>
  <p:notesMasterIdLst>
    <p:notesMasterId xmlns:r="http://schemas.openxmlformats.org/officeDocument/2006/relationships" r:id="R75aab9f300a74641"/>
  </p:notesMasterIdLst>
  <p:sldIdLst>
    <p:sldId xmlns:r="http://schemas.openxmlformats.org/officeDocument/2006/relationships" id="256" r:id="R8328d7b4698b4f66"/>
    <p:sldId xmlns:r="http://schemas.openxmlformats.org/officeDocument/2006/relationships" id="257" r:id="R78f75f8381664a1c"/>
    <p:sldId xmlns:r="http://schemas.openxmlformats.org/officeDocument/2006/relationships" id="258" r:id="R1e348e1999e74960"/>
    <p:sldId xmlns:r="http://schemas.openxmlformats.org/officeDocument/2006/relationships" id="259" r:id="R8f4e2fb8d29b4de2"/>
    <p:sldId xmlns:r="http://schemas.openxmlformats.org/officeDocument/2006/relationships" id="260" r:id="R99f0bb72fb214573"/>
    <p:sldId xmlns:r="http://schemas.openxmlformats.org/officeDocument/2006/relationships" id="261" r:id="R3aebd2c6ef664dbb"/>
    <p:sldId xmlns:r="http://schemas.openxmlformats.org/officeDocument/2006/relationships" id="262" r:id="R9c60e6ada8414d87"/>
    <p:sldId xmlns:r="http://schemas.openxmlformats.org/officeDocument/2006/relationships" id="263" r:id="Ra00f03a8f058420d"/>
    <p:sldId xmlns:r="http://schemas.openxmlformats.org/officeDocument/2006/relationships" id="264" r:id="R5a1d9f11015f4008"/>
    <p:sldId xmlns:r="http://schemas.openxmlformats.org/officeDocument/2006/relationships" id="265" r:id="Rb495ec21b4d84bbf"/>
    <p:sldId xmlns:r="http://schemas.openxmlformats.org/officeDocument/2006/relationships" id="266" r:id="R6d678ffdb8fa4fbd"/>
    <p:sldId xmlns:r="http://schemas.openxmlformats.org/officeDocument/2006/relationships" id="267" r:id="Re4af0e29a62c4558"/>
    <p:sldId xmlns:r="http://schemas.openxmlformats.org/officeDocument/2006/relationships" id="268" r:id="R0c16e8a9f0c64b9c"/>
    <p:sldId xmlns:r="http://schemas.openxmlformats.org/officeDocument/2006/relationships" id="269" r:id="R1c80c7c3df464e9a"/>
    <p:sldId xmlns:r="http://schemas.openxmlformats.org/officeDocument/2006/relationships" id="270" r:id="R5ec8c99720f24554"/>
    <p:sldId xmlns:r="http://schemas.openxmlformats.org/officeDocument/2006/relationships" id="271" r:id="R4bfbf9cc37ac49c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3b4c3b687ab407d" /><Relationship Type="http://schemas.openxmlformats.org/officeDocument/2006/relationships/slideMaster" Target="/ppt/slideMasters/slideMaster1.xml" Id="Reff29d030f0d40fa" /><Relationship Type="http://schemas.openxmlformats.org/officeDocument/2006/relationships/notesMaster" Target="/ppt/notesMasters/notesMaster1.xml" Id="R75aab9f300a74641" /><Relationship Type="http://schemas.openxmlformats.org/officeDocument/2006/relationships/presProps" Target="/ppt/presProps.xml" Id="R28a86706ac51461a" /><Relationship Type="http://schemas.openxmlformats.org/officeDocument/2006/relationships/tableStyles" Target="/ppt/tableStyles.xml" Id="Rf4cf313045544576" /><Relationship Type="http://schemas.openxmlformats.org/officeDocument/2006/relationships/slide" Target="/ppt/slides/slide1.xml" Id="R8328d7b4698b4f66" /><Relationship Type="http://schemas.openxmlformats.org/officeDocument/2006/relationships/slide" Target="/ppt/slides/slide2.xml" Id="R78f75f8381664a1c" /><Relationship Type="http://schemas.openxmlformats.org/officeDocument/2006/relationships/slide" Target="/ppt/slides/slide3.xml" Id="R1e348e1999e74960" /><Relationship Type="http://schemas.openxmlformats.org/officeDocument/2006/relationships/slide" Target="/ppt/slides/slide4.xml" Id="R8f4e2fb8d29b4de2" /><Relationship Type="http://schemas.openxmlformats.org/officeDocument/2006/relationships/slide" Target="/ppt/slides/slide5.xml" Id="R99f0bb72fb214573" /><Relationship Type="http://schemas.openxmlformats.org/officeDocument/2006/relationships/slide" Target="/ppt/slides/slide6.xml" Id="R3aebd2c6ef664dbb" /><Relationship Type="http://schemas.openxmlformats.org/officeDocument/2006/relationships/slide" Target="/ppt/slides/slide7.xml" Id="R9c60e6ada8414d87" /><Relationship Type="http://schemas.openxmlformats.org/officeDocument/2006/relationships/slide" Target="/ppt/slides/slide8.xml" Id="Ra00f03a8f058420d" /><Relationship Type="http://schemas.openxmlformats.org/officeDocument/2006/relationships/slide" Target="/ppt/slides/slide9.xml" Id="R5a1d9f11015f4008" /><Relationship Type="http://schemas.openxmlformats.org/officeDocument/2006/relationships/slide" Target="/ppt/slides/slide10.xml" Id="Rb495ec21b4d84bbf" /><Relationship Type="http://schemas.openxmlformats.org/officeDocument/2006/relationships/slide" Target="/ppt/slides/slide11.xml" Id="R6d678ffdb8fa4fbd" /><Relationship Type="http://schemas.openxmlformats.org/officeDocument/2006/relationships/slide" Target="/ppt/slides/slide12.xml" Id="Re4af0e29a62c4558" /><Relationship Type="http://schemas.openxmlformats.org/officeDocument/2006/relationships/slide" Target="/ppt/slides/slide13.xml" Id="R0c16e8a9f0c64b9c" /><Relationship Type="http://schemas.openxmlformats.org/officeDocument/2006/relationships/slide" Target="/ppt/slides/slide14.xml" Id="R1c80c7c3df464e9a" /><Relationship Type="http://schemas.openxmlformats.org/officeDocument/2006/relationships/slide" Target="/ppt/slides/slide15.xml" Id="R5ec8c99720f24554" /><Relationship Type="http://schemas.openxmlformats.org/officeDocument/2006/relationships/slide" Target="/ppt/slides/slide16.xml" Id="R4bfbf9cc37ac49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aa7e8d1f4094b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348045ebe94db2" /><Relationship Type="http://schemas.openxmlformats.org/officeDocument/2006/relationships/notesMaster" Target="/ppt/notesMasters/notesMaster1.xml" Id="Rdf72e7360c6e4b9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169b563cc74870" /><Relationship Type="http://schemas.openxmlformats.org/officeDocument/2006/relationships/notesMaster" Target="/ppt/notesMasters/notesMaster1.xml" Id="Rca0750c1e6864bc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03486517dd541b5" /><Relationship Type="http://schemas.openxmlformats.org/officeDocument/2006/relationships/notesMaster" Target="/ppt/notesMasters/notesMaster1.xml" Id="Rf834cbac1d23475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d7ab1f0ccd4d86" /><Relationship Type="http://schemas.openxmlformats.org/officeDocument/2006/relationships/notesMaster" Target="/ppt/notesMasters/notesMaster1.xml" Id="R89d975232b50435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2c5da8c72bb41b0" /><Relationship Type="http://schemas.openxmlformats.org/officeDocument/2006/relationships/notesMaster" Target="/ppt/notesMasters/notesMaster1.xml" Id="Rf8f63c3764a349b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fda222af66d4c9d" /><Relationship Type="http://schemas.openxmlformats.org/officeDocument/2006/relationships/notesMaster" Target="/ppt/notesMasters/notesMaster1.xml" Id="R941c20d7b5f9490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29956a7befc4c3b" /><Relationship Type="http://schemas.openxmlformats.org/officeDocument/2006/relationships/notesMaster" Target="/ppt/notesMasters/notesMaster1.xml" Id="R6454e44928d6496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7fa2dc749df47e2" /><Relationship Type="http://schemas.openxmlformats.org/officeDocument/2006/relationships/notesMaster" Target="/ppt/notesMasters/notesMaster1.xml" Id="R88bf993aae16440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912d19da0604666" /><Relationship Type="http://schemas.openxmlformats.org/officeDocument/2006/relationships/notesMaster" Target="/ppt/notesMasters/notesMaster1.xml" Id="Rdb4d63f44e20446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40689738ce64c6e" /><Relationship Type="http://schemas.openxmlformats.org/officeDocument/2006/relationships/notesMaster" Target="/ppt/notesMasters/notesMaster1.xml" Id="Reac7f7259d7c43d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c86841ad28a4fc7" /><Relationship Type="http://schemas.openxmlformats.org/officeDocument/2006/relationships/notesMaster" Target="/ppt/notesMasters/notesMaster1.xml" Id="R632df5efb6de44f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686ff28b08b42c3" /><Relationship Type="http://schemas.openxmlformats.org/officeDocument/2006/relationships/notesMaster" Target="/ppt/notesMasters/notesMaster1.xml" Id="R6181fdbbe72f4b9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7eb033920bf4977" /><Relationship Type="http://schemas.openxmlformats.org/officeDocument/2006/relationships/notesMaster" Target="/ppt/notesMasters/notesMaster1.xml" Id="R3c85c758a7aa44b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baf6ae3a19f44e9" /><Relationship Type="http://schemas.openxmlformats.org/officeDocument/2006/relationships/notesMaster" Target="/ppt/notesMasters/notesMaster1.xml" Id="Rd1ae6b3ba4db4c6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9a3f91d41804807" /><Relationship Type="http://schemas.openxmlformats.org/officeDocument/2006/relationships/notesMaster" Target="/ppt/notesMasters/notesMaster1.xml" Id="R3b8c3643136f4d3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e32bb60f5dc4a4e" /><Relationship Type="http://schemas.openxmlformats.org/officeDocument/2006/relationships/notesMaster" Target="/ppt/notesMasters/notesMaster1.xml" Id="Rcc8cbdd2f0e64d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《操作系统原理课程设计.pdf》第13–14页。本次是课程第三周的小组实验设计汇报，说明选题、需求、概要设计、OS原理、小组分工和预计难点。按三人已确定分工制作。课件写4–6人一组，提交前由小组向老师确认人数安排。预计讲解8–10分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《操作系统原理课程设计.pdf》第13–14页。本选题把校园共享打印抽象成多个任务竞争有限设备。这里的需求是基于典型场景提出的假设，尚未完成正式问卷或访谈，不把假设写成调研统计。希望解决等待过程不可见、不同任务调度难比较、执行异常后状态难追踪的问题。课设采用模拟打印，便于安全复现进程故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《操作系统原理课程设计.pdf》第13–14页。第一版聚焦单台主机上的两台模拟打印设备。输入是任务名称、页数、份数和优先级。用户能够提交、查询和取消任务，操作员能够切换策略并查看运行记录。关键验收不是功能按钮是否存在，而是同任务不会重复领取、运行取消收到确认、服务重启可以对账恢复。真实打印、支付、登录权限和网络共享不纳入本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《操作系统原理课程设计.pdf》第13–14页。思维导图从需求、调度、后台、交互、验证和协作六个分支梳理工作。每条分支都对应代码或验收材料。A负责策略和统计，B负责进程与持久化，C负责界面与跨平台集成。各分支同时约束功能范围与验收方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《操作系统原理课程设计.pdf》第13–14页。用例图强调系统对外提供的能力。提交者关注提交、查看和取消，演示操作员关注策略、统计和故障演示。两个角色只是需求视角，不代表已实现身份认证。用例边界不包括真实打印机、支付系统或远程共享服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architecture.md、src/coordinator/main.cpp、src/gui/print_controller.cpp，代码基线fb7de0b。图展示目标集成架构。后台coordinator持有调度器和状态文件，监督进程启动worker执行模拟打印，GUI通过本地IPC查询和控制。B的后台已实现，但GUI当前仍使用内存Scheduler并直接启动supervisor，接入目标后台是待完成工作。不能将目标设计说成全部已集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clude/cps/core/scheduler.hpp、include/cps/metrics/statistics.hpp、src/core/replay.cpp、src/coordinator/main.cpp。这是一张简化核心关系图，不罗列所有Qt类和辅助函数。Scheduler保存Job，Job保存每次执行的RunInterval。Coordinator调用核心并负责外部进程和磁盘。Statistics为快照统计结果，replay用模拟时间驱动相同核心。接口通过副本和明确的状态方法隔离UI与核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src/coordinator/main.cpp。提交后先保存等待状态，派发时在互斥临界区领取任务并产生attempt，先持久化Running状态，再启动监督和工作进程。若持久化失败，就不能继续启动新执行。worker的进度和结束事件返回后台，后台核对结果并更新快照。为突出先持久化再执行，图略去GUI快照刷新返回线以及详细异常分支，异常状态见下一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src/core/scheduler.cpp。Queued任务可以直接取消，Running任务进入Cancelling后等待执行器停止确认。当前attempt未达上限时可以重新入队；超过上限进入Failed。取消与成功输出可能竞争，若当前执行的原子输出已经确认提交，Cancelling仍可能转Completed。核心拒绝过期attempt回调。图中的Completed、Failed、Cancelled是业务终态，重试只从仍活动的Running发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《操作系统原理课程设计.pdf》第3–9页，docs/architecture.md。课程明确要求守护进程，不能只用后台线程替代。POSIX通过double-fork、setsid、工作目录和描述符处理脱离终端，随后exec初始化Qt。Windows原生使用前台监督服务模式，传统daemon验收在macOS或Linux进行。其余原理分别体现在调度、同步、进程通信和文件一致性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来源：https://www.drawio.com/docs/tutorials/mockups-in-jira/ 和 https://help.figma.com/hc/en-us/articles/360040314193-Guide-to-prototyping-in-Figma 。原型工具用来提前表达界面和操作过程，让团队在完整实现前讨论需求。Figma等支持页面连接和交互预览，diagrams.net可以编辑线框和流程。本次交付diagrams.net格式图稿及离线HTML交互原型。原型使用示例数据，不连接正式C++服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来源：本项目 docs/week3/prototype.html。截图为设计原型，数据是明确标识的课堂示例，不是实际后台运行证据。队列页同时展示两台设备、等待任务、状态和取消入口。选择策略只影响下一次派发，已经执行的任务不抢占。现场可打开同目录HTML，演示提交任务并在队列中找到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来源：本项目 docs/week3/prototype.html，目标接口语义见docs/interfaces.md。点击运行任务的取消按钮后先弹出确认，再显示取消中，直到执行器确认停止。断线时明确显示连接状态并停用需要后台确认的控制，后台继续执行的目标行为通过原型模拟。重连后重新获取快照，避免仅靠旧增量事件猜测真实状态。演示数据与正式恢复逻辑分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《操作系统原理课程设计.pdf》第13–14页。难点集中在并发和故障下的正确性。领取必须与状态改变在同一个临界区；旧进程回调需要attempt隔离；崩溃后先对账输出和进程，再决定完成或重排队；大任务公平性用老化与尾部指标观察。跨平台通信必须处理半条消息、多条消息和中文路径。每项难点都配对应测试，避免只演示正常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《操作系统原理课程设计.pdf》第13–14页。分工沿用已经确认的成员：A是We1chan，B是YI1990442038，C是korwave。三人都承担实现和相应验证，不把某人仅安排成写文档。A提供状态与统计接口，B提供持久化和进程事件，C使用这些接口做界面与集成。公共字段或取消语义修改时先更新接口文档，直接在main同步、提交、推送。课件人数要求与当前三人安排需向老师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《操作系统原理课程设计.pdf》第13–14页。课程第三周交付本次设计汇报、图稿和原型。第四、五周按计划集中完成GUI与持久后台统一、异常路径验证和跨平台发布，第六周展示可运行系统。现有仓库已完成核心、后台和GUI各自的实现，也有26个A专项场景与33组策略实验。当前仍待完成的是GUI接入独立coordinator以及最终整体验收。这一页区分已完成与计划，不把原型截图当成最终系统验收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c6fbd7a7e14ad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ac430247a1d44ec" /><Relationship Type="http://schemas.openxmlformats.org/officeDocument/2006/relationships/slideLayout" Target="/ppt/slideLayouts/slideLayout1.xml" Id="R632c2a7948004e6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2c2a7948004e6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1006e326dc49e0" /><Relationship Type="http://schemas.openxmlformats.org/officeDocument/2006/relationships/notesSlide" Target="/ppt/notesSlides/notesSlide1.xml" Id="R34182988558445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88b205d6224a7a" /><Relationship Type="http://schemas.openxmlformats.org/officeDocument/2006/relationships/notesSlide" Target="/ppt/notesSlides/notesSlide2.xml" Id="Rb3f5663cd67c427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eda5ffc11a4683" /><Relationship Type="http://schemas.openxmlformats.org/officeDocument/2006/relationships/notesSlide" Target="/ppt/notesSlides/notesSlide3.xml" Id="R3b6461c33451420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07ec1530714847" /><Relationship Type="http://schemas.openxmlformats.org/officeDocument/2006/relationships/notesSlide" Target="/ppt/notesSlides/notesSlide4.xml" Id="R680883308de1479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35029a0c7a43dd" /><Relationship Type="http://schemas.openxmlformats.org/officeDocument/2006/relationships/notesSlide" Target="/ppt/notesSlides/notesSlide5.xml" Id="Rf991705322734fc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39f258d7e14c82" /><Relationship Type="http://schemas.openxmlformats.org/officeDocument/2006/relationships/notesSlide" Target="/ppt/notesSlides/notesSlide6.xml" Id="Ra46d32e519624b7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444a9eabca4b37" /><Relationship Type="http://schemas.openxmlformats.org/officeDocument/2006/relationships/notesSlide" Target="/ppt/notesSlides/notesSlide7.xml" Id="R23f307846822447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4d96bf68bb4468" /><Relationship Type="http://schemas.openxmlformats.org/officeDocument/2006/relationships/notesSlide" Target="/ppt/notesSlides/notesSlide8.xml" Id="R9fa6481ed0ba42c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a71381f77149bf" /><Relationship Type="http://schemas.openxmlformats.org/officeDocument/2006/relationships/notesSlide" Target="/ppt/notesSlides/notesSlide9.xml" Id="R16f80cfb8007407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9c4989095c4019" /><Relationship Type="http://schemas.openxmlformats.org/officeDocument/2006/relationships/notesSlide" Target="/ppt/notesSlides/notesSlide10.xml" Id="Re5fe1ec1c0e0490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9fc57d591a4bc5" /><Relationship Type="http://schemas.openxmlformats.org/officeDocument/2006/relationships/notesSlide" Target="/ppt/notesSlides/notesSlide11.xml" Id="Rcb9d7ae07b3147b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829e43175d4cc5" /><Relationship Type="http://schemas.openxmlformats.org/officeDocument/2006/relationships/image" Target="/ppt/media/image.png" Id="R84e091605b7f4d9b" /><Relationship Type="http://schemas.openxmlformats.org/officeDocument/2006/relationships/notesSlide" Target="/ppt/notesSlides/notesSlide12.xml" Id="R6baf7e5d94594bb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11bd1beeda4994" /><Relationship Type="http://schemas.openxmlformats.org/officeDocument/2006/relationships/image" Target="/ppt/media/image2.png" Id="Rfeeb24d40d374abe" /><Relationship Type="http://schemas.openxmlformats.org/officeDocument/2006/relationships/notesSlide" Target="/ppt/notesSlides/notesSlide13.xml" Id="R9d7197a07f4042c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495a594c554c3c" /><Relationship Type="http://schemas.openxmlformats.org/officeDocument/2006/relationships/notesSlide" Target="/ppt/notesSlides/notesSlide14.xml" Id="R597ad8ae73d0491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b68db1125b4215" /><Relationship Type="http://schemas.openxmlformats.org/officeDocument/2006/relationships/notesSlide" Target="/ppt/notesSlides/notesSlide15.xml" Id="R43b976a60fab456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45d8a50af14100" /><Relationship Type="http://schemas.openxmlformats.org/officeDocument/2006/relationships/notesSlide" Target="/ppt/notesSlides/notesSlide16.xml" Id="Raee349860b0d47e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933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1">
            <a:extLst xmlns:a="http://schemas.openxmlformats.org/drawingml/2006/main">
              <a:ext uri="{FF2B5EF4-FFF2-40B4-BE49-F238E27FC236}">
                <a16:creationId xmlns:a16="http://schemas.microsoft.com/office/drawing/2014/main" id="{A1908913-A576-4757-B8C3-EEBF1E7C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98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ACC2D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ACC2D6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8DF60A68-3555-47B9-999C-9785D012C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9EC9D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9EC9DE"/>
                </a:solidFill>
                <a:latin typeface="Hiragino Sans GB"/>
                <a:ea typeface="Hiragino Sans GB"/>
                <a:cs typeface="Hiragino Sans GB"/>
              </a:rPr>
              <a:t>操作系统原理课程设计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A653B87D-A477-4B01-A38C-E760B84F1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71675"/>
            <a:ext cx="109537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5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校园共享打印任务调度</a:t>
            </a:r>
          </a:p>
          <a:p xmlns:a="http://schemas.openxmlformats.org/drawingml/2006/main">
            <a:pPr algn="l">
              <a:defRPr sz="45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5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与故障恢复系统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A41517A4-4D98-4FCE-B4ED-71A70A119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624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D8E7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D8E7F0"/>
                </a:solidFill>
                <a:latin typeface="Hiragino Sans GB"/>
                <a:ea typeface="Hiragino Sans GB"/>
                <a:cs typeface="Hiragino Sans GB"/>
              </a:rPr>
              <a:t>第三周小组实验设计汇报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65B415A2-68AB-4240-B447-5643C7679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6260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8E7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D8E7F0"/>
                </a:solidFill>
                <a:latin typeface="Hiragino Sans GB"/>
                <a:ea typeface="Hiragino Sans GB"/>
                <a:cs typeface="Hiragino Sans GB"/>
              </a:rPr>
              <a:t>A  We1chan       B  YI1990442038       C  korwave</a:t>
            </a:r>
          </a:p>
        </p:txBody>
      </p:sp>
    </p:spTree>
    <p:extLst>
      <p:ext uri="{BB962C8B-B14F-4D97-AF65-F5344CB8AC3E}">
        <p14:creationId xmlns:p14="http://schemas.microsoft.com/office/powerpoint/2010/main" val="7027927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6">
            <a:extLst xmlns:a="http://schemas.openxmlformats.org/drawingml/2006/main">
              <a:ext uri="{FF2B5EF4-FFF2-40B4-BE49-F238E27FC236}">
                <a16:creationId xmlns:a16="http://schemas.microsoft.com/office/drawing/2014/main" id="{9BAEBF9E-A2FF-4757-AA37-538A5585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需求背景与研发目标</a:t>
            </a:r>
          </a:p>
        </p:txBody>
      </p:sp>
      <p:sp>
        <p:nvSpPr>
          <p:cNvPr id="2" name="text-7">
            <a:extLst xmlns:a="http://schemas.openxmlformats.org/drawingml/2006/main">
              <a:ext uri="{FF2B5EF4-FFF2-40B4-BE49-F238E27FC236}">
                <a16:creationId xmlns:a16="http://schemas.microsoft.com/office/drawing/2014/main" id="{93A4CBDD-CEDD-418D-BDC8-2195CB71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98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377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78B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3" name="text-8">
            <a:extLst xmlns:a="http://schemas.openxmlformats.org/drawingml/2006/main">
              <a:ext uri="{FF2B5EF4-FFF2-40B4-BE49-F238E27FC236}">
                <a16:creationId xmlns:a16="http://schemas.microsoft.com/office/drawing/2014/main" id="{11FCFD87-73BA-4B22-BE55-6C3027265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57325"/>
            <a:ext cx="457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5EA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245EA7"/>
                </a:solidFill>
                <a:latin typeface="Hiragino Sans GB"/>
                <a:ea typeface="Hiragino Sans GB"/>
                <a:cs typeface="Hiragino Sans GB"/>
              </a:rPr>
              <a:t>共享设备带来的问题</a:t>
            </a:r>
          </a:p>
        </p:txBody>
      </p:sp>
      <p:sp>
        <p:nvSpPr>
          <p:cNvPr id="4" name="text-9">
            <a:extLst xmlns:a="http://schemas.openxmlformats.org/drawingml/2006/main">
              <a:ext uri="{FF2B5EF4-FFF2-40B4-BE49-F238E27FC236}">
                <a16:creationId xmlns:a16="http://schemas.microsoft.com/office/drawing/2014/main" id="{78B74297-7670-4C91-BDED-D5356443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57425"/>
            <a:ext cx="4810125" cy="2543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多人连续提交，任务需要排队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短任务与大任务争用设备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工作进程异常后需要确认结果</a:t>
            </a:r>
          </a:p>
        </p:txBody>
      </p:sp>
      <p:sp>
        <p:nvSpPr>
          <p:cNvPr id="5" name="text-10">
            <a:extLst xmlns:a="http://schemas.openxmlformats.org/drawingml/2006/main">
              <a:ext uri="{FF2B5EF4-FFF2-40B4-BE49-F238E27FC236}">
                <a16:creationId xmlns:a16="http://schemas.microsoft.com/office/drawing/2014/main" id="{B305920D-3079-4DDF-A537-E2DB9854A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457325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877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6877E"/>
                </a:solidFill>
                <a:latin typeface="Hiragino Sans GB"/>
                <a:ea typeface="Hiragino Sans GB"/>
                <a:cs typeface="Hiragino Sans GB"/>
              </a:rPr>
              <a:t>本项目的目标</a:t>
            </a:r>
          </a:p>
        </p:txBody>
      </p:sp>
      <p:sp>
        <p:nvSpPr>
          <p:cNvPr id="6" name="text-11">
            <a:extLst xmlns:a="http://schemas.openxmlformats.org/drawingml/2006/main">
              <a:ext uri="{FF2B5EF4-FFF2-40B4-BE49-F238E27FC236}">
                <a16:creationId xmlns:a16="http://schemas.microsoft.com/office/drawing/2014/main" id="{506A3EDF-E419-40C5-96C6-EB152570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57425"/>
            <a:ext cx="4953000" cy="2543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让队列、进度和结果可见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比较调度策略的效率与公平性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保存任务状态并支持有限恢复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4B06AE-9558-4775-B1C2-4171FE5E3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81650"/>
            <a:ext cx="1095375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7C9D9"/>
            </a:solidFill>
          </a:ln>
        </p:spPr>
      </p:sp>
      <p:sp>
        <p:nvSpPr>
          <p:cNvPr id="8" name="text-12">
            <a:extLst xmlns:a="http://schemas.openxmlformats.org/drawingml/2006/main">
              <a:ext uri="{FF2B5EF4-FFF2-40B4-BE49-F238E27FC236}">
                <a16:creationId xmlns:a16="http://schemas.microsoft.com/office/drawing/2014/main" id="{1D4CDFA0-0F90-493C-8E53-96CBC550F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00725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377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3778B"/>
                </a:solidFill>
                <a:latin typeface="Hiragino Sans GB"/>
                <a:ea typeface="Hiragino Sans GB"/>
                <a:cs typeface="Hiragino Sans GB"/>
              </a:rPr>
              <a:t>需求依据：校园打印场景假设，后续通过试用和访谈确认优先级</a:t>
            </a:r>
          </a:p>
        </p:txBody>
      </p:sp>
    </p:spTree>
    <p:extLst>
      <p:ext uri="{BB962C8B-B14F-4D97-AF65-F5344CB8AC3E}">
        <p14:creationId xmlns:p14="http://schemas.microsoft.com/office/powerpoint/2010/main" val="7633380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13">
            <a:extLst xmlns:a="http://schemas.openxmlformats.org/drawingml/2006/main">
              <a:ext uri="{FF2B5EF4-FFF2-40B4-BE49-F238E27FC236}">
                <a16:creationId xmlns:a16="http://schemas.microsoft.com/office/drawing/2014/main" id="{6E0B17D3-B1FD-4B98-9379-C78323ED8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需求范围与验收方式</a:t>
            </a:r>
          </a:p>
        </p:txBody>
      </p:sp>
      <p:sp>
        <p:nvSpPr>
          <p:cNvPr id="2" name="text-14">
            <a:extLst xmlns:a="http://schemas.openxmlformats.org/drawingml/2006/main">
              <a:ext uri="{FF2B5EF4-FFF2-40B4-BE49-F238E27FC236}">
                <a16:creationId xmlns:a16="http://schemas.microsoft.com/office/drawing/2014/main" id="{188E4DFC-64F5-4497-8471-9BFD6D0CE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98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377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78B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3" name="text-15">
            <a:extLst xmlns:a="http://schemas.openxmlformats.org/drawingml/2006/main">
              <a:ext uri="{FF2B5EF4-FFF2-40B4-BE49-F238E27FC236}">
                <a16:creationId xmlns:a16="http://schemas.microsoft.com/office/drawing/2014/main" id="{F20C625E-7A0C-4D05-AAB9-C7D180FA4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52575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45EA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45EA7"/>
                </a:solidFill>
                <a:latin typeface="Hiragino Sans GB"/>
                <a:ea typeface="Hiragino Sans GB"/>
                <a:cs typeface="Hiragino Sans GB"/>
              </a:rPr>
              <a:t>任务管理</a:t>
            </a:r>
          </a:p>
        </p:txBody>
      </p:sp>
      <p:sp>
        <p:nvSpPr>
          <p:cNvPr id="4" name="text-16">
            <a:extLst xmlns:a="http://schemas.openxmlformats.org/drawingml/2006/main">
              <a:ext uri="{FF2B5EF4-FFF2-40B4-BE49-F238E27FC236}">
                <a16:creationId xmlns:a16="http://schemas.microsoft.com/office/drawing/2014/main" id="{79F22ECF-C5A4-4957-8E2B-3CD143B15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552575"/>
            <a:ext cx="7953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提交、查询、取消任务</a:t>
            </a:r>
          </a:p>
        </p:txBody>
      </p:sp>
      <p:sp>
        <p:nvSpPr>
          <p:cNvPr id="5" name="text-17">
            <a:extLst xmlns:a="http://schemas.openxmlformats.org/drawingml/2006/main">
              <a:ext uri="{FF2B5EF4-FFF2-40B4-BE49-F238E27FC236}">
                <a16:creationId xmlns:a16="http://schemas.microsoft.com/office/drawing/2014/main" id="{A61D6E23-FD6D-40E8-9DA4-5E7707470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00250"/>
            <a:ext cx="809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7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3778B"/>
                </a:solidFill>
                <a:latin typeface="Hiragino Sans GB"/>
                <a:ea typeface="Hiragino Sans GB"/>
                <a:cs typeface="Hiragino Sans GB"/>
              </a:rPr>
              <a:t>非法输入有提示，取消有明确结果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C9429B-3324-4CCE-9581-F0C77E9E0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43175"/>
            <a:ext cx="108585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7C9D9"/>
            </a:solidFill>
          </a:ln>
        </p:spPr>
      </p:sp>
      <p:sp>
        <p:nvSpPr>
          <p:cNvPr id="7" name="text-18">
            <a:extLst xmlns:a="http://schemas.openxmlformats.org/drawingml/2006/main">
              <a:ext uri="{FF2B5EF4-FFF2-40B4-BE49-F238E27FC236}">
                <a16:creationId xmlns:a16="http://schemas.microsoft.com/office/drawing/2014/main" id="{7A632D96-9105-4E30-A5DF-C8D00D814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90825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45EA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45EA7"/>
                </a:solidFill>
                <a:latin typeface="Hiragino Sans GB"/>
                <a:ea typeface="Hiragino Sans GB"/>
                <a:cs typeface="Hiragino Sans GB"/>
              </a:rPr>
              <a:t>调度执行</a:t>
            </a:r>
          </a:p>
        </p:txBody>
      </p:sp>
      <p:sp>
        <p:nvSpPr>
          <p:cNvPr id="8" name="text-19">
            <a:extLst xmlns:a="http://schemas.openxmlformats.org/drawingml/2006/main">
              <a:ext uri="{FF2B5EF4-FFF2-40B4-BE49-F238E27FC236}">
                <a16:creationId xmlns:a16="http://schemas.microsoft.com/office/drawing/2014/main" id="{1B498B96-C49F-4C73-8D6D-4EAC79E69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90825"/>
            <a:ext cx="7953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两台设备，三种非抢占策略</a:t>
            </a:r>
          </a:p>
        </p:txBody>
      </p:sp>
      <p:sp>
        <p:nvSpPr>
          <p:cNvPr id="9" name="text-20">
            <a:extLst xmlns:a="http://schemas.openxmlformats.org/drawingml/2006/main">
              <a:ext uri="{FF2B5EF4-FFF2-40B4-BE49-F238E27FC236}">
                <a16:creationId xmlns:a16="http://schemas.microsoft.com/office/drawing/2014/main" id="{BE97FCEB-56A5-4059-AB9C-F3D50894A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38500"/>
            <a:ext cx="809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7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3778B"/>
                </a:solidFill>
                <a:latin typeface="Hiragino Sans GB"/>
                <a:ea typeface="Hiragino Sans GB"/>
                <a:cs typeface="Hiragino Sans GB"/>
              </a:rPr>
              <a:t>同一任务不会被两个设备重复领取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49929C-4833-473B-9448-C736E03FD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81425"/>
            <a:ext cx="108585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7C9D9"/>
            </a:solidFill>
          </a:ln>
        </p:spPr>
      </p:sp>
      <p:sp>
        <p:nvSpPr>
          <p:cNvPr id="11" name="text-21">
            <a:extLst xmlns:a="http://schemas.openxmlformats.org/drawingml/2006/main">
              <a:ext uri="{FF2B5EF4-FFF2-40B4-BE49-F238E27FC236}">
                <a16:creationId xmlns:a16="http://schemas.microsoft.com/office/drawing/2014/main" id="{7F399545-3B32-4362-9B70-6AB7789A9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29075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45EA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45EA7"/>
                </a:solidFill>
                <a:latin typeface="Hiragino Sans GB"/>
                <a:ea typeface="Hiragino Sans GB"/>
                <a:cs typeface="Hiragino Sans GB"/>
              </a:rPr>
              <a:t>恢复与观察</a:t>
            </a:r>
          </a:p>
        </p:txBody>
      </p:sp>
      <p:sp>
        <p:nvSpPr>
          <p:cNvPr id="12" name="text-22">
            <a:extLst xmlns:a="http://schemas.openxmlformats.org/drawingml/2006/main">
              <a:ext uri="{FF2B5EF4-FFF2-40B4-BE49-F238E27FC236}">
                <a16:creationId xmlns:a16="http://schemas.microsoft.com/office/drawing/2014/main" id="{D112BB92-1E49-4570-AAA9-FB257E437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29075"/>
            <a:ext cx="7953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状态持久化、进度和日志</a:t>
            </a:r>
          </a:p>
        </p:txBody>
      </p:sp>
      <p:sp>
        <p:nvSpPr>
          <p:cNvPr id="13" name="text-23">
            <a:extLst xmlns:a="http://schemas.openxmlformats.org/drawingml/2006/main">
              <a:ext uri="{FF2B5EF4-FFF2-40B4-BE49-F238E27FC236}">
                <a16:creationId xmlns:a16="http://schemas.microsoft.com/office/drawing/2014/main" id="{A6CD7062-698D-4E66-87FC-62375667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476750"/>
            <a:ext cx="809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7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3778B"/>
                </a:solidFill>
                <a:latin typeface="Hiragino Sans GB"/>
                <a:ea typeface="Hiragino Sans GB"/>
                <a:cs typeface="Hiragino Sans GB"/>
              </a:rPr>
              <a:t>重启后对账，重连后获取完整快照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D7DAEA-8413-4707-A6C7-3A645028E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19675"/>
            <a:ext cx="108585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7C9D9"/>
            </a:solidFill>
          </a:ln>
        </p:spPr>
      </p:sp>
      <p:sp>
        <p:nvSpPr>
          <p:cNvPr id="15" name="text-24">
            <a:extLst xmlns:a="http://schemas.openxmlformats.org/drawingml/2006/main">
              <a:ext uri="{FF2B5EF4-FFF2-40B4-BE49-F238E27FC236}">
                <a16:creationId xmlns:a16="http://schemas.microsoft.com/office/drawing/2014/main" id="{E05C01AD-DE5E-4DEF-9075-2EDF4F46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67375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7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3778B"/>
                </a:solidFill>
                <a:latin typeface="Hiragino Sans GB"/>
                <a:ea typeface="Hiragino Sans GB"/>
                <a:cs typeface="Hiragino Sans GB"/>
              </a:rPr>
              <a:t>边界：本机模拟输出，不接真实打印机，不实现支付与账号权限</a:t>
            </a:r>
          </a:p>
        </p:txBody>
      </p:sp>
    </p:spTree>
    <p:extLst>
      <p:ext uri="{BB962C8B-B14F-4D97-AF65-F5344CB8AC3E}">
        <p14:creationId xmlns:p14="http://schemas.microsoft.com/office/powerpoint/2010/main" val="19600921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text-25">
            <a:extLst xmlns:a="http://schemas.openxmlformats.org/drawingml/2006/main">
              <a:ext uri="{FF2B5EF4-FFF2-40B4-BE49-F238E27FC236}">
                <a16:creationId xmlns:a16="http://schemas.microsoft.com/office/drawing/2014/main" id="{37AEA76D-019E-460A-BEB0-CAC4738C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项目思维导图</a:t>
            </a:r>
          </a:p>
        </p:txBody>
      </p:sp>
      <p:sp>
        <p:nvSpPr>
          <p:cNvPr id="2" name="text-26">
            <a:extLst xmlns:a="http://schemas.openxmlformats.org/drawingml/2006/main">
              <a:ext uri="{FF2B5EF4-FFF2-40B4-BE49-F238E27FC236}">
                <a16:creationId xmlns:a16="http://schemas.microsoft.com/office/drawing/2014/main" id="{FB705E48-242A-43F7-9D39-0F06B356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98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377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78B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3" name="mindmap-root">
            <a:extLst xmlns:a="http://schemas.openxmlformats.org/drawingml/2006/main">
              <a:ext uri="{FF2B5EF4-FFF2-40B4-BE49-F238E27FC236}">
                <a16:creationId xmlns:a16="http://schemas.microsoft.com/office/drawing/2014/main" id="{AE470455-2727-4EF6-A5BC-2916A2A5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05175"/>
            <a:ext cx="266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34A"/>
          </a:solidFill>
          <a:ln xmlns:a="http://schemas.openxmlformats.org/drawingml/2006/main" w="14288">
            <a:solidFill>
              <a:srgbClr val="B7C9D9"/>
            </a:solidFill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校园共享打印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调度与故障恢复</a:t>
            </a:r>
          </a:p>
        </p:txBody>
      </p:sp>
      <p:sp>
        <p:nvSpPr>
          <p:cNvPr id="4" name="mindmap-b0">
            <a:extLst xmlns:a="http://schemas.openxmlformats.org/drawingml/2006/main">
              <a:ext uri="{FF2B5EF4-FFF2-40B4-BE49-F238E27FC236}">
                <a16:creationId xmlns:a16="http://schemas.microsoft.com/office/drawing/2014/main" id="{614F9B77-C49C-4C69-B735-B70FF9C9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24000"/>
            <a:ext cx="2714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EA7"/>
          </a:solidFill>
          <a:ln xmlns:a="http://schemas.openxmlformats.org/drawingml/2006/main" w="14288">
            <a:solidFill>
              <a:srgbClr val="B7C9D9"/>
            </a:solidFill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需求目标</a:t>
            </a:r>
          </a:p>
        </p:txBody>
      </p:sp>
      <p:sp>
        <p:nvSpPr>
          <p:cNvPr id="5" name="text-27">
            <a:extLst xmlns:a="http://schemas.openxmlformats.org/drawingml/2006/main">
              <a:ext uri="{FF2B5EF4-FFF2-40B4-BE49-F238E27FC236}">
                <a16:creationId xmlns:a16="http://schemas.microsoft.com/office/drawing/2014/main" id="{643B48C7-60EC-419A-BC2B-9EBD866C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90725"/>
            <a:ext cx="2809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排队可见、双设备共享</a:t>
            </a:r>
          </a:p>
          <a:p xmlns:a="http://schemas.openxmlformats.org/drawingml/2006/main">
            <a:pPr algn="l">
              <a:defRPr sz="157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异常后恢复未完成任务</a:t>
            </a:r>
          </a:p>
        </p:txBody>
      </p:sp>
      <p:sp>
        <p:nvSpPr>
          <p:cNvPr id="6" name="point-28">
            <a:extLst xmlns:a="http://schemas.openxmlformats.org/drawingml/2006/main">
              <a:ext uri="{FF2B5EF4-FFF2-40B4-BE49-F238E27FC236}">
                <a16:creationId xmlns:a16="http://schemas.microsoft.com/office/drawing/2014/main" id="{F8AAC82E-90D6-439A-AEF4-2BF656233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1548" y="36947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" name="point-29">
            <a:extLst xmlns:a="http://schemas.openxmlformats.org/drawingml/2006/main">
              <a:ext uri="{FF2B5EF4-FFF2-40B4-BE49-F238E27FC236}">
                <a16:creationId xmlns:a16="http://schemas.microsoft.com/office/drawing/2014/main" id="{7D3BFB7F-048F-4B76-AB10-974F72769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173" y="36947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7" name=""/>
          <p:cNvCxnSpPr>
            <a:stCxn xmlns:a="http://schemas.openxmlformats.org/drawingml/2006/main" id="6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4049078" y="3695701"/>
            <a:ext cx="71247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EA7"/>
            </a:solidFill>
            <a:prstDash val="solid"/>
            <a:tailEnd type="none" w="sm" len="sm"/>
          </a:ln>
        </p:spPr>
      </p:cxnSp>
      <p:sp>
        <p:nvSpPr>
          <p:cNvPr id="9" name="point-30">
            <a:extLst xmlns:a="http://schemas.openxmlformats.org/drawingml/2006/main">
              <a:ext uri="{FF2B5EF4-FFF2-40B4-BE49-F238E27FC236}">
                <a16:creationId xmlns:a16="http://schemas.microsoft.com/office/drawing/2014/main" id="{FC131C76-D99F-49F3-AE25-D70DC74B8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173" y="36947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" name="point-31">
            <a:extLst xmlns:a="http://schemas.openxmlformats.org/drawingml/2006/main">
              <a:ext uri="{FF2B5EF4-FFF2-40B4-BE49-F238E27FC236}">
                <a16:creationId xmlns:a16="http://schemas.microsoft.com/office/drawing/2014/main" id="{A0B0CB45-32D8-410A-B96E-548664BCD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173" y="17325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0" name=""/>
          <p:cNvCxnSpPr>
            <a:stCxn xmlns:a="http://schemas.openxmlformats.org/drawingml/2006/main" id="9" idx="0"/>
            <a:endCxn xmlns:a="http://schemas.openxmlformats.org/drawingml/2006/main" id="10" idx="2"/>
          </p:cNvCxnSpPr>
          <p:nvPr/>
        </p:nvCxnSpPr>
        <p:spPr>
          <a:xfrm xmlns:a="http://schemas.openxmlformats.org/drawingml/2006/main" flipV="1">
            <a:off x="4048126" y="1734503"/>
            <a:ext cx="0" cy="196024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EA7"/>
            </a:solidFill>
            <a:prstDash val="solid"/>
            <a:tailEnd type="none" w="sm" len="sm"/>
          </a:ln>
        </p:spPr>
      </p:cxnSp>
      <p:sp>
        <p:nvSpPr>
          <p:cNvPr id="12" name="point-32">
            <a:extLst xmlns:a="http://schemas.openxmlformats.org/drawingml/2006/main">
              <a:ext uri="{FF2B5EF4-FFF2-40B4-BE49-F238E27FC236}">
                <a16:creationId xmlns:a16="http://schemas.microsoft.com/office/drawing/2014/main" id="{BF5BE640-1B2C-44F7-A9C2-B2DA53A73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173" y="17325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" name="point-33">
            <a:extLst xmlns:a="http://schemas.openxmlformats.org/drawingml/2006/main">
              <a:ext uri="{FF2B5EF4-FFF2-40B4-BE49-F238E27FC236}">
                <a16:creationId xmlns:a16="http://schemas.microsoft.com/office/drawing/2014/main" id="{D174A449-80B5-4780-8B88-20992E582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3298" y="17325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3" name=""/>
          <p:cNvCxnSpPr>
            <a:stCxn xmlns:a="http://schemas.openxmlformats.org/drawingml/2006/main" id="12" idx="1"/>
            <a:endCxn xmlns:a="http://schemas.openxmlformats.org/drawingml/2006/main" id="13" idx="3"/>
          </p:cNvCxnSpPr>
          <p:nvPr/>
        </p:nvCxnSpPr>
        <p:spPr>
          <a:xfrm xmlns:a="http://schemas.openxmlformats.org/drawingml/2006/main" flipH="1">
            <a:off x="3525203" y="1733551"/>
            <a:ext cx="52197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EA7"/>
            </a:solidFill>
            <a:prstDash val="solid"/>
            <a:tailEnd type="none" w="sm" len="sm"/>
          </a:ln>
        </p:spPr>
      </p:cxnSp>
      <p:sp>
        <p:nvSpPr>
          <p:cNvPr id="15" name="mindmap-b1">
            <a:extLst xmlns:a="http://schemas.openxmlformats.org/drawingml/2006/main">
              <a:ext uri="{FF2B5EF4-FFF2-40B4-BE49-F238E27FC236}">
                <a16:creationId xmlns:a16="http://schemas.microsoft.com/office/drawing/2014/main" id="{6A885C25-60DA-43EE-A7A6-0DC72541F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05175"/>
            <a:ext cx="2714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EA7"/>
          </a:solidFill>
          <a:ln xmlns:a="http://schemas.openxmlformats.org/drawingml/2006/main" w="14288">
            <a:solidFill>
              <a:srgbClr val="B7C9D9"/>
            </a:solidFill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调度与状态</a:t>
            </a:r>
          </a:p>
        </p:txBody>
      </p:sp>
      <p:sp>
        <p:nvSpPr>
          <p:cNvPr id="16" name="text-34">
            <a:extLst xmlns:a="http://schemas.openxmlformats.org/drawingml/2006/main">
              <a:ext uri="{FF2B5EF4-FFF2-40B4-BE49-F238E27FC236}">
                <a16:creationId xmlns:a16="http://schemas.microsoft.com/office/drawing/2014/main" id="{27AF5079-F907-4823-B518-F1671EE01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71900"/>
            <a:ext cx="2809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FCFS / SJF / 优先级老化</a:t>
            </a:r>
          </a:p>
          <a:p xmlns:a="http://schemas.openxmlformats.org/drawingml/2006/main">
            <a:pPr algn="l">
              <a:defRPr sz="157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原子领取、取消、有限重试</a:t>
            </a:r>
          </a:p>
        </p:txBody>
      </p:sp>
      <p:sp>
        <p:nvSpPr>
          <p:cNvPr id="17" name="point-35">
            <a:extLst xmlns:a="http://schemas.openxmlformats.org/drawingml/2006/main">
              <a:ext uri="{FF2B5EF4-FFF2-40B4-BE49-F238E27FC236}">
                <a16:creationId xmlns:a16="http://schemas.microsoft.com/office/drawing/2014/main" id="{B170B5A4-6F66-443A-AB0E-9995EBCA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1548" y="36947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" name="point-36">
            <a:extLst xmlns:a="http://schemas.openxmlformats.org/drawingml/2006/main">
              <a:ext uri="{FF2B5EF4-FFF2-40B4-BE49-F238E27FC236}">
                <a16:creationId xmlns:a16="http://schemas.microsoft.com/office/drawing/2014/main" id="{5D93B536-6234-47AA-AC54-26B00F32F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173" y="36947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8" name=""/>
          <p:cNvCxnSpPr>
            <a:stCxn xmlns:a="http://schemas.openxmlformats.org/drawingml/2006/main" id="17" idx="1"/>
            <a:endCxn xmlns:a="http://schemas.openxmlformats.org/drawingml/2006/main" id="18" idx="3"/>
          </p:cNvCxnSpPr>
          <p:nvPr/>
        </p:nvCxnSpPr>
        <p:spPr>
          <a:xfrm xmlns:a="http://schemas.openxmlformats.org/drawingml/2006/main" flipH="1">
            <a:off x="4049078" y="3695701"/>
            <a:ext cx="71247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EA7"/>
            </a:solidFill>
            <a:prstDash val="solid"/>
            <a:tailEnd type="none" w="sm" len="sm"/>
          </a:ln>
        </p:spPr>
      </p:cxnSp>
      <p:sp>
        <p:nvSpPr>
          <p:cNvPr id="20" name="point-37">
            <a:extLst xmlns:a="http://schemas.openxmlformats.org/drawingml/2006/main">
              <a:ext uri="{FF2B5EF4-FFF2-40B4-BE49-F238E27FC236}">
                <a16:creationId xmlns:a16="http://schemas.microsoft.com/office/drawing/2014/main" id="{5DE88208-2C35-4B22-B0A9-A5FFB95F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173" y="36947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" name="point-38">
            <a:extLst xmlns:a="http://schemas.openxmlformats.org/drawingml/2006/main">
              <a:ext uri="{FF2B5EF4-FFF2-40B4-BE49-F238E27FC236}">
                <a16:creationId xmlns:a16="http://schemas.microsoft.com/office/drawing/2014/main" id="{C61F9CE2-81D4-41C1-B947-37729736A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173" y="35137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1" name=""/>
          <p:cNvCxnSpPr>
            <a:stCxn xmlns:a="http://schemas.openxmlformats.org/drawingml/2006/main" id="20" idx="0"/>
            <a:endCxn xmlns:a="http://schemas.openxmlformats.org/drawingml/2006/main" id="21" idx="2"/>
          </p:cNvCxnSpPr>
          <p:nvPr/>
        </p:nvCxnSpPr>
        <p:spPr>
          <a:xfrm xmlns:a="http://schemas.openxmlformats.org/drawingml/2006/main" flipV="1">
            <a:off x="4048126" y="3515678"/>
            <a:ext cx="0" cy="17907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EA7"/>
            </a:solidFill>
            <a:prstDash val="solid"/>
            <a:tailEnd type="none" w="sm" len="sm"/>
          </a:ln>
        </p:spPr>
      </p:cxnSp>
      <p:sp>
        <p:nvSpPr>
          <p:cNvPr id="23" name="point-39">
            <a:extLst xmlns:a="http://schemas.openxmlformats.org/drawingml/2006/main">
              <a:ext uri="{FF2B5EF4-FFF2-40B4-BE49-F238E27FC236}">
                <a16:creationId xmlns:a16="http://schemas.microsoft.com/office/drawing/2014/main" id="{488DD575-9086-43CB-A087-947DDE63A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173" y="35137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" name="point-40">
            <a:extLst xmlns:a="http://schemas.openxmlformats.org/drawingml/2006/main">
              <a:ext uri="{FF2B5EF4-FFF2-40B4-BE49-F238E27FC236}">
                <a16:creationId xmlns:a16="http://schemas.microsoft.com/office/drawing/2014/main" id="{03718F8D-A13C-478F-B852-96FF466F0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3298" y="35137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4" name=""/>
          <p:cNvCxnSpPr>
            <a:stCxn xmlns:a="http://schemas.openxmlformats.org/drawingml/2006/main" id="23" idx="1"/>
            <a:endCxn xmlns:a="http://schemas.openxmlformats.org/drawingml/2006/main" id="24" idx="3"/>
          </p:cNvCxnSpPr>
          <p:nvPr/>
        </p:nvCxnSpPr>
        <p:spPr>
          <a:xfrm xmlns:a="http://schemas.openxmlformats.org/drawingml/2006/main" flipH="1">
            <a:off x="3525203" y="3514726"/>
            <a:ext cx="52197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EA7"/>
            </a:solidFill>
            <a:prstDash val="solid"/>
            <a:tailEnd type="none" w="sm" len="sm"/>
          </a:ln>
        </p:spPr>
      </p:cxnSp>
      <p:sp>
        <p:nvSpPr>
          <p:cNvPr id="26" name="mindmap-b2">
            <a:extLst xmlns:a="http://schemas.openxmlformats.org/drawingml/2006/main">
              <a:ext uri="{FF2B5EF4-FFF2-40B4-BE49-F238E27FC236}">
                <a16:creationId xmlns:a16="http://schemas.microsoft.com/office/drawing/2014/main" id="{767360CE-1D27-4072-9F84-FF24F6F26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086350"/>
            <a:ext cx="2714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EA7"/>
          </a:solidFill>
          <a:ln xmlns:a="http://schemas.openxmlformats.org/drawingml/2006/main" w="14288">
            <a:solidFill>
              <a:srgbClr val="B7C9D9"/>
            </a:solidFill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进程与存储</a:t>
            </a:r>
          </a:p>
        </p:txBody>
      </p:sp>
      <p:sp>
        <p:nvSpPr>
          <p:cNvPr id="27" name="text-41">
            <a:extLst xmlns:a="http://schemas.openxmlformats.org/drawingml/2006/main">
              <a:ext uri="{FF2B5EF4-FFF2-40B4-BE49-F238E27FC236}">
                <a16:creationId xmlns:a16="http://schemas.microsoft.com/office/drawing/2014/main" id="{B9A4CA97-0271-4602-923A-21C350D08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553075"/>
            <a:ext cx="2809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协调 / 监督 / 工作进程</a:t>
            </a:r>
          </a:p>
          <a:p xmlns:a="http://schemas.openxmlformats.org/drawingml/2006/main">
            <a:pPr algn="l">
              <a:defRPr sz="157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IPC、文件锁、原子快照</a:t>
            </a:r>
          </a:p>
        </p:txBody>
      </p:sp>
      <p:sp>
        <p:nvSpPr>
          <p:cNvPr id="28" name="point-42">
            <a:extLst xmlns:a="http://schemas.openxmlformats.org/drawingml/2006/main">
              <a:ext uri="{FF2B5EF4-FFF2-40B4-BE49-F238E27FC236}">
                <a16:creationId xmlns:a16="http://schemas.microsoft.com/office/drawing/2014/main" id="{AE4B8DA4-BD0D-4395-B97E-A15F65CE7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1548" y="36947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point-43">
            <a:extLst xmlns:a="http://schemas.openxmlformats.org/drawingml/2006/main">
              <a:ext uri="{FF2B5EF4-FFF2-40B4-BE49-F238E27FC236}">
                <a16:creationId xmlns:a16="http://schemas.microsoft.com/office/drawing/2014/main" id="{76A4BED1-85B8-472F-B9E4-8C39AED21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173" y="36947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9" name=""/>
          <p:cNvCxnSpPr>
            <a:stCxn xmlns:a="http://schemas.openxmlformats.org/drawingml/2006/main" id="28" idx="1"/>
            <a:endCxn xmlns:a="http://schemas.openxmlformats.org/drawingml/2006/main" id="29" idx="3"/>
          </p:cNvCxnSpPr>
          <p:nvPr/>
        </p:nvCxnSpPr>
        <p:spPr>
          <a:xfrm xmlns:a="http://schemas.openxmlformats.org/drawingml/2006/main" flipH="1">
            <a:off x="4049078" y="3695701"/>
            <a:ext cx="71247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EA7"/>
            </a:solidFill>
            <a:prstDash val="solid"/>
            <a:tailEnd type="none" w="sm" len="sm"/>
          </a:ln>
        </p:spPr>
      </p:cxnSp>
      <p:sp>
        <p:nvSpPr>
          <p:cNvPr id="31" name="point-44">
            <a:extLst xmlns:a="http://schemas.openxmlformats.org/drawingml/2006/main">
              <a:ext uri="{FF2B5EF4-FFF2-40B4-BE49-F238E27FC236}">
                <a16:creationId xmlns:a16="http://schemas.microsoft.com/office/drawing/2014/main" id="{05C85078-964F-4B02-A765-381037313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173" y="36947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" name="point-45">
            <a:extLst xmlns:a="http://schemas.openxmlformats.org/drawingml/2006/main">
              <a:ext uri="{FF2B5EF4-FFF2-40B4-BE49-F238E27FC236}">
                <a16:creationId xmlns:a16="http://schemas.microsoft.com/office/drawing/2014/main" id="{55E939F7-1B82-417E-A3AE-8ACDA358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173" y="52949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2" name=""/>
          <p:cNvCxnSpPr>
            <a:stCxn xmlns:a="http://schemas.openxmlformats.org/drawingml/2006/main" id="31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>
            <a:off x="4048126" y="3696653"/>
            <a:ext cx="0" cy="15982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EA7"/>
            </a:solidFill>
            <a:prstDash val="solid"/>
            <a:tailEnd type="none" w="sm" len="sm"/>
          </a:ln>
        </p:spPr>
      </p:cxnSp>
      <p:sp>
        <p:nvSpPr>
          <p:cNvPr id="34" name="point-46">
            <a:extLst xmlns:a="http://schemas.openxmlformats.org/drawingml/2006/main">
              <a:ext uri="{FF2B5EF4-FFF2-40B4-BE49-F238E27FC236}">
                <a16:creationId xmlns:a16="http://schemas.microsoft.com/office/drawing/2014/main" id="{8E3E1A61-7885-427F-8C6C-15A190904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173" y="52949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point-47">
            <a:extLst xmlns:a="http://schemas.openxmlformats.org/drawingml/2006/main">
              <a:ext uri="{FF2B5EF4-FFF2-40B4-BE49-F238E27FC236}">
                <a16:creationId xmlns:a16="http://schemas.microsoft.com/office/drawing/2014/main" id="{8882E816-36EA-4E81-AD3B-70C18AED3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3298" y="52949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5" name=""/>
          <p:cNvCxnSpPr>
            <a:stCxn xmlns:a="http://schemas.openxmlformats.org/drawingml/2006/main" id="34" idx="1"/>
            <a:endCxn xmlns:a="http://schemas.openxmlformats.org/drawingml/2006/main" id="35" idx="3"/>
          </p:cNvCxnSpPr>
          <p:nvPr/>
        </p:nvCxnSpPr>
        <p:spPr>
          <a:xfrm xmlns:a="http://schemas.openxmlformats.org/drawingml/2006/main" flipH="1">
            <a:off x="3525203" y="5295901"/>
            <a:ext cx="52197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EA7"/>
            </a:solidFill>
            <a:prstDash val="solid"/>
            <a:tailEnd type="none" w="sm" len="sm"/>
          </a:ln>
        </p:spPr>
      </p:cxnSp>
      <p:sp>
        <p:nvSpPr>
          <p:cNvPr id="37" name="mindmap-b3">
            <a:extLst xmlns:a="http://schemas.openxmlformats.org/drawingml/2006/main">
              <a:ext uri="{FF2B5EF4-FFF2-40B4-BE49-F238E27FC236}">
                <a16:creationId xmlns:a16="http://schemas.microsoft.com/office/drawing/2014/main" id="{4C7AD0BD-2AAA-4E7E-9231-A04C8175B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524000"/>
            <a:ext cx="2714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E"/>
          </a:solidFill>
          <a:ln xmlns:a="http://schemas.openxmlformats.org/drawingml/2006/main" w="14288">
            <a:solidFill>
              <a:srgbClr val="B7C9D9"/>
            </a:solidFill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界面交互</a:t>
            </a:r>
          </a:p>
        </p:txBody>
      </p:sp>
      <p:sp>
        <p:nvSpPr>
          <p:cNvPr id="38" name="text-48">
            <a:extLst xmlns:a="http://schemas.openxmlformats.org/drawingml/2006/main">
              <a:ext uri="{FF2B5EF4-FFF2-40B4-BE49-F238E27FC236}">
                <a16:creationId xmlns:a16="http://schemas.microsoft.com/office/drawing/2014/main" id="{C48F0521-2A10-4A77-9954-99FC5996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90725"/>
            <a:ext cx="2809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任务提交与队列展示</a:t>
            </a:r>
          </a:p>
          <a:p xmlns:a="http://schemas.openxmlformats.org/drawingml/2006/main">
            <a:pPr algn="l">
              <a:defRPr sz="157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进度、取消确认、断线重连</a:t>
            </a:r>
          </a:p>
        </p:txBody>
      </p:sp>
      <p:sp>
        <p:nvSpPr>
          <p:cNvPr id="39" name="point-49">
            <a:extLst xmlns:a="http://schemas.openxmlformats.org/drawingml/2006/main">
              <a:ext uri="{FF2B5EF4-FFF2-40B4-BE49-F238E27FC236}">
                <a16:creationId xmlns:a16="http://schemas.microsoft.com/office/drawing/2014/main" id="{7F2C9D75-02A7-49F4-9541-D616A2B3C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8548" y="36947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0" name="point-50">
            <a:extLst xmlns:a="http://schemas.openxmlformats.org/drawingml/2006/main">
              <a:ext uri="{FF2B5EF4-FFF2-40B4-BE49-F238E27FC236}">
                <a16:creationId xmlns:a16="http://schemas.microsoft.com/office/drawing/2014/main" id="{824CD009-4013-49EA-8940-9CC831145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5298" y="36947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0" name=""/>
          <p:cNvCxnSpPr>
            <a:stCxn xmlns:a="http://schemas.openxmlformats.org/drawingml/2006/main" id="39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>
            <a:off x="7430453" y="3695701"/>
            <a:ext cx="66484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877E"/>
            </a:solidFill>
            <a:prstDash val="solid"/>
            <a:tailEnd type="none" w="sm" len="sm"/>
          </a:ln>
        </p:spPr>
      </p:cxnSp>
      <p:sp>
        <p:nvSpPr>
          <p:cNvPr id="42" name="point-51">
            <a:extLst xmlns:a="http://schemas.openxmlformats.org/drawingml/2006/main">
              <a:ext uri="{FF2B5EF4-FFF2-40B4-BE49-F238E27FC236}">
                <a16:creationId xmlns:a16="http://schemas.microsoft.com/office/drawing/2014/main" id="{7813C6EC-3E0D-48DB-8A1E-CF321A1F6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5298" y="36947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" name="point-52">
            <a:extLst xmlns:a="http://schemas.openxmlformats.org/drawingml/2006/main">
              <a:ext uri="{FF2B5EF4-FFF2-40B4-BE49-F238E27FC236}">
                <a16:creationId xmlns:a16="http://schemas.microsoft.com/office/drawing/2014/main" id="{EFB2D34D-EC8F-48DF-B28A-4B5A760AD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5298" y="17325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3" name=""/>
          <p:cNvCxnSpPr>
            <a:stCxn xmlns:a="http://schemas.openxmlformats.org/drawingml/2006/main" id="42" idx="0"/>
            <a:endCxn xmlns:a="http://schemas.openxmlformats.org/drawingml/2006/main" id="43" idx="2"/>
          </p:cNvCxnSpPr>
          <p:nvPr/>
        </p:nvCxnSpPr>
        <p:spPr>
          <a:xfrm xmlns:a="http://schemas.openxmlformats.org/drawingml/2006/main" flipV="1">
            <a:off x="8096251" y="1734503"/>
            <a:ext cx="0" cy="196024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877E"/>
            </a:solidFill>
            <a:prstDash val="solid"/>
            <a:tailEnd type="none" w="sm" len="sm"/>
          </a:ln>
        </p:spPr>
      </p:cxnSp>
      <p:sp>
        <p:nvSpPr>
          <p:cNvPr id="45" name="point-53">
            <a:extLst xmlns:a="http://schemas.openxmlformats.org/drawingml/2006/main">
              <a:ext uri="{FF2B5EF4-FFF2-40B4-BE49-F238E27FC236}">
                <a16:creationId xmlns:a16="http://schemas.microsoft.com/office/drawing/2014/main" id="{3460B5A7-C636-4CD8-A36E-78B09CAF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5298" y="17325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" name="point-54">
            <a:extLst xmlns:a="http://schemas.openxmlformats.org/drawingml/2006/main">
              <a:ext uri="{FF2B5EF4-FFF2-40B4-BE49-F238E27FC236}">
                <a16:creationId xmlns:a16="http://schemas.microsoft.com/office/drawing/2014/main" id="{21CD9566-AB0A-4977-90EB-973ACEF2D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6798" y="17325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6" name=""/>
          <p:cNvCxnSpPr>
            <a:stCxn xmlns:a="http://schemas.openxmlformats.org/drawingml/2006/main" id="45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>
            <a:off x="8097203" y="1733551"/>
            <a:ext cx="56959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877E"/>
            </a:solidFill>
            <a:prstDash val="solid"/>
            <a:tailEnd type="none" w="sm" len="sm"/>
          </a:ln>
        </p:spPr>
      </p:cxnSp>
      <p:sp>
        <p:nvSpPr>
          <p:cNvPr id="48" name="mindmap-b4">
            <a:extLst xmlns:a="http://schemas.openxmlformats.org/drawingml/2006/main">
              <a:ext uri="{FF2B5EF4-FFF2-40B4-BE49-F238E27FC236}">
                <a16:creationId xmlns:a16="http://schemas.microsoft.com/office/drawing/2014/main" id="{441153A6-42A6-49B1-B4AF-E44C7C897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05175"/>
            <a:ext cx="2714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E"/>
          </a:solidFill>
          <a:ln xmlns:a="http://schemas.openxmlformats.org/drawingml/2006/main" w="14288">
            <a:solidFill>
              <a:srgbClr val="B7C9D9"/>
            </a:solidFill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实验验证</a:t>
            </a:r>
          </a:p>
        </p:txBody>
      </p:sp>
      <p:sp>
        <p:nvSpPr>
          <p:cNvPr id="49" name="text-55">
            <a:extLst xmlns:a="http://schemas.openxmlformats.org/drawingml/2006/main">
              <a:ext uri="{FF2B5EF4-FFF2-40B4-BE49-F238E27FC236}">
                <a16:creationId xmlns:a16="http://schemas.microsoft.com/office/drawing/2014/main" id="{C1254EFD-D6F2-4FD5-B6B8-348E43F49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771900"/>
            <a:ext cx="2809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相同负载比较策略</a:t>
            </a:r>
          </a:p>
          <a:p xmlns:a="http://schemas.openxmlformats.org/drawingml/2006/main">
            <a:pPr algn="l">
              <a:defRPr sz="157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并发、故障、跨平台验收</a:t>
            </a:r>
          </a:p>
        </p:txBody>
      </p:sp>
      <p:sp>
        <p:nvSpPr>
          <p:cNvPr id="50" name="point-56">
            <a:extLst xmlns:a="http://schemas.openxmlformats.org/drawingml/2006/main">
              <a:ext uri="{FF2B5EF4-FFF2-40B4-BE49-F238E27FC236}">
                <a16:creationId xmlns:a16="http://schemas.microsoft.com/office/drawing/2014/main" id="{C6D73E1B-6159-4FA5-8378-EEBBA9AC8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8548" y="36947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1" name="point-57">
            <a:extLst xmlns:a="http://schemas.openxmlformats.org/drawingml/2006/main">
              <a:ext uri="{FF2B5EF4-FFF2-40B4-BE49-F238E27FC236}">
                <a16:creationId xmlns:a16="http://schemas.microsoft.com/office/drawing/2014/main" id="{DE0D5D99-F926-41E0-9920-F6252A8F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5298" y="36947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1" name=""/>
          <p:cNvCxnSpPr>
            <a:stCxn xmlns:a="http://schemas.openxmlformats.org/drawingml/2006/main" id="50" idx="3"/>
            <a:endCxn xmlns:a="http://schemas.openxmlformats.org/drawingml/2006/main" id="51" idx="1"/>
          </p:cNvCxnSpPr>
          <p:nvPr/>
        </p:nvCxnSpPr>
        <p:spPr>
          <a:xfrm xmlns:a="http://schemas.openxmlformats.org/drawingml/2006/main">
            <a:off x="7430453" y="3695701"/>
            <a:ext cx="66484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877E"/>
            </a:solidFill>
            <a:prstDash val="solid"/>
            <a:tailEnd type="none" w="sm" len="sm"/>
          </a:ln>
        </p:spPr>
      </p:cxnSp>
      <p:sp>
        <p:nvSpPr>
          <p:cNvPr id="53" name="point-58">
            <a:extLst xmlns:a="http://schemas.openxmlformats.org/drawingml/2006/main">
              <a:ext uri="{FF2B5EF4-FFF2-40B4-BE49-F238E27FC236}">
                <a16:creationId xmlns:a16="http://schemas.microsoft.com/office/drawing/2014/main" id="{754D6472-6B72-4405-B3BA-0BE35AE9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5298" y="36947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4" name="point-59">
            <a:extLst xmlns:a="http://schemas.openxmlformats.org/drawingml/2006/main">
              <a:ext uri="{FF2B5EF4-FFF2-40B4-BE49-F238E27FC236}">
                <a16:creationId xmlns:a16="http://schemas.microsoft.com/office/drawing/2014/main" id="{0BF18B5A-F6FD-4669-95A7-D70C31E0A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5298" y="35137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4" name=""/>
          <p:cNvCxnSpPr>
            <a:stCxn xmlns:a="http://schemas.openxmlformats.org/drawingml/2006/main" id="53" idx="0"/>
            <a:endCxn xmlns:a="http://schemas.openxmlformats.org/drawingml/2006/main" id="54" idx="2"/>
          </p:cNvCxnSpPr>
          <p:nvPr/>
        </p:nvCxnSpPr>
        <p:spPr>
          <a:xfrm xmlns:a="http://schemas.openxmlformats.org/drawingml/2006/main" flipV="1">
            <a:off x="8096251" y="3515678"/>
            <a:ext cx="0" cy="17907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877E"/>
            </a:solidFill>
            <a:prstDash val="solid"/>
            <a:tailEnd type="none" w="sm" len="sm"/>
          </a:ln>
        </p:spPr>
      </p:cxnSp>
      <p:sp>
        <p:nvSpPr>
          <p:cNvPr id="56" name="point-60">
            <a:extLst xmlns:a="http://schemas.openxmlformats.org/drawingml/2006/main">
              <a:ext uri="{FF2B5EF4-FFF2-40B4-BE49-F238E27FC236}">
                <a16:creationId xmlns:a16="http://schemas.microsoft.com/office/drawing/2014/main" id="{A790F052-61CE-412F-87AA-1B1770B0C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5298" y="35137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7" name="point-61">
            <a:extLst xmlns:a="http://schemas.openxmlformats.org/drawingml/2006/main">
              <a:ext uri="{FF2B5EF4-FFF2-40B4-BE49-F238E27FC236}">
                <a16:creationId xmlns:a16="http://schemas.microsoft.com/office/drawing/2014/main" id="{50988E50-0449-49DB-B3B7-F3307859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6798" y="35137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7" name=""/>
          <p:cNvCxnSpPr>
            <a:stCxn xmlns:a="http://schemas.openxmlformats.org/drawingml/2006/main" id="56" idx="3"/>
            <a:endCxn xmlns:a="http://schemas.openxmlformats.org/drawingml/2006/main" id="57" idx="1"/>
          </p:cNvCxnSpPr>
          <p:nvPr/>
        </p:nvCxnSpPr>
        <p:spPr>
          <a:xfrm xmlns:a="http://schemas.openxmlformats.org/drawingml/2006/main">
            <a:off x="8097203" y="3514726"/>
            <a:ext cx="56959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877E"/>
            </a:solidFill>
            <a:prstDash val="solid"/>
            <a:tailEnd type="none" w="sm" len="sm"/>
          </a:ln>
        </p:spPr>
      </p:cxnSp>
      <p:sp>
        <p:nvSpPr>
          <p:cNvPr id="59" name="mindmap-b5">
            <a:extLst xmlns:a="http://schemas.openxmlformats.org/drawingml/2006/main">
              <a:ext uri="{FF2B5EF4-FFF2-40B4-BE49-F238E27FC236}">
                <a16:creationId xmlns:a16="http://schemas.microsoft.com/office/drawing/2014/main" id="{64F2D262-92D3-4F02-B06E-8B8ACAE5F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086350"/>
            <a:ext cx="2714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E"/>
          </a:solidFill>
          <a:ln xmlns:a="http://schemas.openxmlformats.org/drawingml/2006/main" w="14288">
            <a:solidFill>
              <a:srgbClr val="B7C9D9"/>
            </a:solidFill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协作交付</a:t>
            </a:r>
          </a:p>
        </p:txBody>
      </p:sp>
      <p:sp>
        <p:nvSpPr>
          <p:cNvPr id="60" name="text-62">
            <a:extLst xmlns:a="http://schemas.openxmlformats.org/drawingml/2006/main">
              <a:ext uri="{FF2B5EF4-FFF2-40B4-BE49-F238E27FC236}">
                <a16:creationId xmlns:a16="http://schemas.microsoft.com/office/drawing/2014/main" id="{2BF77391-5B79-4FEE-B43E-6E873C6B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553075"/>
            <a:ext cx="2809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A 调度、B 后台、C 界面</a:t>
            </a:r>
          </a:p>
          <a:p xmlns:a="http://schemas.openxmlformats.org/drawingml/2006/main">
            <a:pPr algn="l">
              <a:defRPr sz="157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C++17 + Qt 6 + CMake</a:t>
            </a:r>
          </a:p>
        </p:txBody>
      </p:sp>
      <p:sp>
        <p:nvSpPr>
          <p:cNvPr id="61" name="point-63">
            <a:extLst xmlns:a="http://schemas.openxmlformats.org/drawingml/2006/main">
              <a:ext uri="{FF2B5EF4-FFF2-40B4-BE49-F238E27FC236}">
                <a16:creationId xmlns:a16="http://schemas.microsoft.com/office/drawing/2014/main" id="{2DF0677F-A906-4094-BAC4-D70F6D7C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8548" y="36947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" name="point-64">
            <a:extLst xmlns:a="http://schemas.openxmlformats.org/drawingml/2006/main">
              <a:ext uri="{FF2B5EF4-FFF2-40B4-BE49-F238E27FC236}">
                <a16:creationId xmlns:a16="http://schemas.microsoft.com/office/drawing/2014/main" id="{F7BC2926-5D0B-4DA3-AB20-7E27D5A6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5298" y="36947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2" name=""/>
          <p:cNvCxnSpPr>
            <a:stCxn xmlns:a="http://schemas.openxmlformats.org/drawingml/2006/main" id="61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>
            <a:off x="7430453" y="3695701"/>
            <a:ext cx="66484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877E"/>
            </a:solidFill>
            <a:prstDash val="solid"/>
            <a:tailEnd type="none" w="sm" len="sm"/>
          </a:ln>
        </p:spPr>
      </p:cxnSp>
      <p:sp>
        <p:nvSpPr>
          <p:cNvPr id="64" name="point-65">
            <a:extLst xmlns:a="http://schemas.openxmlformats.org/drawingml/2006/main">
              <a:ext uri="{FF2B5EF4-FFF2-40B4-BE49-F238E27FC236}">
                <a16:creationId xmlns:a16="http://schemas.microsoft.com/office/drawing/2014/main" id="{F139A4BB-3C36-411E-BE64-49A93DF0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5298" y="36947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5" name="point-66">
            <a:extLst xmlns:a="http://schemas.openxmlformats.org/drawingml/2006/main">
              <a:ext uri="{FF2B5EF4-FFF2-40B4-BE49-F238E27FC236}">
                <a16:creationId xmlns:a16="http://schemas.microsoft.com/office/drawing/2014/main" id="{E22331D2-562F-4EFC-84BC-31DEA5E48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5298" y="52949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5" name=""/>
          <p:cNvCxnSpPr>
            <a:stCxn xmlns:a="http://schemas.openxmlformats.org/drawingml/2006/main" id="64" idx="2"/>
            <a:endCxn xmlns:a="http://schemas.openxmlformats.org/drawingml/2006/main" id="65" idx="0"/>
          </p:cNvCxnSpPr>
          <p:nvPr/>
        </p:nvCxnSpPr>
        <p:spPr>
          <a:xfrm xmlns:a="http://schemas.openxmlformats.org/drawingml/2006/main">
            <a:off x="8096251" y="3696653"/>
            <a:ext cx="0" cy="15982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877E"/>
            </a:solidFill>
            <a:prstDash val="solid"/>
            <a:tailEnd type="none" w="sm" len="sm"/>
          </a:ln>
        </p:spPr>
      </p:cxnSp>
      <p:sp>
        <p:nvSpPr>
          <p:cNvPr id="67" name="point-67">
            <a:extLst xmlns:a="http://schemas.openxmlformats.org/drawingml/2006/main">
              <a:ext uri="{FF2B5EF4-FFF2-40B4-BE49-F238E27FC236}">
                <a16:creationId xmlns:a16="http://schemas.microsoft.com/office/drawing/2014/main" id="{35B2CF90-ADA9-429C-BE3D-4C54928C2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5298" y="52949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8" name="point-68">
            <a:extLst xmlns:a="http://schemas.openxmlformats.org/drawingml/2006/main">
              <a:ext uri="{FF2B5EF4-FFF2-40B4-BE49-F238E27FC236}">
                <a16:creationId xmlns:a16="http://schemas.microsoft.com/office/drawing/2014/main" id="{1C9B634A-933D-439D-80C8-046503B83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6798" y="52949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8" name=""/>
          <p:cNvCxnSpPr>
            <a:stCxn xmlns:a="http://schemas.openxmlformats.org/drawingml/2006/main" id="67" idx="3"/>
            <a:endCxn xmlns:a="http://schemas.openxmlformats.org/drawingml/2006/main" id="68" idx="1"/>
          </p:cNvCxnSpPr>
          <p:nvPr/>
        </p:nvCxnSpPr>
        <p:spPr>
          <a:xfrm xmlns:a="http://schemas.openxmlformats.org/drawingml/2006/main">
            <a:off x="8097203" y="5295901"/>
            <a:ext cx="56959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877E"/>
            </a:solidFill>
            <a:prstDash val="solid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6568581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text-69">
            <a:extLst xmlns:a="http://schemas.openxmlformats.org/drawingml/2006/main">
              <a:ext uri="{FF2B5EF4-FFF2-40B4-BE49-F238E27FC236}">
                <a16:creationId xmlns:a16="http://schemas.microsoft.com/office/drawing/2014/main" id="{B60F85BE-52A8-4961-AAF2-9375BA68D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UML 用例图</a:t>
            </a:r>
          </a:p>
        </p:txBody>
      </p:sp>
      <p:sp>
        <p:nvSpPr>
          <p:cNvPr id="2" name="text-70">
            <a:extLst xmlns:a="http://schemas.openxmlformats.org/drawingml/2006/main">
              <a:ext uri="{FF2B5EF4-FFF2-40B4-BE49-F238E27FC236}">
                <a16:creationId xmlns:a16="http://schemas.microsoft.com/office/drawing/2014/main" id="{AF696A2F-EDAB-4CFF-AC57-E0C49800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98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377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78B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3" name="usecase-system">
            <a:extLst xmlns:a="http://schemas.openxmlformats.org/drawingml/2006/main">
              <a:ext uri="{FF2B5EF4-FFF2-40B4-BE49-F238E27FC236}">
                <a16:creationId xmlns:a16="http://schemas.microsoft.com/office/drawing/2014/main" id="{8795A528-508F-492A-9A27-C5ADA1087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381125"/>
            <a:ext cx="647700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9D9"/>
            </a:solidFill>
          </a:ln>
        </p:spPr>
      </p:sp>
      <p:sp>
        <p:nvSpPr>
          <p:cNvPr id="4" name="text-71">
            <a:extLst xmlns:a="http://schemas.openxmlformats.org/drawingml/2006/main">
              <a:ext uri="{FF2B5EF4-FFF2-40B4-BE49-F238E27FC236}">
                <a16:creationId xmlns:a16="http://schemas.microsoft.com/office/drawing/2014/main" id="{151009CA-762C-4988-8240-7A3C94F3E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476375"/>
            <a:ext cx="590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校园共享打印系统</a:t>
            </a:r>
          </a:p>
        </p:txBody>
      </p:sp>
      <p:sp>
        <p:nvSpPr>
          <p:cNvPr id="5" name="usecase-student">
            <a:extLst xmlns:a="http://schemas.openxmlformats.org/drawingml/2006/main">
              <a:ext uri="{FF2B5EF4-FFF2-40B4-BE49-F238E27FC236}">
                <a16:creationId xmlns:a16="http://schemas.microsoft.com/office/drawing/2014/main" id="{AA73B8C7-10A3-443F-BD57-B405968B1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52750"/>
            <a:ext cx="180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A"/>
          </a:solidFill>
          <a:ln xmlns:a="http://schemas.openxmlformats.org/drawingml/2006/main" w="14288">
            <a:solidFill>
              <a:srgbClr val="B7C9D9"/>
            </a:solidFill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«actor»</a:t>
            </a:r>
          </a:p>
          <a:p xmlns:a="http://schemas.openxmlformats.org/drawingml/2006/main">
            <a:pPr algn="ctr">
              <a:defRPr sz="172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提交者</a:t>
            </a:r>
          </a:p>
        </p:txBody>
      </p:sp>
      <p:sp>
        <p:nvSpPr>
          <p:cNvPr id="6" name="usecase-operator">
            <a:extLst xmlns:a="http://schemas.openxmlformats.org/drawingml/2006/main">
              <a:ext uri="{FF2B5EF4-FFF2-40B4-BE49-F238E27FC236}">
                <a16:creationId xmlns:a16="http://schemas.microsoft.com/office/drawing/2014/main" id="{C095D9CA-90EF-4C61-884F-A46FF7927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952750"/>
            <a:ext cx="180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F"/>
          </a:solidFill>
          <a:ln xmlns:a="http://schemas.openxmlformats.org/drawingml/2006/main" w="14288">
            <a:solidFill>
              <a:srgbClr val="B7C9D9"/>
            </a:solidFill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«actor»</a:t>
            </a:r>
          </a:p>
          <a:p xmlns:a="http://schemas.openxmlformats.org/drawingml/2006/main">
            <a:pPr algn="ctr">
              <a:defRPr sz="172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演示操作员</a:t>
            </a:r>
          </a:p>
        </p:txBody>
      </p:sp>
      <p:sp>
        <p:nvSpPr>
          <p:cNvPr id="7" name="usecase-submit">
            <a:extLst xmlns:a="http://schemas.openxmlformats.org/drawingml/2006/main">
              <a:ext uri="{FF2B5EF4-FFF2-40B4-BE49-F238E27FC236}">
                <a16:creationId xmlns:a16="http://schemas.microsoft.com/office/drawing/2014/main" id="{86D40EF5-D519-49BA-9D86-B0CDCEDDD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095500"/>
            <a:ext cx="257175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14288">
            <a:solidFill>
              <a:srgbClr val="B7C9D9"/>
            </a:solidFill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提交打印任务</a:t>
            </a:r>
          </a:p>
        </p:txBody>
      </p:sp>
      <p:sp>
        <p:nvSpPr>
          <p:cNvPr id="8" name="usecase-view">
            <a:extLst xmlns:a="http://schemas.openxmlformats.org/drawingml/2006/main">
              <a:ext uri="{FF2B5EF4-FFF2-40B4-BE49-F238E27FC236}">
                <a16:creationId xmlns:a16="http://schemas.microsoft.com/office/drawing/2014/main" id="{608BE3A3-A4E2-4CC0-B44C-B3F73B28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333750"/>
            <a:ext cx="257175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14288">
            <a:solidFill>
              <a:srgbClr val="B7C9D9"/>
            </a:solidFill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查看队列与进度</a:t>
            </a:r>
          </a:p>
        </p:txBody>
      </p:sp>
      <p:sp>
        <p:nvSpPr>
          <p:cNvPr id="9" name="usecase-cancel">
            <a:extLst xmlns:a="http://schemas.openxmlformats.org/drawingml/2006/main">
              <a:ext uri="{FF2B5EF4-FFF2-40B4-BE49-F238E27FC236}">
                <a16:creationId xmlns:a16="http://schemas.microsoft.com/office/drawing/2014/main" id="{C4F9C337-7688-4B5A-A594-2E2658706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572000"/>
            <a:ext cx="257175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14288">
            <a:solidFill>
              <a:srgbClr val="B7C9D9"/>
            </a:solidFill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取消任务</a:t>
            </a:r>
          </a:p>
        </p:txBody>
      </p:sp>
      <p:sp>
        <p:nvSpPr>
          <p:cNvPr id="10" name="usecase-policy">
            <a:extLst xmlns:a="http://schemas.openxmlformats.org/drawingml/2006/main">
              <a:ext uri="{FF2B5EF4-FFF2-40B4-BE49-F238E27FC236}">
                <a16:creationId xmlns:a16="http://schemas.microsoft.com/office/drawing/2014/main" id="{15F76E6A-AE6C-48C3-9C7D-E03C7E6C3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95500"/>
            <a:ext cx="257175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14288">
            <a:solidFill>
              <a:srgbClr val="B7C9D9"/>
            </a:solidFill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选择调度策略</a:t>
            </a:r>
          </a:p>
        </p:txBody>
      </p:sp>
      <p:sp>
        <p:nvSpPr>
          <p:cNvPr id="11" name="usecase-stats">
            <a:extLst xmlns:a="http://schemas.openxmlformats.org/drawingml/2006/main">
              <a:ext uri="{FF2B5EF4-FFF2-40B4-BE49-F238E27FC236}">
                <a16:creationId xmlns:a16="http://schemas.microsoft.com/office/drawing/2014/main" id="{A2569C79-C5D4-4AC4-A546-3EC89E32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333750"/>
            <a:ext cx="257175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14288">
            <a:solidFill>
              <a:srgbClr val="B7C9D9"/>
            </a:solidFill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查看统计与日志</a:t>
            </a:r>
          </a:p>
        </p:txBody>
      </p:sp>
      <p:sp>
        <p:nvSpPr>
          <p:cNvPr id="12" name="usecase-fault">
            <a:extLst xmlns:a="http://schemas.openxmlformats.org/drawingml/2006/main">
              <a:ext uri="{FF2B5EF4-FFF2-40B4-BE49-F238E27FC236}">
                <a16:creationId xmlns:a16="http://schemas.microsoft.com/office/drawing/2014/main" id="{D72D539C-18E3-47D8-B024-BE42940F3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572000"/>
            <a:ext cx="257175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14288">
            <a:solidFill>
              <a:srgbClr val="B7C9D9"/>
            </a:solidFill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故障与恢复演示</a:t>
            </a:r>
          </a:p>
        </p:txBody>
      </p:sp>
      <p:sp>
        <p:nvSpPr>
          <p:cNvPr id="13" name="point-72">
            <a:extLst xmlns:a="http://schemas.openxmlformats.org/drawingml/2006/main">
              <a:ext uri="{FF2B5EF4-FFF2-40B4-BE49-F238E27FC236}">
                <a16:creationId xmlns:a16="http://schemas.microsoft.com/office/drawing/2014/main" id="{A2CD174B-4B71-49DE-97FE-54FC5844A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7923" y="3323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" name="point-73">
            <a:extLst xmlns:a="http://schemas.openxmlformats.org/drawingml/2006/main">
              <a:ext uri="{FF2B5EF4-FFF2-40B4-BE49-F238E27FC236}">
                <a16:creationId xmlns:a16="http://schemas.microsoft.com/office/drawing/2014/main" id="{3FE697D9-D6A0-4EA0-9B18-61351B846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6998" y="3323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2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2429828" y="3324226"/>
            <a:ext cx="21717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C9D9"/>
            </a:solidFill>
            <a:prstDash val="solid"/>
            <a:tailEnd type="none" w="sm" len="sm"/>
          </a:ln>
        </p:spPr>
      </p:cxnSp>
      <p:sp>
        <p:nvSpPr>
          <p:cNvPr id="16" name="point-74">
            <a:extLst xmlns:a="http://schemas.openxmlformats.org/drawingml/2006/main">
              <a:ext uri="{FF2B5EF4-FFF2-40B4-BE49-F238E27FC236}">
                <a16:creationId xmlns:a16="http://schemas.microsoft.com/office/drawing/2014/main" id="{3314538F-9326-4351-B03C-1EC5B07B2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6998" y="3323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point-75">
            <a:extLst xmlns:a="http://schemas.openxmlformats.org/drawingml/2006/main">
              <a:ext uri="{FF2B5EF4-FFF2-40B4-BE49-F238E27FC236}">
                <a16:creationId xmlns:a16="http://schemas.microsoft.com/office/drawing/2014/main" id="{A3CB3159-6097-417F-A4AA-A6A168A79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6998" y="24564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5" name=""/>
          <p:cNvCxnSpPr>
            <a:stCxn xmlns:a="http://schemas.openxmlformats.org/drawingml/2006/main" id="16" idx="0"/>
            <a:endCxn xmlns:a="http://schemas.openxmlformats.org/drawingml/2006/main" id="17" idx="2"/>
          </p:cNvCxnSpPr>
          <p:nvPr/>
        </p:nvCxnSpPr>
        <p:spPr>
          <a:xfrm xmlns:a="http://schemas.openxmlformats.org/drawingml/2006/main" flipV="1">
            <a:off x="2647951" y="2458403"/>
            <a:ext cx="0" cy="86487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C9D9"/>
            </a:solidFill>
            <a:prstDash val="solid"/>
            <a:tailEnd type="none" w="sm" len="sm"/>
          </a:ln>
        </p:spPr>
      </p:cxnSp>
      <p:sp>
        <p:nvSpPr>
          <p:cNvPr id="19" name="point-76">
            <a:extLst xmlns:a="http://schemas.openxmlformats.org/drawingml/2006/main">
              <a:ext uri="{FF2B5EF4-FFF2-40B4-BE49-F238E27FC236}">
                <a16:creationId xmlns:a16="http://schemas.microsoft.com/office/drawing/2014/main" id="{11877401-76B1-4A4B-83F7-D1F195FB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6998" y="24564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" name="point-77">
            <a:extLst xmlns:a="http://schemas.openxmlformats.org/drawingml/2006/main">
              <a:ext uri="{FF2B5EF4-FFF2-40B4-BE49-F238E27FC236}">
                <a16:creationId xmlns:a16="http://schemas.microsoft.com/office/drawing/2014/main" id="{B41CE5C6-4F9D-47D8-813C-EACB5C1D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5173" y="24564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8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2648903" y="2457451"/>
            <a:ext cx="63627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C9D9"/>
            </a:solidFill>
            <a:prstDash val="solid"/>
            <a:tailEnd type="none" w="sm" len="sm"/>
          </a:ln>
        </p:spPr>
      </p:cxnSp>
      <p:sp>
        <p:nvSpPr>
          <p:cNvPr id="22" name="point-78">
            <a:extLst xmlns:a="http://schemas.openxmlformats.org/drawingml/2006/main">
              <a:ext uri="{FF2B5EF4-FFF2-40B4-BE49-F238E27FC236}">
                <a16:creationId xmlns:a16="http://schemas.microsoft.com/office/drawing/2014/main" id="{B02F49AA-81CE-4D87-BFDF-D660BF510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7923" y="3323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point-79">
            <a:extLst xmlns:a="http://schemas.openxmlformats.org/drawingml/2006/main">
              <a:ext uri="{FF2B5EF4-FFF2-40B4-BE49-F238E27FC236}">
                <a16:creationId xmlns:a16="http://schemas.microsoft.com/office/drawing/2014/main" id="{41C099A2-4D7D-433B-9361-D15BFE8C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6998" y="3323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1" name=""/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2429828" y="3324226"/>
            <a:ext cx="21717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C9D9"/>
            </a:solidFill>
            <a:prstDash val="solid"/>
            <a:tailEnd type="none" w="sm" len="sm"/>
          </a:ln>
        </p:spPr>
      </p:cxnSp>
      <p:sp>
        <p:nvSpPr>
          <p:cNvPr id="25" name="point-80">
            <a:extLst xmlns:a="http://schemas.openxmlformats.org/drawingml/2006/main">
              <a:ext uri="{FF2B5EF4-FFF2-40B4-BE49-F238E27FC236}">
                <a16:creationId xmlns:a16="http://schemas.microsoft.com/office/drawing/2014/main" id="{42558426-C4EE-4837-920E-A5338461C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6998" y="3323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point-81">
            <a:extLst xmlns:a="http://schemas.openxmlformats.org/drawingml/2006/main">
              <a:ext uri="{FF2B5EF4-FFF2-40B4-BE49-F238E27FC236}">
                <a16:creationId xmlns:a16="http://schemas.microsoft.com/office/drawing/2014/main" id="{72FA409C-BD71-4479-855F-A2A44B75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6998" y="36947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4" name=""/>
          <p:cNvCxnSpPr>
            <a:stCxn xmlns:a="http://schemas.openxmlformats.org/drawingml/2006/main" id="25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>
            <a:off x="2647951" y="3325178"/>
            <a:ext cx="0" cy="36957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C9D9"/>
            </a:solidFill>
            <a:prstDash val="solid"/>
            <a:tailEnd type="none" w="sm" len="sm"/>
          </a:ln>
        </p:spPr>
      </p:cxnSp>
      <p:sp>
        <p:nvSpPr>
          <p:cNvPr id="28" name="point-82">
            <a:extLst xmlns:a="http://schemas.openxmlformats.org/drawingml/2006/main">
              <a:ext uri="{FF2B5EF4-FFF2-40B4-BE49-F238E27FC236}">
                <a16:creationId xmlns:a16="http://schemas.microsoft.com/office/drawing/2014/main" id="{8137A593-1A98-4140-92CA-72D864898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6998" y="36947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point-83">
            <a:extLst xmlns:a="http://schemas.openxmlformats.org/drawingml/2006/main">
              <a:ext uri="{FF2B5EF4-FFF2-40B4-BE49-F238E27FC236}">
                <a16:creationId xmlns:a16="http://schemas.microsoft.com/office/drawing/2014/main" id="{BF7A5006-AC64-425B-A81A-1A3BF093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5173" y="36947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7" name=""/>
          <p:cNvCxnSpPr>
            <a:stCxn xmlns:a="http://schemas.openxmlformats.org/drawingml/2006/main" id="2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2648903" y="3695701"/>
            <a:ext cx="63627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C9D9"/>
            </a:solidFill>
            <a:prstDash val="solid"/>
            <a:tailEnd type="none" w="sm" len="sm"/>
          </a:ln>
        </p:spPr>
      </p:cxnSp>
      <p:sp>
        <p:nvSpPr>
          <p:cNvPr id="31" name="point-84">
            <a:extLst xmlns:a="http://schemas.openxmlformats.org/drawingml/2006/main">
              <a:ext uri="{FF2B5EF4-FFF2-40B4-BE49-F238E27FC236}">
                <a16:creationId xmlns:a16="http://schemas.microsoft.com/office/drawing/2014/main" id="{20FC1177-1BFC-4479-B461-2DC16D60F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7923" y="3323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" name="point-85">
            <a:extLst xmlns:a="http://schemas.openxmlformats.org/drawingml/2006/main">
              <a:ext uri="{FF2B5EF4-FFF2-40B4-BE49-F238E27FC236}">
                <a16:creationId xmlns:a16="http://schemas.microsoft.com/office/drawing/2014/main" id="{2E29B51F-BA66-4461-A601-A62C73BD6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6998" y="3323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0" name=""/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2429828" y="3324226"/>
            <a:ext cx="21717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C9D9"/>
            </a:solidFill>
            <a:prstDash val="solid"/>
            <a:tailEnd type="none" w="sm" len="sm"/>
          </a:ln>
        </p:spPr>
      </p:cxnSp>
      <p:sp>
        <p:nvSpPr>
          <p:cNvPr id="34" name="point-86">
            <a:extLst xmlns:a="http://schemas.openxmlformats.org/drawingml/2006/main">
              <a:ext uri="{FF2B5EF4-FFF2-40B4-BE49-F238E27FC236}">
                <a16:creationId xmlns:a16="http://schemas.microsoft.com/office/drawing/2014/main" id="{586D6A6D-8404-47B7-82E7-609131D2C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6998" y="3323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point-87">
            <a:extLst xmlns:a="http://schemas.openxmlformats.org/drawingml/2006/main">
              <a:ext uri="{FF2B5EF4-FFF2-40B4-BE49-F238E27FC236}">
                <a16:creationId xmlns:a16="http://schemas.microsoft.com/office/drawing/2014/main" id="{211AB271-B513-43F5-B8C0-0D614F356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6998" y="49329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3" name=""/>
          <p:cNvCxnSpPr>
            <a:stCxn xmlns:a="http://schemas.openxmlformats.org/drawingml/2006/main" id="34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>
            <a:off x="2647951" y="3325178"/>
            <a:ext cx="0" cy="160782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C9D9"/>
            </a:solidFill>
            <a:prstDash val="solid"/>
            <a:tailEnd type="none" w="sm" len="sm"/>
          </a:ln>
        </p:spPr>
      </p:cxnSp>
      <p:sp>
        <p:nvSpPr>
          <p:cNvPr id="37" name="point-88">
            <a:extLst xmlns:a="http://schemas.openxmlformats.org/drawingml/2006/main">
              <a:ext uri="{FF2B5EF4-FFF2-40B4-BE49-F238E27FC236}">
                <a16:creationId xmlns:a16="http://schemas.microsoft.com/office/drawing/2014/main" id="{4AC25D47-F4AB-43E1-A810-3BFA6604D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6998" y="49329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" name="point-89">
            <a:extLst xmlns:a="http://schemas.openxmlformats.org/drawingml/2006/main">
              <a:ext uri="{FF2B5EF4-FFF2-40B4-BE49-F238E27FC236}">
                <a16:creationId xmlns:a16="http://schemas.microsoft.com/office/drawing/2014/main" id="{94298866-11CA-4A3E-9543-260459E3A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5173" y="49329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6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2648903" y="4933951"/>
            <a:ext cx="63627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C9D9"/>
            </a:solidFill>
            <a:prstDash val="solid"/>
            <a:tailEnd type="none" w="sm" len="sm"/>
          </a:ln>
        </p:spPr>
      </p:cxnSp>
      <p:sp>
        <p:nvSpPr>
          <p:cNvPr id="40" name="point-90">
            <a:extLst xmlns:a="http://schemas.openxmlformats.org/drawingml/2006/main">
              <a:ext uri="{FF2B5EF4-FFF2-40B4-BE49-F238E27FC236}">
                <a16:creationId xmlns:a16="http://schemas.microsoft.com/office/drawing/2014/main" id="{8F47B32A-536B-4F0B-B9D6-0383817DD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2173" y="3323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point-91">
            <a:extLst xmlns:a="http://schemas.openxmlformats.org/drawingml/2006/main">
              <a:ext uri="{FF2B5EF4-FFF2-40B4-BE49-F238E27FC236}">
                <a16:creationId xmlns:a16="http://schemas.microsoft.com/office/drawing/2014/main" id="{758E137F-CDF6-4705-80D8-4F8BDF6AE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3098" y="3323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9" name=""/>
          <p:cNvCxnSpPr>
            <a:stCxn xmlns:a="http://schemas.openxmlformats.org/drawingml/2006/main" id="40" idx="1"/>
            <a:endCxn xmlns:a="http://schemas.openxmlformats.org/drawingml/2006/main" id="41" idx="3"/>
          </p:cNvCxnSpPr>
          <p:nvPr/>
        </p:nvCxnSpPr>
        <p:spPr>
          <a:xfrm xmlns:a="http://schemas.openxmlformats.org/drawingml/2006/main" flipH="1">
            <a:off x="9545003" y="3324226"/>
            <a:ext cx="21717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877E"/>
            </a:solidFill>
            <a:prstDash val="solid"/>
            <a:tailEnd type="none" w="sm" len="sm"/>
          </a:ln>
        </p:spPr>
      </p:cxnSp>
      <p:sp>
        <p:nvSpPr>
          <p:cNvPr id="43" name="point-92">
            <a:extLst xmlns:a="http://schemas.openxmlformats.org/drawingml/2006/main">
              <a:ext uri="{FF2B5EF4-FFF2-40B4-BE49-F238E27FC236}">
                <a16:creationId xmlns:a16="http://schemas.microsoft.com/office/drawing/2014/main" id="{3CBC8C11-A00E-439B-90F1-7317E9E0F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3098" y="3323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point-93">
            <a:extLst xmlns:a="http://schemas.openxmlformats.org/drawingml/2006/main">
              <a:ext uri="{FF2B5EF4-FFF2-40B4-BE49-F238E27FC236}">
                <a16:creationId xmlns:a16="http://schemas.microsoft.com/office/drawing/2014/main" id="{22A211AC-C2F3-4FC2-9136-7CEC3C532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3098" y="24564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2" name=""/>
          <p:cNvCxnSpPr>
            <a:stCxn xmlns:a="http://schemas.openxmlformats.org/drawingml/2006/main" id="43" idx="0"/>
            <a:endCxn xmlns:a="http://schemas.openxmlformats.org/drawingml/2006/main" id="44" idx="2"/>
          </p:cNvCxnSpPr>
          <p:nvPr/>
        </p:nvCxnSpPr>
        <p:spPr>
          <a:xfrm xmlns:a="http://schemas.openxmlformats.org/drawingml/2006/main" flipV="1">
            <a:off x="9544051" y="2458403"/>
            <a:ext cx="0" cy="86487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877E"/>
            </a:solidFill>
            <a:prstDash val="solid"/>
            <a:tailEnd type="none" w="sm" len="sm"/>
          </a:ln>
        </p:spPr>
      </p:cxnSp>
      <p:sp>
        <p:nvSpPr>
          <p:cNvPr id="46" name="point-94">
            <a:extLst xmlns:a="http://schemas.openxmlformats.org/drawingml/2006/main">
              <a:ext uri="{FF2B5EF4-FFF2-40B4-BE49-F238E27FC236}">
                <a16:creationId xmlns:a16="http://schemas.microsoft.com/office/drawing/2014/main" id="{58292638-7F55-447E-B5E1-D698EAA41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3098" y="24564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" name="point-95">
            <a:extLst xmlns:a="http://schemas.openxmlformats.org/drawingml/2006/main">
              <a:ext uri="{FF2B5EF4-FFF2-40B4-BE49-F238E27FC236}">
                <a16:creationId xmlns:a16="http://schemas.microsoft.com/office/drawing/2014/main" id="{0750E41B-961C-4176-B734-3F616EC0E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0173" y="24564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5" name=""/>
          <p:cNvCxnSpPr>
            <a:stCxn xmlns:a="http://schemas.openxmlformats.org/drawingml/2006/main" id="46" idx="1"/>
            <a:endCxn xmlns:a="http://schemas.openxmlformats.org/drawingml/2006/main" id="47" idx="3"/>
          </p:cNvCxnSpPr>
          <p:nvPr/>
        </p:nvCxnSpPr>
        <p:spPr>
          <a:xfrm xmlns:a="http://schemas.openxmlformats.org/drawingml/2006/main" flipH="1">
            <a:off x="9002078" y="2457451"/>
            <a:ext cx="54102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877E"/>
            </a:solidFill>
            <a:prstDash val="solid"/>
            <a:tailEnd type="none" w="sm" len="sm"/>
          </a:ln>
        </p:spPr>
      </p:cxnSp>
      <p:sp>
        <p:nvSpPr>
          <p:cNvPr id="49" name="point-96">
            <a:extLst xmlns:a="http://schemas.openxmlformats.org/drawingml/2006/main">
              <a:ext uri="{FF2B5EF4-FFF2-40B4-BE49-F238E27FC236}">
                <a16:creationId xmlns:a16="http://schemas.microsoft.com/office/drawing/2014/main" id="{AA8069B4-C3D6-42F9-A2DF-CE89E4DD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2173" y="3323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" name="point-97">
            <a:extLst xmlns:a="http://schemas.openxmlformats.org/drawingml/2006/main">
              <a:ext uri="{FF2B5EF4-FFF2-40B4-BE49-F238E27FC236}">
                <a16:creationId xmlns:a16="http://schemas.microsoft.com/office/drawing/2014/main" id="{4650B7CE-8314-45BF-B16A-EC480B0F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3098" y="3323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8" name=""/>
          <p:cNvCxnSpPr>
            <a:stCxn xmlns:a="http://schemas.openxmlformats.org/drawingml/2006/main" id="49" idx="1"/>
            <a:endCxn xmlns:a="http://schemas.openxmlformats.org/drawingml/2006/main" id="50" idx="3"/>
          </p:cNvCxnSpPr>
          <p:nvPr/>
        </p:nvCxnSpPr>
        <p:spPr>
          <a:xfrm xmlns:a="http://schemas.openxmlformats.org/drawingml/2006/main" flipH="1">
            <a:off x="9545003" y="3324226"/>
            <a:ext cx="21717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877E"/>
            </a:solidFill>
            <a:prstDash val="solid"/>
            <a:tailEnd type="none" w="sm" len="sm"/>
          </a:ln>
        </p:spPr>
      </p:cxnSp>
      <p:sp>
        <p:nvSpPr>
          <p:cNvPr id="52" name="point-98">
            <a:extLst xmlns:a="http://schemas.openxmlformats.org/drawingml/2006/main">
              <a:ext uri="{FF2B5EF4-FFF2-40B4-BE49-F238E27FC236}">
                <a16:creationId xmlns:a16="http://schemas.microsoft.com/office/drawing/2014/main" id="{6B88A865-2D0F-4E74-B279-6ACFC7828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3098" y="3323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" name="point-99">
            <a:extLst xmlns:a="http://schemas.openxmlformats.org/drawingml/2006/main">
              <a:ext uri="{FF2B5EF4-FFF2-40B4-BE49-F238E27FC236}">
                <a16:creationId xmlns:a16="http://schemas.microsoft.com/office/drawing/2014/main" id="{A4C44EED-A312-4041-BE7E-5FC01EA62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3098" y="36947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1" name=""/>
          <p:cNvCxnSpPr>
            <a:stCxn xmlns:a="http://schemas.openxmlformats.org/drawingml/2006/main" id="52" idx="2"/>
            <a:endCxn xmlns:a="http://schemas.openxmlformats.org/drawingml/2006/main" id="53" idx="0"/>
          </p:cNvCxnSpPr>
          <p:nvPr/>
        </p:nvCxnSpPr>
        <p:spPr>
          <a:xfrm xmlns:a="http://schemas.openxmlformats.org/drawingml/2006/main">
            <a:off x="9544051" y="3325178"/>
            <a:ext cx="0" cy="36957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877E"/>
            </a:solidFill>
            <a:prstDash val="solid"/>
            <a:tailEnd type="none" w="sm" len="sm"/>
          </a:ln>
        </p:spPr>
      </p:cxnSp>
      <p:sp>
        <p:nvSpPr>
          <p:cNvPr id="55" name="point-100">
            <a:extLst xmlns:a="http://schemas.openxmlformats.org/drawingml/2006/main">
              <a:ext uri="{FF2B5EF4-FFF2-40B4-BE49-F238E27FC236}">
                <a16:creationId xmlns:a16="http://schemas.microsoft.com/office/drawing/2014/main" id="{5DE9431E-D26D-4AEF-8AC0-6396FBF0B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3098" y="36947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6" name="point-101">
            <a:extLst xmlns:a="http://schemas.openxmlformats.org/drawingml/2006/main">
              <a:ext uri="{FF2B5EF4-FFF2-40B4-BE49-F238E27FC236}">
                <a16:creationId xmlns:a16="http://schemas.microsoft.com/office/drawing/2014/main" id="{DA96F980-84A6-49A8-894B-5926ADFF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0173" y="36947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4" name=""/>
          <p:cNvCxnSpPr>
            <a:stCxn xmlns:a="http://schemas.openxmlformats.org/drawingml/2006/main" id="55" idx="1"/>
            <a:endCxn xmlns:a="http://schemas.openxmlformats.org/drawingml/2006/main" id="56" idx="3"/>
          </p:cNvCxnSpPr>
          <p:nvPr/>
        </p:nvCxnSpPr>
        <p:spPr>
          <a:xfrm xmlns:a="http://schemas.openxmlformats.org/drawingml/2006/main" flipH="1">
            <a:off x="9002078" y="3695701"/>
            <a:ext cx="54102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877E"/>
            </a:solidFill>
            <a:prstDash val="solid"/>
            <a:tailEnd type="none" w="sm" len="sm"/>
          </a:ln>
        </p:spPr>
      </p:cxnSp>
      <p:sp>
        <p:nvSpPr>
          <p:cNvPr id="58" name="point-102">
            <a:extLst xmlns:a="http://schemas.openxmlformats.org/drawingml/2006/main">
              <a:ext uri="{FF2B5EF4-FFF2-40B4-BE49-F238E27FC236}">
                <a16:creationId xmlns:a16="http://schemas.microsoft.com/office/drawing/2014/main" id="{2FB5C721-A0DE-4931-B9AD-A5ED0487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2173" y="3323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" name="point-103">
            <a:extLst xmlns:a="http://schemas.openxmlformats.org/drawingml/2006/main">
              <a:ext uri="{FF2B5EF4-FFF2-40B4-BE49-F238E27FC236}">
                <a16:creationId xmlns:a16="http://schemas.microsoft.com/office/drawing/2014/main" id="{3C2D03AB-5503-41F2-B811-62162815A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3098" y="3323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7" name=""/>
          <p:cNvCxnSpPr>
            <a:stCxn xmlns:a="http://schemas.openxmlformats.org/drawingml/2006/main" id="58" idx="1"/>
            <a:endCxn xmlns:a="http://schemas.openxmlformats.org/drawingml/2006/main" id="59" idx="3"/>
          </p:cNvCxnSpPr>
          <p:nvPr/>
        </p:nvCxnSpPr>
        <p:spPr>
          <a:xfrm xmlns:a="http://schemas.openxmlformats.org/drawingml/2006/main" flipH="1">
            <a:off x="9545003" y="3324226"/>
            <a:ext cx="21717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877E"/>
            </a:solidFill>
            <a:prstDash val="solid"/>
            <a:tailEnd type="none" w="sm" len="sm"/>
          </a:ln>
        </p:spPr>
      </p:cxnSp>
      <p:sp>
        <p:nvSpPr>
          <p:cNvPr id="61" name="point-104">
            <a:extLst xmlns:a="http://schemas.openxmlformats.org/drawingml/2006/main">
              <a:ext uri="{FF2B5EF4-FFF2-40B4-BE49-F238E27FC236}">
                <a16:creationId xmlns:a16="http://schemas.microsoft.com/office/drawing/2014/main" id="{129544A1-3510-4124-B189-F4605033F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3098" y="3323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" name="point-105">
            <a:extLst xmlns:a="http://schemas.openxmlformats.org/drawingml/2006/main">
              <a:ext uri="{FF2B5EF4-FFF2-40B4-BE49-F238E27FC236}">
                <a16:creationId xmlns:a16="http://schemas.microsoft.com/office/drawing/2014/main" id="{75CE56CF-04FD-48DF-9FBD-FFBF0D202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3098" y="49329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0" name=""/>
          <p:cNvCxnSpPr>
            <a:stCxn xmlns:a="http://schemas.openxmlformats.org/drawingml/2006/main" id="61" idx="2"/>
            <a:endCxn xmlns:a="http://schemas.openxmlformats.org/drawingml/2006/main" id="62" idx="0"/>
          </p:cNvCxnSpPr>
          <p:nvPr/>
        </p:nvCxnSpPr>
        <p:spPr>
          <a:xfrm xmlns:a="http://schemas.openxmlformats.org/drawingml/2006/main">
            <a:off x="9544051" y="3325178"/>
            <a:ext cx="0" cy="160782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877E"/>
            </a:solidFill>
            <a:prstDash val="solid"/>
            <a:tailEnd type="none" w="sm" len="sm"/>
          </a:ln>
        </p:spPr>
      </p:cxnSp>
      <p:sp>
        <p:nvSpPr>
          <p:cNvPr id="64" name="point-106">
            <a:extLst xmlns:a="http://schemas.openxmlformats.org/drawingml/2006/main">
              <a:ext uri="{FF2B5EF4-FFF2-40B4-BE49-F238E27FC236}">
                <a16:creationId xmlns:a16="http://schemas.microsoft.com/office/drawing/2014/main" id="{6B70CC56-E469-4115-BEE8-B49D84C51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3098" y="49329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5" name="point-107">
            <a:extLst xmlns:a="http://schemas.openxmlformats.org/drawingml/2006/main">
              <a:ext uri="{FF2B5EF4-FFF2-40B4-BE49-F238E27FC236}">
                <a16:creationId xmlns:a16="http://schemas.microsoft.com/office/drawing/2014/main" id="{7C9CE761-9E01-4BA1-8CE3-C66F0F7AD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0173" y="49329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3" name=""/>
          <p:cNvCxnSpPr>
            <a:stCxn xmlns:a="http://schemas.openxmlformats.org/drawingml/2006/main" id="64" idx="1"/>
            <a:endCxn xmlns:a="http://schemas.openxmlformats.org/drawingml/2006/main" id="65" idx="3"/>
          </p:cNvCxnSpPr>
          <p:nvPr/>
        </p:nvCxnSpPr>
        <p:spPr>
          <a:xfrm xmlns:a="http://schemas.openxmlformats.org/drawingml/2006/main" flipH="1">
            <a:off x="9002078" y="4933951"/>
            <a:ext cx="54102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877E"/>
            </a:solidFill>
            <a:prstDash val="solid"/>
            <a:tailEnd type="none" w="sm" len="sm"/>
          </a:ln>
        </p:spPr>
      </p:cxnSp>
      <p:sp>
        <p:nvSpPr>
          <p:cNvPr id="67" name="text-108">
            <a:extLst xmlns:a="http://schemas.openxmlformats.org/drawingml/2006/main">
              <a:ext uri="{FF2B5EF4-FFF2-40B4-BE49-F238E27FC236}">
                <a16:creationId xmlns:a16="http://schemas.microsoft.com/office/drawing/2014/main" id="{FA54D312-9625-4D0A-ADF8-336188187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514975"/>
            <a:ext cx="561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7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78B"/>
                </a:solidFill>
                <a:latin typeface="Hiragino Sans GB"/>
                <a:ea typeface="Hiragino Sans GB"/>
                <a:cs typeface="Hiragino Sans GB"/>
              </a:rPr>
              <a:t>角色用于需求划分，本阶段不实现登录与权限系统</a:t>
            </a:r>
          </a:p>
        </p:txBody>
      </p:sp>
    </p:spTree>
    <p:extLst>
      <p:ext uri="{BB962C8B-B14F-4D97-AF65-F5344CB8AC3E}">
        <p14:creationId xmlns:p14="http://schemas.microsoft.com/office/powerpoint/2010/main" val="6547791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text-109">
            <a:extLst xmlns:a="http://schemas.openxmlformats.org/drawingml/2006/main">
              <a:ext uri="{FF2B5EF4-FFF2-40B4-BE49-F238E27FC236}">
                <a16:creationId xmlns:a16="http://schemas.microsoft.com/office/drawing/2014/main" id="{CA06B8FE-A21D-424D-97A1-F9ED1B2C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目标架构与进程边界</a:t>
            </a:r>
          </a:p>
        </p:txBody>
      </p:sp>
      <p:sp>
        <p:nvSpPr>
          <p:cNvPr id="2" name="text-110">
            <a:extLst xmlns:a="http://schemas.openxmlformats.org/drawingml/2006/main">
              <a:ext uri="{FF2B5EF4-FFF2-40B4-BE49-F238E27FC236}">
                <a16:creationId xmlns:a16="http://schemas.microsoft.com/office/drawing/2014/main" id="{83A53D18-15F3-46DF-A06D-259160F1A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98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377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78B"/>
                </a:solidFill>
                <a:latin typeface="Hiragino Sans GB"/>
                <a:ea typeface="Hiragino Sans GB"/>
                <a:cs typeface="Hiragino Sans GB"/>
              </a:rPr>
              <a:t>06</a:t>
            </a:r>
          </a:p>
        </p:txBody>
      </p:sp>
      <p:sp>
        <p:nvSpPr>
          <p:cNvPr id="3" name="architecture-gui">
            <a:extLst xmlns:a="http://schemas.openxmlformats.org/drawingml/2006/main">
              <a:ext uri="{FF2B5EF4-FFF2-40B4-BE49-F238E27FC236}">
                <a16:creationId xmlns:a16="http://schemas.microsoft.com/office/drawing/2014/main" id="{6F14188D-2392-45F2-9CF4-3F6814ED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19425"/>
            <a:ext cx="1952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A"/>
          </a:solidFill>
          <a:ln xmlns:a="http://schemas.openxmlformats.org/drawingml/2006/main" w="14288">
            <a:solidFill>
              <a:srgbClr val="B7C9D9"/>
            </a:solidFill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Qt 图形界面</a:t>
            </a:r>
          </a:p>
          <a:p xmlns:a="http://schemas.openxmlformats.org/drawingml/2006/main">
            <a:pPr algn="ctr">
              <a:defRPr sz="180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本地 IPC 客户端</a:t>
            </a:r>
          </a:p>
        </p:txBody>
      </p:sp>
      <p:sp>
        <p:nvSpPr>
          <p:cNvPr id="4" name="architecture-coord">
            <a:extLst xmlns:a="http://schemas.openxmlformats.org/drawingml/2006/main">
              <a:ext uri="{FF2B5EF4-FFF2-40B4-BE49-F238E27FC236}">
                <a16:creationId xmlns:a16="http://schemas.microsoft.com/office/drawing/2014/main" id="{1AE64C17-E9A4-41A2-B1B2-9A29109FA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019425"/>
            <a:ext cx="2571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34A"/>
          </a:solidFill>
          <a:ln xmlns:a="http://schemas.openxmlformats.org/drawingml/2006/main" w="14288">
            <a:solidFill>
              <a:srgbClr val="B7C9D9"/>
            </a:solidFill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print-coordinator</a:t>
            </a:r>
          </a:p>
          <a:p xmlns:a="http://schemas.openxmlformats.org/drawingml/2006/main">
            <a:pPr algn="ctr">
              <a:defRPr sz="18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持久队列与设备槽位</a:t>
            </a:r>
          </a:p>
        </p:txBody>
      </p:sp>
      <p:sp>
        <p:nvSpPr>
          <p:cNvPr id="5" name="architecture-scheduler">
            <a:extLst xmlns:a="http://schemas.openxmlformats.org/drawingml/2006/main">
              <a:ext uri="{FF2B5EF4-FFF2-40B4-BE49-F238E27FC236}">
                <a16:creationId xmlns:a16="http://schemas.microsoft.com/office/drawing/2014/main" id="{9B97AFB6-A9CD-44C2-A46F-6E57B5783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428750"/>
            <a:ext cx="2381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9D9"/>
            </a:solidFill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Scheduler</a:t>
            </a:r>
          </a:p>
          <a:p xmlns:a="http://schemas.openxmlformats.org/drawingml/2006/main">
            <a:pPr algn="ctr">
              <a:defRPr sz="172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策略与状态机</a:t>
            </a:r>
          </a:p>
        </p:txBody>
      </p:sp>
      <p:sp>
        <p:nvSpPr>
          <p:cNvPr id="6" name="architecture-snapshot">
            <a:extLst xmlns:a="http://schemas.openxmlformats.org/drawingml/2006/main">
              <a:ext uri="{FF2B5EF4-FFF2-40B4-BE49-F238E27FC236}">
                <a16:creationId xmlns:a16="http://schemas.microsoft.com/office/drawing/2014/main" id="{BC10595F-0319-4712-98DB-47A913D64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000625"/>
            <a:ext cx="2381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9D9"/>
            </a:solidFill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state.json</a:t>
            </a:r>
          </a:p>
          <a:p xmlns:a="http://schemas.openxmlformats.org/drawingml/2006/main">
            <a:pPr algn="ctr">
              <a:defRPr sz="172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原子快照 + 单实例锁</a:t>
            </a:r>
          </a:p>
        </p:txBody>
      </p:sp>
      <p:sp>
        <p:nvSpPr>
          <p:cNvPr id="7" name="architecture-supervisor">
            <a:extLst xmlns:a="http://schemas.openxmlformats.org/drawingml/2006/main">
              <a:ext uri="{FF2B5EF4-FFF2-40B4-BE49-F238E27FC236}">
                <a16:creationId xmlns:a16="http://schemas.microsoft.com/office/drawing/2014/main" id="{3D9A1C43-E923-40E8-A9B6-0D71584AF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571750"/>
            <a:ext cx="1952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F"/>
          </a:solidFill>
          <a:ln xmlns:a="http://schemas.openxmlformats.org/drawingml/2006/main" w="14288">
            <a:solidFill>
              <a:srgbClr val="B7C9D9"/>
            </a:solidFill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supervisor × 2</a:t>
            </a:r>
          </a:p>
          <a:p xmlns:a="http://schemas.openxmlformats.org/drawingml/2006/main">
            <a:pPr algn="ctr">
              <a:defRPr sz="165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监督与有限重试</a:t>
            </a:r>
          </a:p>
        </p:txBody>
      </p:sp>
      <p:sp>
        <p:nvSpPr>
          <p:cNvPr id="8" name="architecture-worker">
            <a:extLst xmlns:a="http://schemas.openxmlformats.org/drawingml/2006/main">
              <a:ext uri="{FF2B5EF4-FFF2-40B4-BE49-F238E27FC236}">
                <a16:creationId xmlns:a16="http://schemas.microsoft.com/office/drawing/2014/main" id="{AA58B398-9B50-4434-856D-B5FED2C2A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524375"/>
            <a:ext cx="1952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F"/>
          </a:solidFill>
          <a:ln xmlns:a="http://schemas.openxmlformats.org/drawingml/2006/main" w="14288">
            <a:solidFill>
              <a:srgbClr val="B7C9D9"/>
            </a:solidFill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worker × 2</a:t>
            </a:r>
          </a:p>
          <a:p xmlns:a="http://schemas.openxmlformats.org/drawingml/2006/main">
            <a:pPr algn="ctr">
              <a:defRPr sz="172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模拟打印</a:t>
            </a:r>
          </a:p>
        </p:txBody>
      </p:sp>
      <p:sp>
        <p:nvSpPr>
          <p:cNvPr id="9" name="architecture-output">
            <a:extLst xmlns:a="http://schemas.openxmlformats.org/drawingml/2006/main">
              <a:ext uri="{FF2B5EF4-FFF2-40B4-BE49-F238E27FC236}">
                <a16:creationId xmlns:a16="http://schemas.microsoft.com/office/drawing/2014/main" id="{14CD1118-EC7D-4840-AA8C-2E36929DF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524375"/>
            <a:ext cx="1428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9D9"/>
            </a:solidFill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输出文件</a:t>
            </a:r>
          </a:p>
          <a:p xmlns:a="http://schemas.openxmlformats.org/drawingml/2006/main">
            <a:pPr algn="ctr">
              <a:defRPr sz="157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原子提交</a:t>
            </a:r>
          </a:p>
        </p:txBody>
      </p:sp>
      <p:sp>
        <p:nvSpPr>
          <p:cNvPr id="10" name="point-111">
            <a:extLst xmlns:a="http://schemas.openxmlformats.org/drawingml/2006/main">
              <a:ext uri="{FF2B5EF4-FFF2-40B4-BE49-F238E27FC236}">
                <a16:creationId xmlns:a16="http://schemas.microsoft.com/office/drawing/2014/main" id="{6E6ECD65-14CA-4CF4-BE62-C69EC4E8D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3173" y="34947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point-112">
            <a:extLst xmlns:a="http://schemas.openxmlformats.org/drawingml/2006/main">
              <a:ext uri="{FF2B5EF4-FFF2-40B4-BE49-F238E27FC236}">
                <a16:creationId xmlns:a16="http://schemas.microsoft.com/office/drawing/2014/main" id="{7AAB2A84-5DC9-45DE-8A05-E9C539BA9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1423" y="34947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9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525078" y="3495676"/>
            <a:ext cx="123634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EA7"/>
            </a:solidFill>
            <a:prstDash val="solid"/>
            <a:tailEnd type="arrow" w="sm" len="sm"/>
          </a:ln>
        </p:spPr>
      </p:cxnSp>
      <p:sp>
        <p:nvSpPr>
          <p:cNvPr id="13" name="text-113">
            <a:extLst xmlns:a="http://schemas.openxmlformats.org/drawingml/2006/main">
              <a:ext uri="{FF2B5EF4-FFF2-40B4-BE49-F238E27FC236}">
                <a16:creationId xmlns:a16="http://schemas.microsoft.com/office/drawing/2014/main" id="{9FDCE272-1062-408E-84A3-9BBFE54EB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914650"/>
            <a:ext cx="1219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JSONL</a:t>
            </a:r>
          </a:p>
          <a:p xmlns:a="http://schemas.openxmlformats.org/drawingml/2006/main">
            <a:pPr algn="ctr">
              <a:defRPr sz="142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双向通信</a:t>
            </a:r>
          </a:p>
        </p:txBody>
      </p:sp>
      <p:sp>
        <p:nvSpPr>
          <p:cNvPr id="14" name="point-114">
            <a:extLst xmlns:a="http://schemas.openxmlformats.org/drawingml/2006/main">
              <a:ext uri="{FF2B5EF4-FFF2-40B4-BE49-F238E27FC236}">
                <a16:creationId xmlns:a16="http://schemas.microsoft.com/office/drawing/2014/main" id="{100B88A1-87E2-4514-B539-76E95D51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298" y="30184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" name="point-115">
            <a:extLst xmlns:a="http://schemas.openxmlformats.org/drawingml/2006/main">
              <a:ext uri="{FF2B5EF4-FFF2-40B4-BE49-F238E27FC236}">
                <a16:creationId xmlns:a16="http://schemas.microsoft.com/office/drawing/2014/main" id="{0231F82C-808D-4CD2-9A60-C6B08F2FD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298" y="21897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3" name=""/>
          <p:cNvCxnSpPr>
            <a:stCxn xmlns:a="http://schemas.openxmlformats.org/drawingml/2006/main" id="14" idx="0"/>
            <a:endCxn xmlns:a="http://schemas.openxmlformats.org/drawingml/2006/main" id="15" idx="2"/>
          </p:cNvCxnSpPr>
          <p:nvPr/>
        </p:nvCxnSpPr>
        <p:spPr>
          <a:xfrm xmlns:a="http://schemas.openxmlformats.org/drawingml/2006/main" flipV="1">
            <a:off x="5048251" y="2191703"/>
            <a:ext cx="0" cy="82677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C9D9"/>
            </a:solidFill>
            <a:prstDash val="solid"/>
            <a:tailEnd type="arrow" w="sm" len="sm"/>
          </a:ln>
        </p:spPr>
      </p:cxnSp>
      <p:sp>
        <p:nvSpPr>
          <p:cNvPr id="17" name="point-116">
            <a:extLst xmlns:a="http://schemas.openxmlformats.org/drawingml/2006/main">
              <a:ext uri="{FF2B5EF4-FFF2-40B4-BE49-F238E27FC236}">
                <a16:creationId xmlns:a16="http://schemas.microsoft.com/office/drawing/2014/main" id="{7E4A9981-6538-4064-B88F-092F0760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298" y="39709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" name="point-117">
            <a:extLst xmlns:a="http://schemas.openxmlformats.org/drawingml/2006/main">
              <a:ext uri="{FF2B5EF4-FFF2-40B4-BE49-F238E27FC236}">
                <a16:creationId xmlns:a16="http://schemas.microsoft.com/office/drawing/2014/main" id="{247FE475-DEA6-4F5B-8455-83D80C9BE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298" y="49996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6" name=""/>
          <p:cNvCxnSpPr>
            <a:stCxn xmlns:a="http://schemas.openxmlformats.org/drawingml/2006/main" id="17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5048251" y="3972878"/>
            <a:ext cx="0" cy="10267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C9D9"/>
            </a:solidFill>
            <a:prstDash val="solid"/>
            <a:tailEnd type="arrow" w="sm" len="sm"/>
          </a:ln>
        </p:spPr>
      </p:cxnSp>
      <p:sp>
        <p:nvSpPr>
          <p:cNvPr id="20" name="text-118">
            <a:extLst xmlns:a="http://schemas.openxmlformats.org/drawingml/2006/main">
              <a:ext uri="{FF2B5EF4-FFF2-40B4-BE49-F238E27FC236}">
                <a16:creationId xmlns:a16="http://schemas.microsoft.com/office/drawing/2014/main" id="{8AEB6934-4A49-48A7-AB06-2732B227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2576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先持久化再执行</a:t>
            </a:r>
          </a:p>
        </p:txBody>
      </p:sp>
      <p:sp>
        <p:nvSpPr>
          <p:cNvPr id="21" name="point-119">
            <a:extLst xmlns:a="http://schemas.openxmlformats.org/drawingml/2006/main">
              <a:ext uri="{FF2B5EF4-FFF2-40B4-BE49-F238E27FC236}">
                <a16:creationId xmlns:a16="http://schemas.microsoft.com/office/drawing/2014/main" id="{2A990FC0-94F4-4EF2-ADB3-331087957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173" y="33613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point-120">
            <a:extLst xmlns:a="http://schemas.openxmlformats.org/drawingml/2006/main">
              <a:ext uri="{FF2B5EF4-FFF2-40B4-BE49-F238E27FC236}">
                <a16:creationId xmlns:a16="http://schemas.microsoft.com/office/drawing/2014/main" id="{272A786F-AC16-4016-8D00-934BD88D7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7548" y="33613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0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6335078" y="3362326"/>
            <a:ext cx="71247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877E"/>
            </a:solidFill>
            <a:prstDash val="solid"/>
            <a:tailEnd type="none" w="sm" len="sm"/>
          </a:ln>
        </p:spPr>
      </p:cxnSp>
      <p:sp>
        <p:nvSpPr>
          <p:cNvPr id="24" name="point-121">
            <a:extLst xmlns:a="http://schemas.openxmlformats.org/drawingml/2006/main">
              <a:ext uri="{FF2B5EF4-FFF2-40B4-BE49-F238E27FC236}">
                <a16:creationId xmlns:a16="http://schemas.microsoft.com/office/drawing/2014/main" id="{63FEF7C7-AA13-4E1A-B670-F2A79802A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7548" y="33613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point-122">
            <a:extLst xmlns:a="http://schemas.openxmlformats.org/drawingml/2006/main">
              <a:ext uri="{FF2B5EF4-FFF2-40B4-BE49-F238E27FC236}">
                <a16:creationId xmlns:a16="http://schemas.microsoft.com/office/drawing/2014/main" id="{EAD652B9-CE54-435F-B16B-75A4274D8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7548" y="29994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3" name=""/>
          <p:cNvCxnSpPr>
            <a:stCxn xmlns:a="http://schemas.openxmlformats.org/drawingml/2006/main" id="24" idx="0"/>
            <a:endCxn xmlns:a="http://schemas.openxmlformats.org/drawingml/2006/main" id="25" idx="2"/>
          </p:cNvCxnSpPr>
          <p:nvPr/>
        </p:nvCxnSpPr>
        <p:spPr>
          <a:xfrm xmlns:a="http://schemas.openxmlformats.org/drawingml/2006/main" flipV="1">
            <a:off x="7048501" y="3001328"/>
            <a:ext cx="0" cy="36004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877E"/>
            </a:solidFill>
            <a:prstDash val="solid"/>
            <a:tailEnd type="none" w="sm" len="sm"/>
          </a:ln>
        </p:spPr>
      </p:cxnSp>
      <p:sp>
        <p:nvSpPr>
          <p:cNvPr id="27" name="point-123">
            <a:extLst xmlns:a="http://schemas.openxmlformats.org/drawingml/2006/main">
              <a:ext uri="{FF2B5EF4-FFF2-40B4-BE49-F238E27FC236}">
                <a16:creationId xmlns:a16="http://schemas.microsoft.com/office/drawing/2014/main" id="{E538AEA7-715F-4A93-B9EC-1B752B6D9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7548" y="29994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" name="point-124">
            <a:extLst xmlns:a="http://schemas.openxmlformats.org/drawingml/2006/main">
              <a:ext uri="{FF2B5EF4-FFF2-40B4-BE49-F238E27FC236}">
                <a16:creationId xmlns:a16="http://schemas.microsoft.com/office/drawing/2014/main" id="{A32D88CB-C2F0-4DA0-9B83-A7355990D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1923" y="29994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6" name="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7049453" y="3000376"/>
            <a:ext cx="71247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877E"/>
            </a:solidFill>
            <a:prstDash val="solid"/>
            <a:tailEnd type="arrow" w="sm" len="sm"/>
          </a:ln>
        </p:spPr>
      </p:cxnSp>
      <p:sp>
        <p:nvSpPr>
          <p:cNvPr id="30" name="point-125">
            <a:extLst xmlns:a="http://schemas.openxmlformats.org/drawingml/2006/main">
              <a:ext uri="{FF2B5EF4-FFF2-40B4-BE49-F238E27FC236}">
                <a16:creationId xmlns:a16="http://schemas.microsoft.com/office/drawing/2014/main" id="{D0C7F382-4348-47AA-B73A-9EF721D6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3473" y="34280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point-126">
            <a:extLst xmlns:a="http://schemas.openxmlformats.org/drawingml/2006/main">
              <a:ext uri="{FF2B5EF4-FFF2-40B4-BE49-F238E27FC236}">
                <a16:creationId xmlns:a16="http://schemas.microsoft.com/office/drawing/2014/main" id="{E96CE6CE-4B13-4710-9A5B-5672149F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3473" y="45234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9" name=""/>
          <p:cNvCxnSpPr>
            <a:stCxn xmlns:a="http://schemas.openxmlformats.org/drawingml/2006/main" id="30" idx="2"/>
            <a:endCxn xmlns:a="http://schemas.openxmlformats.org/drawingml/2006/main" id="31" idx="0"/>
          </p:cNvCxnSpPr>
          <p:nvPr/>
        </p:nvCxnSpPr>
        <p:spPr>
          <a:xfrm xmlns:a="http://schemas.openxmlformats.org/drawingml/2006/main">
            <a:off x="8734426" y="3429953"/>
            <a:ext cx="0" cy="109347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877E"/>
            </a:solidFill>
            <a:prstDash val="solid"/>
            <a:tailEnd type="arrow" w="sm" len="sm"/>
          </a:ln>
        </p:spPr>
      </p:cxnSp>
      <p:sp>
        <p:nvSpPr>
          <p:cNvPr id="33" name="text-127">
            <a:extLst xmlns:a="http://schemas.openxmlformats.org/drawingml/2006/main">
              <a:ext uri="{FF2B5EF4-FFF2-40B4-BE49-F238E27FC236}">
                <a16:creationId xmlns:a16="http://schemas.microsoft.com/office/drawing/2014/main" id="{715F86D9-27D5-4BB5-90E0-D2ADED63C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8671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管道 JSONL</a:t>
            </a:r>
          </a:p>
        </p:txBody>
      </p:sp>
      <p:sp>
        <p:nvSpPr>
          <p:cNvPr id="34" name="point-128">
            <a:extLst xmlns:a="http://schemas.openxmlformats.org/drawingml/2006/main">
              <a:ext uri="{FF2B5EF4-FFF2-40B4-BE49-F238E27FC236}">
                <a16:creationId xmlns:a16="http://schemas.microsoft.com/office/drawing/2014/main" id="{CA7134A0-1BBE-4888-9E21-CCD19446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4548" y="49520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point-129">
            <a:extLst xmlns:a="http://schemas.openxmlformats.org/drawingml/2006/main">
              <a:ext uri="{FF2B5EF4-FFF2-40B4-BE49-F238E27FC236}">
                <a16:creationId xmlns:a16="http://schemas.microsoft.com/office/drawing/2014/main" id="{734AAF6E-D9B0-40C7-85F0-ABE08AF78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3173" y="49520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3" name=""/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9716453" y="4953001"/>
            <a:ext cx="42672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877E"/>
            </a:solidFill>
            <a:prstDash val="solid"/>
            <a:tailEnd type="arrow" w="sm" len="sm"/>
          </a:ln>
        </p:spPr>
      </p:cxnSp>
      <p:sp>
        <p:nvSpPr>
          <p:cNvPr id="37" name="text-130">
            <a:extLst xmlns:a="http://schemas.openxmlformats.org/drawingml/2006/main">
              <a:ext uri="{FF2B5EF4-FFF2-40B4-BE49-F238E27FC236}">
                <a16:creationId xmlns:a16="http://schemas.microsoft.com/office/drawing/2014/main" id="{F1E7DA7A-4C6E-4409-9489-1C32CBF0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5EA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245EA7"/>
                </a:solidFill>
                <a:latin typeface="Hiragino Sans GB"/>
                <a:ea typeface="Hiragino Sans GB"/>
                <a:cs typeface="Hiragino Sans GB"/>
              </a:rPr>
              <a:t>后台与界面生命周期分离</a:t>
            </a:r>
          </a:p>
          <a:p xmlns:a="http://schemas.openxmlformats.org/drawingml/2006/main">
            <a:pPr algn="l">
              <a:defRPr sz="1575" b="0">
                <a:solidFill>
                  <a:srgbClr val="245EA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245EA7"/>
                </a:solidFill>
                <a:latin typeface="Hiragino Sans GB"/>
                <a:ea typeface="Hiragino Sans GB"/>
                <a:cs typeface="Hiragino Sans GB"/>
              </a:rPr>
              <a:t>GUI 接入仍待联调</a:t>
            </a:r>
          </a:p>
        </p:txBody>
      </p:sp>
    </p:spTree>
    <p:extLst>
      <p:ext uri="{BB962C8B-B14F-4D97-AF65-F5344CB8AC3E}">
        <p14:creationId xmlns:p14="http://schemas.microsoft.com/office/powerpoint/2010/main" val="15779114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text-131">
            <a:extLst xmlns:a="http://schemas.openxmlformats.org/drawingml/2006/main">
              <a:ext uri="{FF2B5EF4-FFF2-40B4-BE49-F238E27FC236}">
                <a16:creationId xmlns:a16="http://schemas.microsoft.com/office/drawing/2014/main" id="{D74D4DF9-2BE7-4AEE-8494-21CFFA45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UML 核心类图</a:t>
            </a:r>
          </a:p>
        </p:txBody>
      </p:sp>
      <p:sp>
        <p:nvSpPr>
          <p:cNvPr id="2" name="text-132">
            <a:extLst xmlns:a="http://schemas.openxmlformats.org/drawingml/2006/main">
              <a:ext uri="{FF2B5EF4-FFF2-40B4-BE49-F238E27FC236}">
                <a16:creationId xmlns:a16="http://schemas.microsoft.com/office/drawing/2014/main" id="{9DF27A9E-5579-4D21-9DE4-95D72FEC4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98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377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78B"/>
                </a:solidFill>
                <a:latin typeface="Hiragino Sans GB"/>
                <a:ea typeface="Hiragino Sans GB"/>
                <a:cs typeface="Hiragino Sans GB"/>
              </a:rPr>
              <a:t>07</a:t>
            </a:r>
          </a:p>
        </p:txBody>
      </p:sp>
      <p:sp>
        <p:nvSpPr>
          <p:cNvPr id="3" name="class-sched">
            <a:extLst xmlns:a="http://schemas.openxmlformats.org/drawingml/2006/main">
              <a:ext uri="{FF2B5EF4-FFF2-40B4-BE49-F238E27FC236}">
                <a16:creationId xmlns:a16="http://schemas.microsoft.com/office/drawing/2014/main" id="{721FF519-F77F-4C0B-BA58-4A20AC2BB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428750"/>
            <a:ext cx="3048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9D9"/>
            </a:solidFill>
          </a:ln>
        </p:spPr>
      </p:sp>
      <p:sp>
        <p:nvSpPr>
          <p:cNvPr id="4" name="text-133">
            <a:extLst xmlns:a="http://schemas.openxmlformats.org/drawingml/2006/main">
              <a:ext uri="{FF2B5EF4-FFF2-40B4-BE49-F238E27FC236}">
                <a16:creationId xmlns:a16="http://schemas.microsoft.com/office/drawing/2014/main" id="{AF6CFC9F-65C1-4A59-9D98-837147D30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504950"/>
            <a:ext cx="2819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Scheduler</a:t>
            </a:r>
          </a:p>
        </p:txBody>
      </p:sp>
      <p:sp>
        <p:nvSpPr>
          <p:cNvPr id="5" name="point-134">
            <a:extLst xmlns:a="http://schemas.openxmlformats.org/drawingml/2006/main">
              <a:ext uri="{FF2B5EF4-FFF2-40B4-BE49-F238E27FC236}">
                <a16:creationId xmlns:a16="http://schemas.microsoft.com/office/drawing/2014/main" id="{09FD18BF-5865-47C7-97DB-DBD29D8FE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1048" y="19040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" name="point-135">
            <a:extLst xmlns:a="http://schemas.openxmlformats.org/drawingml/2006/main">
              <a:ext uri="{FF2B5EF4-FFF2-40B4-BE49-F238E27FC236}">
                <a16:creationId xmlns:a16="http://schemas.microsoft.com/office/drawing/2014/main" id="{DB5163EF-4932-4401-93AD-BF0B9A880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9048" y="19040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5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572953" y="1905001"/>
            <a:ext cx="304609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C9D9"/>
            </a:solidFill>
            <a:prstDash val="solid"/>
            <a:tailEnd type="none" w="sm" len="sm"/>
          </a:ln>
        </p:spPr>
      </p:cxnSp>
      <p:sp>
        <p:nvSpPr>
          <p:cNvPr id="8" name="text-136">
            <a:extLst xmlns:a="http://schemas.openxmlformats.org/drawingml/2006/main">
              <a:ext uri="{FF2B5EF4-FFF2-40B4-BE49-F238E27FC236}">
                <a16:creationId xmlns:a16="http://schemas.microsoft.com/office/drawing/2014/main" id="{ED802180-15AF-4946-BC6E-D8367345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009775"/>
            <a:ext cx="27622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- mutex_ : mutex</a:t>
            </a:r>
          </a:p>
          <a:p xmlns:a="http://schemas.openxmlformats.org/drawingml/2006/main">
            <a:pPr algn="l">
              <a:defRPr sz="150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- jobs_ : vector&lt;Job&gt;</a:t>
            </a:r>
          </a:p>
        </p:txBody>
      </p:sp>
      <p:sp>
        <p:nvSpPr>
          <p:cNvPr id="9" name="point-137">
            <a:extLst xmlns:a="http://schemas.openxmlformats.org/drawingml/2006/main">
              <a:ext uri="{FF2B5EF4-FFF2-40B4-BE49-F238E27FC236}">
                <a16:creationId xmlns:a16="http://schemas.microsoft.com/office/drawing/2014/main" id="{C7523577-F2CA-4EAE-BEF6-CF170FAE7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1048" y="27517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" name="point-138">
            <a:extLst xmlns:a="http://schemas.openxmlformats.org/drawingml/2006/main">
              <a:ext uri="{FF2B5EF4-FFF2-40B4-BE49-F238E27FC236}">
                <a16:creationId xmlns:a16="http://schemas.microsoft.com/office/drawing/2014/main" id="{102A6BDD-6960-46D3-8232-E3D6F4EDD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9048" y="27517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9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572953" y="2752726"/>
            <a:ext cx="304609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C9D9"/>
            </a:solidFill>
            <a:prstDash val="solid"/>
            <a:tailEnd type="none" w="sm" len="sm"/>
          </a:ln>
        </p:spPr>
      </p:cxnSp>
      <p:sp>
        <p:nvSpPr>
          <p:cNvPr id="12" name="text-139">
            <a:extLst xmlns:a="http://schemas.openxmlformats.org/drawingml/2006/main">
              <a:ext uri="{FF2B5EF4-FFF2-40B4-BE49-F238E27FC236}">
                <a16:creationId xmlns:a16="http://schemas.microsoft.com/office/drawing/2014/main" id="{7236D898-E405-4BE6-A263-52B6F5169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857500"/>
            <a:ext cx="276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+ claim(policy, now) : Job?</a:t>
            </a:r>
          </a:p>
          <a:p xmlns:a="http://schemas.openxmlformats.org/drawingml/2006/main">
            <a:pPr algn="l">
              <a:defRPr sz="142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+ cancel(id, now) : bool</a:t>
            </a:r>
          </a:p>
        </p:txBody>
      </p:sp>
      <p:sp>
        <p:nvSpPr>
          <p:cNvPr id="13" name="class-job">
            <a:extLst xmlns:a="http://schemas.openxmlformats.org/drawingml/2006/main">
              <a:ext uri="{FF2B5EF4-FFF2-40B4-BE49-F238E27FC236}">
                <a16:creationId xmlns:a16="http://schemas.microsoft.com/office/drawing/2014/main" id="{0378B6AA-852D-4F17-8F8A-6E0EB8486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30003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9D9"/>
            </a:solidFill>
          </a:ln>
        </p:spPr>
      </p:sp>
      <p:sp>
        <p:nvSpPr>
          <p:cNvPr id="14" name="text-140">
            <a:extLst xmlns:a="http://schemas.openxmlformats.org/drawingml/2006/main">
              <a:ext uri="{FF2B5EF4-FFF2-40B4-BE49-F238E27FC236}">
                <a16:creationId xmlns:a16="http://schemas.microsoft.com/office/drawing/2014/main" id="{8D7EDAF0-A1FE-436C-84FF-2EB36969D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04950"/>
            <a:ext cx="27717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Job</a:t>
            </a:r>
          </a:p>
        </p:txBody>
      </p:sp>
      <p:sp>
        <p:nvSpPr>
          <p:cNvPr id="15" name="point-141">
            <a:extLst xmlns:a="http://schemas.openxmlformats.org/drawingml/2006/main">
              <a:ext uri="{FF2B5EF4-FFF2-40B4-BE49-F238E27FC236}">
                <a16:creationId xmlns:a16="http://schemas.microsoft.com/office/drawing/2014/main" id="{8C2BB22D-D557-4007-91C2-1A5021C1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8" y="19040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" name="point-142">
            <a:extLst xmlns:a="http://schemas.openxmlformats.org/drawingml/2006/main">
              <a:ext uri="{FF2B5EF4-FFF2-40B4-BE49-F238E27FC236}">
                <a16:creationId xmlns:a16="http://schemas.microsoft.com/office/drawing/2014/main" id="{BF839B07-137B-4C67-AA41-ACE739979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1423" y="19040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5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762953" y="1905001"/>
            <a:ext cx="299847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C9D9"/>
            </a:solidFill>
            <a:prstDash val="solid"/>
            <a:tailEnd type="none" w="sm" len="sm"/>
          </a:ln>
        </p:spPr>
      </p:cxnSp>
      <p:sp>
        <p:nvSpPr>
          <p:cNvPr id="18" name="text-143">
            <a:extLst xmlns:a="http://schemas.openxmlformats.org/drawingml/2006/main">
              <a:ext uri="{FF2B5EF4-FFF2-40B4-BE49-F238E27FC236}">
                <a16:creationId xmlns:a16="http://schemas.microsoft.com/office/drawing/2014/main" id="{7317ABAC-9FB4-47E2-BA74-5C5B3981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0977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+ id : string</a:t>
            </a:r>
          </a:p>
          <a:p xmlns:a="http://schemas.openxmlformats.org/drawingml/2006/main">
            <a:pPr algn="l">
              <a:defRPr sz="150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+ pages, copies, priority : int</a:t>
            </a:r>
          </a:p>
        </p:txBody>
      </p:sp>
      <p:sp>
        <p:nvSpPr>
          <p:cNvPr id="19" name="point-144">
            <a:extLst xmlns:a="http://schemas.openxmlformats.org/drawingml/2006/main">
              <a:ext uri="{FF2B5EF4-FFF2-40B4-BE49-F238E27FC236}">
                <a16:creationId xmlns:a16="http://schemas.microsoft.com/office/drawing/2014/main" id="{E67E2351-CA45-4F95-9986-870550830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8" y="27517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" name="point-145">
            <a:extLst xmlns:a="http://schemas.openxmlformats.org/drawingml/2006/main">
              <a:ext uri="{FF2B5EF4-FFF2-40B4-BE49-F238E27FC236}">
                <a16:creationId xmlns:a16="http://schemas.microsoft.com/office/drawing/2014/main" id="{3DDAF6CF-FAB4-4EA6-B82F-3F5C0B7B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1423" y="27517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9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762953" y="2752726"/>
            <a:ext cx="299847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C9D9"/>
            </a:solidFill>
            <a:prstDash val="solid"/>
            <a:tailEnd type="none" w="sm" len="sm"/>
          </a:ln>
        </p:spPr>
      </p:cxnSp>
      <p:sp>
        <p:nvSpPr>
          <p:cNvPr id="22" name="text-146">
            <a:extLst xmlns:a="http://schemas.openxmlformats.org/drawingml/2006/main">
              <a:ext uri="{FF2B5EF4-FFF2-40B4-BE49-F238E27FC236}">
                <a16:creationId xmlns:a16="http://schemas.microsoft.com/office/drawing/2014/main" id="{79043146-D8F3-4D53-9C6A-88F9312B2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57500"/>
            <a:ext cx="2714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+ sheets() : int</a:t>
            </a:r>
          </a:p>
        </p:txBody>
      </p:sp>
      <p:sp>
        <p:nvSpPr>
          <p:cNvPr id="23" name="class-run">
            <a:extLst xmlns:a="http://schemas.openxmlformats.org/drawingml/2006/main">
              <a:ext uri="{FF2B5EF4-FFF2-40B4-BE49-F238E27FC236}">
                <a16:creationId xmlns:a16="http://schemas.microsoft.com/office/drawing/2014/main" id="{ED9C87B2-C34A-40C4-81FA-88CCA7191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428750"/>
            <a:ext cx="30003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9D9"/>
            </a:solidFill>
          </a:ln>
        </p:spPr>
      </p:sp>
      <p:sp>
        <p:nvSpPr>
          <p:cNvPr id="24" name="text-147">
            <a:extLst xmlns:a="http://schemas.openxmlformats.org/drawingml/2006/main">
              <a:ext uri="{FF2B5EF4-FFF2-40B4-BE49-F238E27FC236}">
                <a16:creationId xmlns:a16="http://schemas.microsoft.com/office/drawing/2014/main" id="{3A93A2D5-F84D-4C84-B188-39209104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504950"/>
            <a:ext cx="27717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RunInterval</a:t>
            </a:r>
          </a:p>
        </p:txBody>
      </p:sp>
      <p:sp>
        <p:nvSpPr>
          <p:cNvPr id="25" name="point-148">
            <a:extLst xmlns:a="http://schemas.openxmlformats.org/drawingml/2006/main">
              <a:ext uri="{FF2B5EF4-FFF2-40B4-BE49-F238E27FC236}">
                <a16:creationId xmlns:a16="http://schemas.microsoft.com/office/drawing/2014/main" id="{AA3F076F-F417-4489-98AD-CB2045BC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8673" y="19040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point-149">
            <a:extLst xmlns:a="http://schemas.openxmlformats.org/drawingml/2006/main">
              <a:ext uri="{FF2B5EF4-FFF2-40B4-BE49-F238E27FC236}">
                <a16:creationId xmlns:a16="http://schemas.microsoft.com/office/drawing/2014/main" id="{E28C3301-FB26-41BE-97AA-65640846F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9048" y="19040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5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8430578" y="1905001"/>
            <a:ext cx="299847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C9D9"/>
            </a:solidFill>
            <a:prstDash val="solid"/>
            <a:tailEnd type="none" w="sm" len="sm"/>
          </a:ln>
        </p:spPr>
      </p:cxnSp>
      <p:sp>
        <p:nvSpPr>
          <p:cNvPr id="28" name="text-150">
            <a:extLst xmlns:a="http://schemas.openxmlformats.org/drawingml/2006/main">
              <a:ext uri="{FF2B5EF4-FFF2-40B4-BE49-F238E27FC236}">
                <a16:creationId xmlns:a16="http://schemas.microsoft.com/office/drawing/2014/main" id="{161ACF31-4E5B-4883-9EC4-B4528D640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0977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startedMs : TimeMs</a:t>
            </a:r>
          </a:p>
          <a:p xmlns:a="http://schemas.openxmlformats.org/drawingml/2006/main">
            <a:pPr algn="l">
              <a:defRPr sz="150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stoppedMs : optional&lt;TimeMs&gt;</a:t>
            </a:r>
          </a:p>
        </p:txBody>
      </p:sp>
      <p:sp>
        <p:nvSpPr>
          <p:cNvPr id="29" name="point-151">
            <a:extLst xmlns:a="http://schemas.openxmlformats.org/drawingml/2006/main">
              <a:ext uri="{FF2B5EF4-FFF2-40B4-BE49-F238E27FC236}">
                <a16:creationId xmlns:a16="http://schemas.microsoft.com/office/drawing/2014/main" id="{46C98177-2FF5-467C-9C70-3B4D7389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8673" y="27517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" name="point-152">
            <a:extLst xmlns:a="http://schemas.openxmlformats.org/drawingml/2006/main">
              <a:ext uri="{FF2B5EF4-FFF2-40B4-BE49-F238E27FC236}">
                <a16:creationId xmlns:a16="http://schemas.microsoft.com/office/drawing/2014/main" id="{B47B83EA-92E0-44CD-B0D8-01D1E6C3C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9048" y="27517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9" name=""/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8430578" y="2752726"/>
            <a:ext cx="299847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C9D9"/>
            </a:solidFill>
            <a:prstDash val="solid"/>
            <a:tailEnd type="none" w="sm" len="sm"/>
          </a:ln>
        </p:spPr>
      </p:cxnSp>
      <p:sp>
        <p:nvSpPr>
          <p:cNvPr id="32" name="text-153">
            <a:extLst xmlns:a="http://schemas.openxmlformats.org/drawingml/2006/main">
              <a:ext uri="{FF2B5EF4-FFF2-40B4-BE49-F238E27FC236}">
                <a16:creationId xmlns:a16="http://schemas.microsoft.com/office/drawing/2014/main" id="{4213954B-D1FE-4866-8D9C-DFF383B87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57500"/>
            <a:ext cx="2714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记录单次执行区间</a:t>
            </a:r>
          </a:p>
        </p:txBody>
      </p:sp>
      <p:sp>
        <p:nvSpPr>
          <p:cNvPr id="33" name="class-stats">
            <a:extLst xmlns:a="http://schemas.openxmlformats.org/drawingml/2006/main">
              <a:ext uri="{FF2B5EF4-FFF2-40B4-BE49-F238E27FC236}">
                <a16:creationId xmlns:a16="http://schemas.microsoft.com/office/drawing/2014/main" id="{EF3755CF-ED5F-4D33-A244-E1AFE6BBB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91050"/>
            <a:ext cx="28098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A"/>
          </a:solidFill>
          <a:ln xmlns:a="http://schemas.openxmlformats.org/drawingml/2006/main" w="14288">
            <a:solidFill>
              <a:srgbClr val="B7C9D9"/>
            </a:solidFill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«data» Statistics</a:t>
            </a:r>
          </a:p>
          <a:p xmlns:a="http://schemas.openxmlformats.org/drawingml/2006/main">
            <a:pPr algn="ctr">
              <a:defRPr sz="165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等待、周转、吞吐、利用率</a:t>
            </a:r>
          </a:p>
        </p:txBody>
      </p:sp>
      <p:sp>
        <p:nvSpPr>
          <p:cNvPr id="34" name="class-coordinator">
            <a:extLst xmlns:a="http://schemas.openxmlformats.org/drawingml/2006/main">
              <a:ext uri="{FF2B5EF4-FFF2-40B4-BE49-F238E27FC236}">
                <a16:creationId xmlns:a16="http://schemas.microsoft.com/office/drawing/2014/main" id="{961A9238-D778-46BD-A6DF-D3C4A16D8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91050"/>
            <a:ext cx="304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F"/>
          </a:solidFill>
          <a:ln xmlns:a="http://schemas.openxmlformats.org/drawingml/2006/main" w="14288">
            <a:solidFill>
              <a:srgbClr val="B7C9D9"/>
            </a:solidFill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Coordinator</a:t>
            </a:r>
          </a:p>
          <a:p xmlns:a="http://schemas.openxmlformats.org/drawingml/2006/main">
            <a:pPr algn="ctr">
              <a:defRPr sz="165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持久化、派发与恢复对账</a:t>
            </a:r>
          </a:p>
        </p:txBody>
      </p:sp>
      <p:sp>
        <p:nvSpPr>
          <p:cNvPr id="35" name="class-replay">
            <a:extLst xmlns:a="http://schemas.openxmlformats.org/drawingml/2006/main">
              <a:ext uri="{FF2B5EF4-FFF2-40B4-BE49-F238E27FC236}">
                <a16:creationId xmlns:a16="http://schemas.microsoft.com/office/drawing/2014/main" id="{DBB7FE18-3BD7-4D8C-9922-7A53F01CE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591050"/>
            <a:ext cx="30003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A"/>
          </a:solidFill>
          <a:ln xmlns:a="http://schemas.openxmlformats.org/drawingml/2006/main" w="14288">
            <a:solidFill>
              <a:srgbClr val="B7C9D9"/>
            </a:solidFill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«function» replay()</a:t>
            </a:r>
          </a:p>
          <a:p xmlns:a="http://schemas.openxmlformats.org/drawingml/2006/main">
            <a:pPr algn="ctr">
              <a:defRPr sz="165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模拟到达、完成与设备槽位</a:t>
            </a:r>
          </a:p>
        </p:txBody>
      </p:sp>
      <p:sp>
        <p:nvSpPr>
          <p:cNvPr id="36" name="point-154">
            <a:extLst xmlns:a="http://schemas.openxmlformats.org/drawingml/2006/main">
              <a:ext uri="{FF2B5EF4-FFF2-40B4-BE49-F238E27FC236}">
                <a16:creationId xmlns:a16="http://schemas.microsoft.com/office/drawing/2014/main" id="{E20C5F0F-19E6-439C-B473-DBEA86295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1048" y="22945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" name="point-155">
            <a:extLst xmlns:a="http://schemas.openxmlformats.org/drawingml/2006/main">
              <a:ext uri="{FF2B5EF4-FFF2-40B4-BE49-F238E27FC236}">
                <a16:creationId xmlns:a16="http://schemas.microsoft.com/office/drawing/2014/main" id="{9A18D83E-8A0A-4C08-B7AF-1FBA9D73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1423" y="22945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6" name=""/>
          <p:cNvCxnSpPr>
            <a:stCxn xmlns:a="http://schemas.openxmlformats.org/drawingml/2006/main" id="36" idx="1"/>
            <a:endCxn xmlns:a="http://schemas.openxmlformats.org/drawingml/2006/main" id="37" idx="3"/>
          </p:cNvCxnSpPr>
          <p:nvPr/>
        </p:nvCxnSpPr>
        <p:spPr>
          <a:xfrm xmlns:a="http://schemas.openxmlformats.org/drawingml/2006/main" flipH="1">
            <a:off x="3763328" y="2295526"/>
            <a:ext cx="80772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C9D9"/>
            </a:solidFill>
            <a:prstDash val="solid"/>
            <a:tailEnd type="none" w="sm" len="sm"/>
          </a:ln>
        </p:spPr>
      </p:cxnSp>
      <p:sp>
        <p:nvSpPr>
          <p:cNvPr id="39" name="text-156">
            <a:extLst xmlns:a="http://schemas.openxmlformats.org/drawingml/2006/main">
              <a:ext uri="{FF2B5EF4-FFF2-40B4-BE49-F238E27FC236}">
                <a16:creationId xmlns:a16="http://schemas.microsoft.com/office/drawing/2014/main" id="{6989D5ED-C699-406E-B9F3-0DD2AC1B2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8859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0..*</a:t>
            </a:r>
          </a:p>
        </p:txBody>
      </p:sp>
      <p:sp>
        <p:nvSpPr>
          <p:cNvPr id="40" name="text-157">
            <a:extLst xmlns:a="http://schemas.openxmlformats.org/drawingml/2006/main">
              <a:ext uri="{FF2B5EF4-FFF2-40B4-BE49-F238E27FC236}">
                <a16:creationId xmlns:a16="http://schemas.microsoft.com/office/drawing/2014/main" id="{D9998007-F431-48EF-B8E7-446B875EF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885950"/>
            <a:ext cx="219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1</a:t>
            </a:r>
          </a:p>
        </p:txBody>
      </p:sp>
      <p:sp>
        <p:nvSpPr>
          <p:cNvPr id="41" name="text-158">
            <a:extLst xmlns:a="http://schemas.openxmlformats.org/drawingml/2006/main">
              <a:ext uri="{FF2B5EF4-FFF2-40B4-BE49-F238E27FC236}">
                <a16:creationId xmlns:a16="http://schemas.microsoft.com/office/drawing/2014/main" id="{32A89C0A-ED3D-4F13-A06C-77ABD2D5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466975"/>
            <a:ext cx="790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持有</a:t>
            </a:r>
          </a:p>
        </p:txBody>
      </p:sp>
      <p:sp>
        <p:nvSpPr>
          <p:cNvPr id="42" name="point-159">
            <a:extLst xmlns:a="http://schemas.openxmlformats.org/drawingml/2006/main">
              <a:ext uri="{FF2B5EF4-FFF2-40B4-BE49-F238E27FC236}">
                <a16:creationId xmlns:a16="http://schemas.microsoft.com/office/drawing/2014/main" id="{D23538EC-A0DF-40FD-A1BA-AA4C54C4A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7898" y="34280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" name="point-160">
            <a:extLst xmlns:a="http://schemas.openxmlformats.org/drawingml/2006/main">
              <a:ext uri="{FF2B5EF4-FFF2-40B4-BE49-F238E27FC236}">
                <a16:creationId xmlns:a16="http://schemas.microsoft.com/office/drawing/2014/main" id="{53478FDE-B479-4AD9-8D68-3ADA99978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7898" y="40185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2" name=""/>
          <p:cNvCxnSpPr>
            <a:stCxn xmlns:a="http://schemas.openxmlformats.org/drawingml/2006/main" id="42" idx="2"/>
            <a:endCxn xmlns:a="http://schemas.openxmlformats.org/drawingml/2006/main" id="43" idx="0"/>
          </p:cNvCxnSpPr>
          <p:nvPr/>
        </p:nvCxnSpPr>
        <p:spPr>
          <a:xfrm xmlns:a="http://schemas.openxmlformats.org/drawingml/2006/main">
            <a:off x="2228851" y="3429953"/>
            <a:ext cx="0" cy="58864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C9D9"/>
            </a:solidFill>
            <a:prstDash val="solid"/>
            <a:tailEnd type="none" w="sm" len="sm"/>
          </a:ln>
        </p:spPr>
      </p:cxnSp>
      <p:sp>
        <p:nvSpPr>
          <p:cNvPr id="45" name="point-161">
            <a:extLst xmlns:a="http://schemas.openxmlformats.org/drawingml/2006/main">
              <a:ext uri="{FF2B5EF4-FFF2-40B4-BE49-F238E27FC236}">
                <a16:creationId xmlns:a16="http://schemas.microsoft.com/office/drawing/2014/main" id="{02266995-BDF5-4D53-B80A-21A1C7260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7898" y="40185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" name="point-162">
            <a:extLst xmlns:a="http://schemas.openxmlformats.org/drawingml/2006/main">
              <a:ext uri="{FF2B5EF4-FFF2-40B4-BE49-F238E27FC236}">
                <a16:creationId xmlns:a16="http://schemas.microsoft.com/office/drawing/2014/main" id="{83BEB5F8-4BCA-4B12-B01E-B6A8F65EC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4098" y="40185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5" name=""/>
          <p:cNvCxnSpPr>
            <a:stCxn xmlns:a="http://schemas.openxmlformats.org/drawingml/2006/main" id="45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>
            <a:off x="2229803" y="4019551"/>
            <a:ext cx="769429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C9D9"/>
            </a:solidFill>
            <a:prstDash val="solid"/>
            <a:tailEnd type="none" w="sm" len="sm"/>
          </a:ln>
        </p:spPr>
      </p:cxnSp>
      <p:sp>
        <p:nvSpPr>
          <p:cNvPr id="48" name="point-163">
            <a:extLst xmlns:a="http://schemas.openxmlformats.org/drawingml/2006/main">
              <a:ext uri="{FF2B5EF4-FFF2-40B4-BE49-F238E27FC236}">
                <a16:creationId xmlns:a16="http://schemas.microsoft.com/office/drawing/2014/main" id="{FB57B188-E11E-4E2D-B8FC-B0F329FFC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4098" y="40185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" name="point-164">
            <a:extLst xmlns:a="http://schemas.openxmlformats.org/drawingml/2006/main">
              <a:ext uri="{FF2B5EF4-FFF2-40B4-BE49-F238E27FC236}">
                <a16:creationId xmlns:a16="http://schemas.microsoft.com/office/drawing/2014/main" id="{765D4C6F-65C0-49FE-ACF7-AFE8A1CD2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4098" y="34280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8" name=""/>
          <p:cNvCxnSpPr>
            <a:stCxn xmlns:a="http://schemas.openxmlformats.org/drawingml/2006/main" id="48" idx="0"/>
            <a:endCxn xmlns:a="http://schemas.openxmlformats.org/drawingml/2006/main" id="49" idx="2"/>
          </p:cNvCxnSpPr>
          <p:nvPr/>
        </p:nvCxnSpPr>
        <p:spPr>
          <a:xfrm xmlns:a="http://schemas.openxmlformats.org/drawingml/2006/main" flipV="1">
            <a:off x="9925051" y="3429953"/>
            <a:ext cx="0" cy="58864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C9D9"/>
            </a:solidFill>
            <a:prstDash val="solid"/>
            <a:tailEnd type="none" w="sm" len="sm"/>
          </a:ln>
        </p:spPr>
      </p:cxnSp>
      <p:sp>
        <p:nvSpPr>
          <p:cNvPr id="51" name="text-165">
            <a:extLst xmlns:a="http://schemas.openxmlformats.org/drawingml/2006/main">
              <a:ext uri="{FF2B5EF4-FFF2-40B4-BE49-F238E27FC236}">
                <a16:creationId xmlns:a16="http://schemas.microsoft.com/office/drawing/2014/main" id="{EE98F479-822B-4FDC-99A3-EF690CFCD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705225"/>
            <a:ext cx="15525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Job 的 runs：0..*</a:t>
            </a:r>
          </a:p>
        </p:txBody>
      </p:sp>
      <p:sp>
        <p:nvSpPr>
          <p:cNvPr id="52" name="point-166">
            <a:extLst xmlns:a="http://schemas.openxmlformats.org/drawingml/2006/main">
              <a:ext uri="{FF2B5EF4-FFF2-40B4-BE49-F238E27FC236}">
                <a16:creationId xmlns:a16="http://schemas.microsoft.com/office/drawing/2014/main" id="{EF75FF44-5613-4CA6-9C7F-EB5375E02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048" y="4590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" name="point-167">
            <a:extLst xmlns:a="http://schemas.openxmlformats.org/drawingml/2006/main">
              <a:ext uri="{FF2B5EF4-FFF2-40B4-BE49-F238E27FC236}">
                <a16:creationId xmlns:a16="http://schemas.microsoft.com/office/drawing/2014/main" id="{B5564056-0757-4A64-8A17-57C794E65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048" y="34280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2" name=""/>
          <p:cNvCxnSpPr>
            <a:stCxn xmlns:a="http://schemas.openxmlformats.org/drawingml/2006/main" id="52" idx="0"/>
            <a:endCxn xmlns:a="http://schemas.openxmlformats.org/drawingml/2006/main" id="53" idx="2"/>
          </p:cNvCxnSpPr>
          <p:nvPr/>
        </p:nvCxnSpPr>
        <p:spPr>
          <a:xfrm xmlns:a="http://schemas.openxmlformats.org/drawingml/2006/main" flipV="1">
            <a:off x="6096001" y="3429953"/>
            <a:ext cx="0" cy="116014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C9D9"/>
            </a:solidFill>
            <a:prstDash val="dash"/>
            <a:tailEnd type="arrow" w="sm" len="sm"/>
          </a:ln>
        </p:spPr>
      </p:cxnSp>
      <p:sp>
        <p:nvSpPr>
          <p:cNvPr id="55" name="text-168">
            <a:extLst xmlns:a="http://schemas.openxmlformats.org/drawingml/2006/main">
              <a:ext uri="{FF2B5EF4-FFF2-40B4-BE49-F238E27FC236}">
                <a16:creationId xmlns:a16="http://schemas.microsoft.com/office/drawing/2014/main" id="{30BCAD46-078B-427C-BFDF-196F93C50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162425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调用</a:t>
            </a:r>
          </a:p>
        </p:txBody>
      </p:sp>
      <p:sp>
        <p:nvSpPr>
          <p:cNvPr id="56" name="point-169">
            <a:extLst xmlns:a="http://schemas.openxmlformats.org/drawingml/2006/main">
              <a:ext uri="{FF2B5EF4-FFF2-40B4-BE49-F238E27FC236}">
                <a16:creationId xmlns:a16="http://schemas.microsoft.com/office/drawing/2014/main" id="{307F0C05-954A-4EEB-B954-E3A0FE143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8198" y="50663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7" name="point-170">
            <a:extLst xmlns:a="http://schemas.openxmlformats.org/drawingml/2006/main">
              <a:ext uri="{FF2B5EF4-FFF2-40B4-BE49-F238E27FC236}">
                <a16:creationId xmlns:a16="http://schemas.microsoft.com/office/drawing/2014/main" id="{5EABCE9D-A644-4561-85ED-4DC823CE2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2898" y="50663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6" name=""/>
          <p:cNvCxnSpPr>
            <a:stCxn xmlns:a="http://schemas.openxmlformats.org/drawingml/2006/main" id="56" idx="1"/>
            <a:endCxn xmlns:a="http://schemas.openxmlformats.org/drawingml/2006/main" id="57" idx="3"/>
          </p:cNvCxnSpPr>
          <p:nvPr/>
        </p:nvCxnSpPr>
        <p:spPr>
          <a:xfrm xmlns:a="http://schemas.openxmlformats.org/drawingml/2006/main" flipH="1">
            <a:off x="7944803" y="5067301"/>
            <a:ext cx="49339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C9D9"/>
            </a:solidFill>
            <a:prstDash val="dash"/>
            <a:tailEnd type="none" w="sm" len="sm"/>
          </a:ln>
        </p:spPr>
      </p:cxnSp>
      <p:sp>
        <p:nvSpPr>
          <p:cNvPr id="59" name="point-171">
            <a:extLst xmlns:a="http://schemas.openxmlformats.org/drawingml/2006/main">
              <a:ext uri="{FF2B5EF4-FFF2-40B4-BE49-F238E27FC236}">
                <a16:creationId xmlns:a16="http://schemas.microsoft.com/office/drawing/2014/main" id="{691AE66E-3D80-4AC6-8B61-7E3E4EE72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2898" y="50663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0" name="point-172">
            <a:extLst xmlns:a="http://schemas.openxmlformats.org/drawingml/2006/main">
              <a:ext uri="{FF2B5EF4-FFF2-40B4-BE49-F238E27FC236}">
                <a16:creationId xmlns:a16="http://schemas.microsoft.com/office/drawing/2014/main" id="{8BF8C4CB-617D-4A65-A85A-B752F3D4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2898" y="30565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9" name=""/>
          <p:cNvCxnSpPr>
            <a:stCxn xmlns:a="http://schemas.openxmlformats.org/drawingml/2006/main" id="59" idx="0"/>
            <a:endCxn xmlns:a="http://schemas.openxmlformats.org/drawingml/2006/main" id="60" idx="2"/>
          </p:cNvCxnSpPr>
          <p:nvPr/>
        </p:nvCxnSpPr>
        <p:spPr>
          <a:xfrm xmlns:a="http://schemas.openxmlformats.org/drawingml/2006/main" flipV="1">
            <a:off x="7943851" y="3058478"/>
            <a:ext cx="0" cy="200787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C9D9"/>
            </a:solidFill>
            <a:prstDash val="dash"/>
            <a:tailEnd type="none" w="sm" len="sm"/>
          </a:ln>
        </p:spPr>
      </p:cxnSp>
      <p:sp>
        <p:nvSpPr>
          <p:cNvPr id="62" name="point-173">
            <a:extLst xmlns:a="http://schemas.openxmlformats.org/drawingml/2006/main">
              <a:ext uri="{FF2B5EF4-FFF2-40B4-BE49-F238E27FC236}">
                <a16:creationId xmlns:a16="http://schemas.microsoft.com/office/drawing/2014/main" id="{243AEA2A-0696-4C50-A9C1-408CC3CFC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2898" y="30565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3" name="point-174">
            <a:extLst xmlns:a="http://schemas.openxmlformats.org/drawingml/2006/main">
              <a:ext uri="{FF2B5EF4-FFF2-40B4-BE49-F238E27FC236}">
                <a16:creationId xmlns:a16="http://schemas.microsoft.com/office/drawing/2014/main" id="{D3FEF32A-CE11-4395-AEB7-4FA358124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9048" y="30565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2" name=""/>
          <p:cNvCxnSpPr>
            <a:stCxn xmlns:a="http://schemas.openxmlformats.org/drawingml/2006/main" id="62" idx="1"/>
            <a:endCxn xmlns:a="http://schemas.openxmlformats.org/drawingml/2006/main" id="63" idx="3"/>
          </p:cNvCxnSpPr>
          <p:nvPr/>
        </p:nvCxnSpPr>
        <p:spPr>
          <a:xfrm xmlns:a="http://schemas.openxmlformats.org/drawingml/2006/main" flipH="1">
            <a:off x="7620953" y="3057526"/>
            <a:ext cx="32194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C9D9"/>
            </a:solidFill>
            <a:prstDash val="dash"/>
            <a:tailEnd type="arrow" w="sm" len="sm"/>
          </a:ln>
        </p:spPr>
      </p:cxnSp>
      <p:sp>
        <p:nvSpPr>
          <p:cNvPr id="65" name="point-175">
            <a:extLst xmlns:a="http://schemas.openxmlformats.org/drawingml/2006/main">
              <a:ext uri="{FF2B5EF4-FFF2-40B4-BE49-F238E27FC236}">
                <a16:creationId xmlns:a16="http://schemas.microsoft.com/office/drawing/2014/main" id="{BA317718-4174-4B78-9238-0512C33DB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1048" y="30470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6" name="point-176">
            <a:extLst xmlns:a="http://schemas.openxmlformats.org/drawingml/2006/main">
              <a:ext uri="{FF2B5EF4-FFF2-40B4-BE49-F238E27FC236}">
                <a16:creationId xmlns:a16="http://schemas.microsoft.com/office/drawing/2014/main" id="{C0ECAE4A-6E11-4ECB-BD9B-5D03AD69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423" y="30470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5" name=""/>
          <p:cNvCxnSpPr>
            <a:stCxn xmlns:a="http://schemas.openxmlformats.org/drawingml/2006/main" id="65" idx="1"/>
            <a:endCxn xmlns:a="http://schemas.openxmlformats.org/drawingml/2006/main" id="66" idx="3"/>
          </p:cNvCxnSpPr>
          <p:nvPr/>
        </p:nvCxnSpPr>
        <p:spPr>
          <a:xfrm xmlns:a="http://schemas.openxmlformats.org/drawingml/2006/main" flipH="1">
            <a:off x="4144328" y="3048001"/>
            <a:ext cx="42672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C9D9"/>
            </a:solidFill>
            <a:prstDash val="dash"/>
            <a:tailEnd type="none" w="sm" len="sm"/>
          </a:ln>
        </p:spPr>
      </p:cxnSp>
      <p:sp>
        <p:nvSpPr>
          <p:cNvPr id="68" name="point-177">
            <a:extLst xmlns:a="http://schemas.openxmlformats.org/drawingml/2006/main">
              <a:ext uri="{FF2B5EF4-FFF2-40B4-BE49-F238E27FC236}">
                <a16:creationId xmlns:a16="http://schemas.microsoft.com/office/drawing/2014/main" id="{5DF445C6-F352-4858-ADE6-FECA5820D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423" y="30470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9" name="point-178">
            <a:extLst xmlns:a="http://schemas.openxmlformats.org/drawingml/2006/main">
              <a:ext uri="{FF2B5EF4-FFF2-40B4-BE49-F238E27FC236}">
                <a16:creationId xmlns:a16="http://schemas.microsoft.com/office/drawing/2014/main" id="{4A810CE2-F87B-4596-B516-58B4D90FE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423" y="43138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8" name=""/>
          <p:cNvCxnSpPr>
            <a:stCxn xmlns:a="http://schemas.openxmlformats.org/drawingml/2006/main" id="68" idx="2"/>
            <a:endCxn xmlns:a="http://schemas.openxmlformats.org/drawingml/2006/main" id="69" idx="0"/>
          </p:cNvCxnSpPr>
          <p:nvPr/>
        </p:nvCxnSpPr>
        <p:spPr>
          <a:xfrm xmlns:a="http://schemas.openxmlformats.org/drawingml/2006/main">
            <a:off x="4143376" y="3048953"/>
            <a:ext cx="0" cy="126492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C9D9"/>
            </a:solidFill>
            <a:prstDash val="dash"/>
            <a:tailEnd type="none" w="sm" len="sm"/>
          </a:ln>
        </p:spPr>
      </p:cxnSp>
      <p:sp>
        <p:nvSpPr>
          <p:cNvPr id="71" name="point-179">
            <a:extLst xmlns:a="http://schemas.openxmlformats.org/drawingml/2006/main">
              <a:ext uri="{FF2B5EF4-FFF2-40B4-BE49-F238E27FC236}">
                <a16:creationId xmlns:a16="http://schemas.microsoft.com/office/drawing/2014/main" id="{25C7D96B-CA1D-4CF8-8B2E-DA6F78DA8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423" y="43138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2" name="point-180">
            <a:extLst xmlns:a="http://schemas.openxmlformats.org/drawingml/2006/main">
              <a:ext uri="{FF2B5EF4-FFF2-40B4-BE49-F238E27FC236}">
                <a16:creationId xmlns:a16="http://schemas.microsoft.com/office/drawing/2014/main" id="{F678D7AE-3E1B-414B-92EF-771D6CC98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6973" y="43138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1" name=""/>
          <p:cNvCxnSpPr>
            <a:stCxn xmlns:a="http://schemas.openxmlformats.org/drawingml/2006/main" id="71" idx="1"/>
            <a:endCxn xmlns:a="http://schemas.openxmlformats.org/drawingml/2006/main" id="72" idx="3"/>
          </p:cNvCxnSpPr>
          <p:nvPr/>
        </p:nvCxnSpPr>
        <p:spPr>
          <a:xfrm xmlns:a="http://schemas.openxmlformats.org/drawingml/2006/main" flipH="1">
            <a:off x="2448878" y="4314826"/>
            <a:ext cx="169354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C9D9"/>
            </a:solidFill>
            <a:prstDash val="dash"/>
            <a:tailEnd type="none" w="sm" len="sm"/>
          </a:ln>
        </p:spPr>
      </p:cxnSp>
      <p:sp>
        <p:nvSpPr>
          <p:cNvPr id="74" name="point-181">
            <a:extLst xmlns:a="http://schemas.openxmlformats.org/drawingml/2006/main">
              <a:ext uri="{FF2B5EF4-FFF2-40B4-BE49-F238E27FC236}">
                <a16:creationId xmlns:a16="http://schemas.microsoft.com/office/drawing/2014/main" id="{D966EA66-8DEC-4E72-8225-F0BA457F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6973" y="43138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5" name="point-182">
            <a:extLst xmlns:a="http://schemas.openxmlformats.org/drawingml/2006/main">
              <a:ext uri="{FF2B5EF4-FFF2-40B4-BE49-F238E27FC236}">
                <a16:creationId xmlns:a16="http://schemas.microsoft.com/office/drawing/2014/main" id="{9B13F4AE-C49C-42DC-AF48-8527E31C9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6973" y="4590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4" name=""/>
          <p:cNvCxnSpPr>
            <a:stCxn xmlns:a="http://schemas.openxmlformats.org/drawingml/2006/main" id="74" idx="2"/>
            <a:endCxn xmlns:a="http://schemas.openxmlformats.org/drawingml/2006/main" id="75" idx="0"/>
          </p:cNvCxnSpPr>
          <p:nvPr/>
        </p:nvCxnSpPr>
        <p:spPr>
          <a:xfrm xmlns:a="http://schemas.openxmlformats.org/drawingml/2006/main">
            <a:off x="2447926" y="4315778"/>
            <a:ext cx="0" cy="27432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C9D9"/>
            </a:solidFill>
            <a:prstDash val="dash"/>
            <a:tailEnd type="arrow" w="sm" len="sm"/>
          </a:ln>
        </p:spPr>
      </p:cxnSp>
      <p:sp>
        <p:nvSpPr>
          <p:cNvPr id="77" name="text-183">
            <a:extLst xmlns:a="http://schemas.openxmlformats.org/drawingml/2006/main">
              <a:ext uri="{FF2B5EF4-FFF2-40B4-BE49-F238E27FC236}">
                <a16:creationId xmlns:a16="http://schemas.microsoft.com/office/drawing/2014/main" id="{E31B31E9-B559-49BC-B58F-6AA4B4FA6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0481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快照统计</a:t>
            </a:r>
          </a:p>
        </p:txBody>
      </p:sp>
      <p:sp>
        <p:nvSpPr>
          <p:cNvPr id="78" name="text-184">
            <a:extLst xmlns:a="http://schemas.openxmlformats.org/drawingml/2006/main">
              <a:ext uri="{FF2B5EF4-FFF2-40B4-BE49-F238E27FC236}">
                <a16:creationId xmlns:a16="http://schemas.microsoft.com/office/drawing/2014/main" id="{3CA8583A-7C0B-402F-B382-36672BA7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9595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7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78B"/>
                </a:solidFill>
                <a:latin typeface="Hiragino Sans GB"/>
                <a:ea typeface="Hiragino Sans GB"/>
                <a:cs typeface="Hiragino Sans GB"/>
              </a:rPr>
              <a:t>展示核心关系与代表字段，省略 Qt 事件、协议及辅助成员</a:t>
            </a:r>
          </a:p>
        </p:txBody>
      </p:sp>
    </p:spTree>
    <p:extLst>
      <p:ext uri="{BB962C8B-B14F-4D97-AF65-F5344CB8AC3E}">
        <p14:creationId xmlns:p14="http://schemas.microsoft.com/office/powerpoint/2010/main" val="18201249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text-185">
            <a:extLst xmlns:a="http://schemas.openxmlformats.org/drawingml/2006/main">
              <a:ext uri="{FF2B5EF4-FFF2-40B4-BE49-F238E27FC236}">
                <a16:creationId xmlns:a16="http://schemas.microsoft.com/office/drawing/2014/main" id="{2DD2339F-675F-42C2-95DB-746F1A405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UML 任务提交与执行时序</a:t>
            </a:r>
          </a:p>
        </p:txBody>
      </p:sp>
      <p:sp>
        <p:nvSpPr>
          <p:cNvPr id="2" name="text-186">
            <a:extLst xmlns:a="http://schemas.openxmlformats.org/drawingml/2006/main">
              <a:ext uri="{FF2B5EF4-FFF2-40B4-BE49-F238E27FC236}">
                <a16:creationId xmlns:a16="http://schemas.microsoft.com/office/drawing/2014/main" id="{6FBE3BE5-35C7-492F-A2AF-8498F9FC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98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377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78B"/>
                </a:solidFill>
                <a:latin typeface="Hiragino Sans GB"/>
                <a:ea typeface="Hiragino Sans GB"/>
                <a:cs typeface="Hiragino Sans GB"/>
              </a:rPr>
              <a:t>08</a:t>
            </a:r>
          </a:p>
        </p:txBody>
      </p:sp>
      <p:sp>
        <p:nvSpPr>
          <p:cNvPr id="3" name="sequence-gui">
            <a:extLst xmlns:a="http://schemas.openxmlformats.org/drawingml/2006/main">
              <a:ext uri="{FF2B5EF4-FFF2-40B4-BE49-F238E27FC236}">
                <a16:creationId xmlns:a16="http://schemas.microsoft.com/office/drawing/2014/main" id="{772084E0-BE0D-4364-9C46-991E1772D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81125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A"/>
          </a:solidFill>
          <a:ln xmlns:a="http://schemas.openxmlformats.org/drawingml/2006/main" w="14288">
            <a:solidFill>
              <a:srgbClr val="B7C9D9"/>
            </a:solidFill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GUI</a:t>
            </a:r>
          </a:p>
        </p:txBody>
      </p:sp>
      <p:sp>
        <p:nvSpPr>
          <p:cNvPr id="4" name="point-187">
            <a:extLst xmlns:a="http://schemas.openxmlformats.org/drawingml/2006/main">
              <a:ext uri="{FF2B5EF4-FFF2-40B4-BE49-F238E27FC236}">
                <a16:creationId xmlns:a16="http://schemas.microsoft.com/office/drawing/2014/main" id="{616DC175-E887-43A1-9856-58A924A8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548" y="18373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point-188">
            <a:extLst xmlns:a="http://schemas.openxmlformats.org/drawingml/2006/main">
              <a:ext uri="{FF2B5EF4-FFF2-40B4-BE49-F238E27FC236}">
                <a16:creationId xmlns:a16="http://schemas.microsoft.com/office/drawing/2014/main" id="{D44DE12A-2592-4254-823D-5CB3A7188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548" y="59235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2" name=""/>
          <p:cNvCxnSpPr>
            <a:stCxn xmlns:a="http://schemas.openxmlformats.org/drawingml/2006/main" id="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1333501" y="1839278"/>
            <a:ext cx="0" cy="408432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FBECD"/>
            </a:solidFill>
            <a:prstDash val="dash"/>
            <a:tailEnd type="none" w="sm" len="sm"/>
          </a:ln>
        </p:spPr>
      </p:cxnSp>
      <p:sp>
        <p:nvSpPr>
          <p:cNvPr id="7" name="sequence-coord">
            <a:extLst xmlns:a="http://schemas.openxmlformats.org/drawingml/2006/main">
              <a:ext uri="{FF2B5EF4-FFF2-40B4-BE49-F238E27FC236}">
                <a16:creationId xmlns:a16="http://schemas.microsoft.com/office/drawing/2014/main" id="{CAC6522B-4C94-416F-BF84-013BE0126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381125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34A"/>
          </a:solidFill>
          <a:ln xmlns:a="http://schemas.openxmlformats.org/drawingml/2006/main" w="14288">
            <a:solidFill>
              <a:srgbClr val="B7C9D9"/>
            </a:solidFill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Coordinator</a:t>
            </a:r>
          </a:p>
        </p:txBody>
      </p:sp>
      <p:sp>
        <p:nvSpPr>
          <p:cNvPr id="8" name="point-189">
            <a:extLst xmlns:a="http://schemas.openxmlformats.org/drawingml/2006/main">
              <a:ext uri="{FF2B5EF4-FFF2-40B4-BE49-F238E27FC236}">
                <a16:creationId xmlns:a16="http://schemas.microsoft.com/office/drawing/2014/main" id="{18C7E7D6-C412-4118-A487-85992BB05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0923" y="18373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" name="point-190">
            <a:extLst xmlns:a="http://schemas.openxmlformats.org/drawingml/2006/main">
              <a:ext uri="{FF2B5EF4-FFF2-40B4-BE49-F238E27FC236}">
                <a16:creationId xmlns:a16="http://schemas.microsoft.com/office/drawing/2014/main" id="{46E6A271-BA22-4BB9-BB2B-1651EB925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0923" y="59235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6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3571876" y="1839278"/>
            <a:ext cx="0" cy="408432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FBECD"/>
            </a:solidFill>
            <a:prstDash val="dash"/>
            <a:tailEnd type="none" w="sm" len="sm"/>
          </a:ln>
        </p:spPr>
      </p:cxnSp>
      <p:sp>
        <p:nvSpPr>
          <p:cNvPr id="11" name="sequence-state">
            <a:extLst xmlns:a="http://schemas.openxmlformats.org/drawingml/2006/main">
              <a:ext uri="{FF2B5EF4-FFF2-40B4-BE49-F238E27FC236}">
                <a16:creationId xmlns:a16="http://schemas.microsoft.com/office/drawing/2014/main" id="{68BDE953-4E83-4954-8AE2-C7C876067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381125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A"/>
          </a:solidFill>
          <a:ln xmlns:a="http://schemas.openxmlformats.org/drawingml/2006/main" w="14288">
            <a:solidFill>
              <a:srgbClr val="B7C9D9"/>
            </a:solidFill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StateStore</a:t>
            </a:r>
          </a:p>
        </p:txBody>
      </p:sp>
      <p:sp>
        <p:nvSpPr>
          <p:cNvPr id="12" name="point-191">
            <a:extLst xmlns:a="http://schemas.openxmlformats.org/drawingml/2006/main">
              <a:ext uri="{FF2B5EF4-FFF2-40B4-BE49-F238E27FC236}">
                <a16:creationId xmlns:a16="http://schemas.microsoft.com/office/drawing/2014/main" id="{9D3987DE-60AB-4B5B-B5DC-301A09731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9298" y="18373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" name="point-192">
            <a:extLst xmlns:a="http://schemas.openxmlformats.org/drawingml/2006/main">
              <a:ext uri="{FF2B5EF4-FFF2-40B4-BE49-F238E27FC236}">
                <a16:creationId xmlns:a16="http://schemas.microsoft.com/office/drawing/2014/main" id="{DD6206DF-3F14-4F08-9DD0-1D35D8B7E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9298" y="59235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0" name=""/>
          <p:cNvCxnSpPr>
            <a:stCxn xmlns:a="http://schemas.openxmlformats.org/drawingml/2006/main" id="12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5810251" y="1839278"/>
            <a:ext cx="0" cy="408432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FBECD"/>
            </a:solidFill>
            <a:prstDash val="dash"/>
            <a:tailEnd type="none" w="sm" len="sm"/>
          </a:ln>
        </p:spPr>
      </p:cxnSp>
      <p:sp>
        <p:nvSpPr>
          <p:cNvPr id="15" name="sequence-sup">
            <a:extLst xmlns:a="http://schemas.openxmlformats.org/drawingml/2006/main">
              <a:ext uri="{FF2B5EF4-FFF2-40B4-BE49-F238E27FC236}">
                <a16:creationId xmlns:a16="http://schemas.microsoft.com/office/drawing/2014/main" id="{018064C3-F3ED-406D-A7C1-AA7ADD57C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381125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A"/>
          </a:solidFill>
          <a:ln xmlns:a="http://schemas.openxmlformats.org/drawingml/2006/main" w="14288">
            <a:solidFill>
              <a:srgbClr val="B7C9D9"/>
            </a:solidFill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Supervisor</a:t>
            </a:r>
          </a:p>
        </p:txBody>
      </p:sp>
      <p:sp>
        <p:nvSpPr>
          <p:cNvPr id="16" name="point-193">
            <a:extLst xmlns:a="http://schemas.openxmlformats.org/drawingml/2006/main">
              <a:ext uri="{FF2B5EF4-FFF2-40B4-BE49-F238E27FC236}">
                <a16:creationId xmlns:a16="http://schemas.microsoft.com/office/drawing/2014/main" id="{C4E24065-888D-49BF-B294-1EBBC7837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7673" y="18373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point-194">
            <a:extLst xmlns:a="http://schemas.openxmlformats.org/drawingml/2006/main">
              <a:ext uri="{FF2B5EF4-FFF2-40B4-BE49-F238E27FC236}">
                <a16:creationId xmlns:a16="http://schemas.microsoft.com/office/drawing/2014/main" id="{101FC180-0A8A-4D8C-B31D-D7E7A0E3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7673" y="59235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4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8048626" y="1839278"/>
            <a:ext cx="0" cy="408432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FBECD"/>
            </a:solidFill>
            <a:prstDash val="dash"/>
            <a:tailEnd type="none" w="sm" len="sm"/>
          </a:ln>
        </p:spPr>
      </p:cxnSp>
      <p:sp>
        <p:nvSpPr>
          <p:cNvPr id="19" name="sequence-worker">
            <a:extLst xmlns:a="http://schemas.openxmlformats.org/drawingml/2006/main">
              <a:ext uri="{FF2B5EF4-FFF2-40B4-BE49-F238E27FC236}">
                <a16:creationId xmlns:a16="http://schemas.microsoft.com/office/drawing/2014/main" id="{F96B3C1F-7DA4-403F-BA75-13EB72615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381125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A"/>
          </a:solidFill>
          <a:ln xmlns:a="http://schemas.openxmlformats.org/drawingml/2006/main" w="14288">
            <a:solidFill>
              <a:srgbClr val="B7C9D9"/>
            </a:solidFill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Worker</a:t>
            </a:r>
          </a:p>
        </p:txBody>
      </p:sp>
      <p:sp>
        <p:nvSpPr>
          <p:cNvPr id="20" name="point-195">
            <a:extLst xmlns:a="http://schemas.openxmlformats.org/drawingml/2006/main">
              <a:ext uri="{FF2B5EF4-FFF2-40B4-BE49-F238E27FC236}">
                <a16:creationId xmlns:a16="http://schemas.microsoft.com/office/drawing/2014/main" id="{5739ECE4-E3F0-430F-B39D-2A553E87F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6048" y="18373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" name="point-196">
            <a:extLst xmlns:a="http://schemas.openxmlformats.org/drawingml/2006/main">
              <a:ext uri="{FF2B5EF4-FFF2-40B4-BE49-F238E27FC236}">
                <a16:creationId xmlns:a16="http://schemas.microsoft.com/office/drawing/2014/main" id="{85A0E6F9-8CAE-4FA7-97D9-ECD87E558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6048" y="59235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8" name=""/>
          <p:cNvCxnSpPr>
            <a:stCxn xmlns:a="http://schemas.openxmlformats.org/drawingml/2006/main" id="20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10287001" y="1839278"/>
            <a:ext cx="0" cy="408432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FBECD"/>
            </a:solidFill>
            <a:prstDash val="dash"/>
            <a:tailEnd type="none" w="sm" len="sm"/>
          </a:ln>
        </p:spPr>
      </p:cxnSp>
      <p:sp>
        <p:nvSpPr>
          <p:cNvPr id="23" name="point-197">
            <a:extLst xmlns:a="http://schemas.openxmlformats.org/drawingml/2006/main">
              <a:ext uri="{FF2B5EF4-FFF2-40B4-BE49-F238E27FC236}">
                <a16:creationId xmlns:a16="http://schemas.microsoft.com/office/drawing/2014/main" id="{E85457D3-B205-48A3-8C81-21C15A37E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548" y="22374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" name="point-198">
            <a:extLst xmlns:a="http://schemas.openxmlformats.org/drawingml/2006/main">
              <a:ext uri="{FF2B5EF4-FFF2-40B4-BE49-F238E27FC236}">
                <a16:creationId xmlns:a16="http://schemas.microsoft.com/office/drawing/2014/main" id="{733CD255-EE22-42AD-8E50-302BCCB2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0923" y="22374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1" name=""/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1334453" y="2238376"/>
            <a:ext cx="223647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C9D9"/>
            </a:solidFill>
            <a:prstDash val="solid"/>
            <a:tailEnd type="arrow" w="sm" len="sm"/>
          </a:ln>
        </p:spPr>
      </p:cxnSp>
      <p:sp>
        <p:nvSpPr>
          <p:cNvPr id="26" name="text-199">
            <a:extLst xmlns:a="http://schemas.openxmlformats.org/drawingml/2006/main">
              <a:ext uri="{FF2B5EF4-FFF2-40B4-BE49-F238E27FC236}">
                <a16:creationId xmlns:a16="http://schemas.microsoft.com/office/drawing/2014/main" id="{84FE09B7-4EA1-4B4D-AD99-28FD8A16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943100"/>
            <a:ext cx="2105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submit(job)</a:t>
            </a:r>
          </a:p>
        </p:txBody>
      </p:sp>
      <p:sp>
        <p:nvSpPr>
          <p:cNvPr id="27" name="point-200">
            <a:extLst xmlns:a="http://schemas.openxmlformats.org/drawingml/2006/main">
              <a:ext uri="{FF2B5EF4-FFF2-40B4-BE49-F238E27FC236}">
                <a16:creationId xmlns:a16="http://schemas.microsoft.com/office/drawing/2014/main" id="{4C2A3D53-40B0-4948-8F23-BDDE62C2B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0923" y="27612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" name="point-201">
            <a:extLst xmlns:a="http://schemas.openxmlformats.org/drawingml/2006/main">
              <a:ext uri="{FF2B5EF4-FFF2-40B4-BE49-F238E27FC236}">
                <a16:creationId xmlns:a16="http://schemas.microsoft.com/office/drawing/2014/main" id="{353DCA92-99E6-42AA-869B-B3B860DDD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9298" y="27612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5" name="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3572828" y="2762251"/>
            <a:ext cx="223647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C9D9"/>
            </a:solidFill>
            <a:prstDash val="solid"/>
            <a:tailEnd type="arrow" w="sm" len="sm"/>
          </a:ln>
        </p:spPr>
      </p:cxnSp>
      <p:sp>
        <p:nvSpPr>
          <p:cNvPr id="30" name="text-202">
            <a:extLst xmlns:a="http://schemas.openxmlformats.org/drawingml/2006/main">
              <a:ext uri="{FF2B5EF4-FFF2-40B4-BE49-F238E27FC236}">
                <a16:creationId xmlns:a16="http://schemas.microsoft.com/office/drawing/2014/main" id="{9CE100B9-A521-4F32-B1EE-64E8437B5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66975"/>
            <a:ext cx="2105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保存 Queued</a:t>
            </a:r>
          </a:p>
        </p:txBody>
      </p:sp>
      <p:sp>
        <p:nvSpPr>
          <p:cNvPr id="31" name="point-203">
            <a:extLst xmlns:a="http://schemas.openxmlformats.org/drawingml/2006/main">
              <a:ext uri="{FF2B5EF4-FFF2-40B4-BE49-F238E27FC236}">
                <a16:creationId xmlns:a16="http://schemas.microsoft.com/office/drawing/2014/main" id="{CFA8B6FA-2188-43ED-8F51-26269A099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9298" y="31613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" name="point-204">
            <a:extLst xmlns:a="http://schemas.openxmlformats.org/drawingml/2006/main">
              <a:ext uri="{FF2B5EF4-FFF2-40B4-BE49-F238E27FC236}">
                <a16:creationId xmlns:a16="http://schemas.microsoft.com/office/drawing/2014/main" id="{A63728F0-8063-4E59-9A61-5B9440E22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0923" y="31613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9" name=""/>
          <p:cNvCxnSpPr>
            <a:stCxn xmlns:a="http://schemas.openxmlformats.org/drawingml/2006/main" id="31" idx="1"/>
            <a:endCxn xmlns:a="http://schemas.openxmlformats.org/drawingml/2006/main" id="32" idx="3"/>
          </p:cNvCxnSpPr>
          <p:nvPr/>
        </p:nvCxnSpPr>
        <p:spPr>
          <a:xfrm xmlns:a="http://schemas.openxmlformats.org/drawingml/2006/main" flipH="1">
            <a:off x="3572828" y="3162301"/>
            <a:ext cx="223647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C9D9"/>
            </a:solidFill>
            <a:prstDash val="dash"/>
            <a:tailEnd type="arrow" w="sm" len="sm"/>
          </a:ln>
        </p:spPr>
      </p:cxnSp>
      <p:sp>
        <p:nvSpPr>
          <p:cNvPr id="34" name="text-205">
            <a:extLst xmlns:a="http://schemas.openxmlformats.org/drawingml/2006/main">
              <a:ext uri="{FF2B5EF4-FFF2-40B4-BE49-F238E27FC236}">
                <a16:creationId xmlns:a16="http://schemas.microsoft.com/office/drawing/2014/main" id="{4D9FA084-F92B-46E6-9015-B6091BE16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67025"/>
            <a:ext cx="2105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保存成功</a:t>
            </a:r>
          </a:p>
        </p:txBody>
      </p:sp>
      <p:sp>
        <p:nvSpPr>
          <p:cNvPr id="35" name="text-206">
            <a:extLst xmlns:a="http://schemas.openxmlformats.org/drawingml/2006/main">
              <a:ext uri="{FF2B5EF4-FFF2-40B4-BE49-F238E27FC236}">
                <a16:creationId xmlns:a16="http://schemas.microsoft.com/office/drawing/2014/main" id="{AA30ED48-FB61-4E58-B242-7EAA8EF7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324225"/>
            <a:ext cx="2047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claim()：原子领取</a:t>
            </a:r>
          </a:p>
        </p:txBody>
      </p:sp>
      <p:sp>
        <p:nvSpPr>
          <p:cNvPr id="36" name="point-207">
            <a:extLst xmlns:a="http://schemas.openxmlformats.org/drawingml/2006/main">
              <a:ext uri="{FF2B5EF4-FFF2-40B4-BE49-F238E27FC236}">
                <a16:creationId xmlns:a16="http://schemas.microsoft.com/office/drawing/2014/main" id="{45FF1642-EBB1-4425-AAA1-76B0D0748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0923" y="39519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" name="point-208">
            <a:extLst xmlns:a="http://schemas.openxmlformats.org/drawingml/2006/main">
              <a:ext uri="{FF2B5EF4-FFF2-40B4-BE49-F238E27FC236}">
                <a16:creationId xmlns:a16="http://schemas.microsoft.com/office/drawing/2014/main" id="{39D0A193-93C3-457E-9E11-F1144685A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9298" y="39519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4" name=""/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3572828" y="3952876"/>
            <a:ext cx="223647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C9D9"/>
            </a:solidFill>
            <a:prstDash val="solid"/>
            <a:tailEnd type="arrow" w="sm" len="sm"/>
          </a:ln>
        </p:spPr>
      </p:cxnSp>
      <p:sp>
        <p:nvSpPr>
          <p:cNvPr id="39" name="text-209">
            <a:extLst xmlns:a="http://schemas.openxmlformats.org/drawingml/2006/main">
              <a:ext uri="{FF2B5EF4-FFF2-40B4-BE49-F238E27FC236}">
                <a16:creationId xmlns:a16="http://schemas.microsoft.com/office/drawing/2014/main" id="{B8D96741-749F-42A8-AC4E-3520DAD7A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57600"/>
            <a:ext cx="2105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保存 Running / attempt</a:t>
            </a:r>
          </a:p>
        </p:txBody>
      </p:sp>
      <p:sp>
        <p:nvSpPr>
          <p:cNvPr id="40" name="point-210">
            <a:extLst xmlns:a="http://schemas.openxmlformats.org/drawingml/2006/main">
              <a:ext uri="{FF2B5EF4-FFF2-40B4-BE49-F238E27FC236}">
                <a16:creationId xmlns:a16="http://schemas.microsoft.com/office/drawing/2014/main" id="{ECD3B556-1B48-4A13-8582-09507F725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0923" y="45043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point-211">
            <a:extLst xmlns:a="http://schemas.openxmlformats.org/drawingml/2006/main">
              <a:ext uri="{FF2B5EF4-FFF2-40B4-BE49-F238E27FC236}">
                <a16:creationId xmlns:a16="http://schemas.microsoft.com/office/drawing/2014/main" id="{396BE4CD-806F-457C-BFAC-99A735BBF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7673" y="45043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8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3572828" y="4505326"/>
            <a:ext cx="447484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C9D9"/>
            </a:solidFill>
            <a:prstDash val="solid"/>
            <a:tailEnd type="arrow" w="sm" len="sm"/>
          </a:ln>
        </p:spPr>
      </p:cxnSp>
      <p:sp>
        <p:nvSpPr>
          <p:cNvPr id="43" name="text-212">
            <a:extLst xmlns:a="http://schemas.openxmlformats.org/drawingml/2006/main">
              <a:ext uri="{FF2B5EF4-FFF2-40B4-BE49-F238E27FC236}">
                <a16:creationId xmlns:a16="http://schemas.microsoft.com/office/drawing/2014/main" id="{C10B9985-0B80-4612-BF10-5F8C8C27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210050"/>
            <a:ext cx="4343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持久化成功后启动</a:t>
            </a:r>
          </a:p>
        </p:txBody>
      </p:sp>
      <p:sp>
        <p:nvSpPr>
          <p:cNvPr id="44" name="point-213">
            <a:extLst xmlns:a="http://schemas.openxmlformats.org/drawingml/2006/main">
              <a:ext uri="{FF2B5EF4-FFF2-40B4-BE49-F238E27FC236}">
                <a16:creationId xmlns:a16="http://schemas.microsoft.com/office/drawing/2014/main" id="{D045FF4B-1D21-4F86-B408-97ED5CA72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7673" y="49329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5" name="point-214">
            <a:extLst xmlns:a="http://schemas.openxmlformats.org/drawingml/2006/main">
              <a:ext uri="{FF2B5EF4-FFF2-40B4-BE49-F238E27FC236}">
                <a16:creationId xmlns:a16="http://schemas.microsoft.com/office/drawing/2014/main" id="{6B25F20C-19BA-482C-A321-BD464FFB2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6048" y="49329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2" name=""/>
          <p:cNvCxnSpPr>
            <a:stCxn xmlns:a="http://schemas.openxmlformats.org/drawingml/2006/main" id="44" idx="3"/>
            <a:endCxn xmlns:a="http://schemas.openxmlformats.org/drawingml/2006/main" id="45" idx="1"/>
          </p:cNvCxnSpPr>
          <p:nvPr/>
        </p:nvCxnSpPr>
        <p:spPr>
          <a:xfrm xmlns:a="http://schemas.openxmlformats.org/drawingml/2006/main">
            <a:off x="8049578" y="4933951"/>
            <a:ext cx="223647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C9D9"/>
            </a:solidFill>
            <a:prstDash val="solid"/>
            <a:tailEnd type="arrow" w="sm" len="sm"/>
          </a:ln>
        </p:spPr>
      </p:cxnSp>
      <p:sp>
        <p:nvSpPr>
          <p:cNvPr id="47" name="text-215">
            <a:extLst xmlns:a="http://schemas.openxmlformats.org/drawingml/2006/main">
              <a:ext uri="{FF2B5EF4-FFF2-40B4-BE49-F238E27FC236}">
                <a16:creationId xmlns:a16="http://schemas.microsoft.com/office/drawing/2014/main" id="{00DE23A1-DCED-483D-B352-B4C8FAC73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638675"/>
            <a:ext cx="2105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启动 worker</a:t>
            </a:r>
          </a:p>
        </p:txBody>
      </p:sp>
      <p:sp>
        <p:nvSpPr>
          <p:cNvPr id="48" name="point-216">
            <a:extLst xmlns:a="http://schemas.openxmlformats.org/drawingml/2006/main">
              <a:ext uri="{FF2B5EF4-FFF2-40B4-BE49-F238E27FC236}">
                <a16:creationId xmlns:a16="http://schemas.microsoft.com/office/drawing/2014/main" id="{4B17298E-6585-4D4A-94A9-6DD4F18E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6048" y="5352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" name="point-217">
            <a:extLst xmlns:a="http://schemas.openxmlformats.org/drawingml/2006/main">
              <a:ext uri="{FF2B5EF4-FFF2-40B4-BE49-F238E27FC236}">
                <a16:creationId xmlns:a16="http://schemas.microsoft.com/office/drawing/2014/main" id="{0EA2B3E0-3694-47A3-9E0D-990938EBD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7673" y="5352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6" name=""/>
          <p:cNvCxnSpPr>
            <a:stCxn xmlns:a="http://schemas.openxmlformats.org/drawingml/2006/main" id="48" idx="1"/>
            <a:endCxn xmlns:a="http://schemas.openxmlformats.org/drawingml/2006/main" id="49" idx="3"/>
          </p:cNvCxnSpPr>
          <p:nvPr/>
        </p:nvCxnSpPr>
        <p:spPr>
          <a:xfrm xmlns:a="http://schemas.openxmlformats.org/drawingml/2006/main" flipH="1">
            <a:off x="8049578" y="5353051"/>
            <a:ext cx="223647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C9D9"/>
            </a:solidFill>
            <a:prstDash val="dash"/>
            <a:tailEnd type="arrow" w="sm" len="sm"/>
          </a:ln>
        </p:spPr>
      </p:cxnSp>
      <p:sp>
        <p:nvSpPr>
          <p:cNvPr id="51" name="text-218">
            <a:extLst xmlns:a="http://schemas.openxmlformats.org/drawingml/2006/main">
              <a:ext uri="{FF2B5EF4-FFF2-40B4-BE49-F238E27FC236}">
                <a16:creationId xmlns:a16="http://schemas.microsoft.com/office/drawing/2014/main" id="{AAE73955-E279-484D-A140-D46B01F2C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057775"/>
            <a:ext cx="2105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进度 / 最终输出</a:t>
            </a:r>
          </a:p>
        </p:txBody>
      </p:sp>
      <p:sp>
        <p:nvSpPr>
          <p:cNvPr id="52" name="point-219">
            <a:extLst xmlns:a="http://schemas.openxmlformats.org/drawingml/2006/main">
              <a:ext uri="{FF2B5EF4-FFF2-40B4-BE49-F238E27FC236}">
                <a16:creationId xmlns:a16="http://schemas.microsoft.com/office/drawing/2014/main" id="{BEFFC8E6-3C02-4137-9266-B96F8B00C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7673" y="57711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" name="point-220">
            <a:extLst xmlns:a="http://schemas.openxmlformats.org/drawingml/2006/main">
              <a:ext uri="{FF2B5EF4-FFF2-40B4-BE49-F238E27FC236}">
                <a16:creationId xmlns:a16="http://schemas.microsoft.com/office/drawing/2014/main" id="{8921EA9E-B7EC-484D-A029-D2806A48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0923" y="57711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0" name=""/>
          <p:cNvCxnSpPr>
            <a:stCxn xmlns:a="http://schemas.openxmlformats.org/drawingml/2006/main" id="52" idx="1"/>
            <a:endCxn xmlns:a="http://schemas.openxmlformats.org/drawingml/2006/main" id="53" idx="3"/>
          </p:cNvCxnSpPr>
          <p:nvPr/>
        </p:nvCxnSpPr>
        <p:spPr>
          <a:xfrm xmlns:a="http://schemas.openxmlformats.org/drawingml/2006/main" flipH="1">
            <a:off x="3572828" y="5772151"/>
            <a:ext cx="447484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C9D9"/>
            </a:solidFill>
            <a:prstDash val="dash"/>
            <a:tailEnd type="arrow" w="sm" len="sm"/>
          </a:ln>
        </p:spPr>
      </p:cxnSp>
      <p:sp>
        <p:nvSpPr>
          <p:cNvPr id="55" name="text-221">
            <a:extLst xmlns:a="http://schemas.openxmlformats.org/drawingml/2006/main">
              <a:ext uri="{FF2B5EF4-FFF2-40B4-BE49-F238E27FC236}">
                <a16:creationId xmlns:a16="http://schemas.microsoft.com/office/drawing/2014/main" id="{20E33B6B-A548-4815-A51F-7224147BA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476875"/>
            <a:ext cx="4343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完成事件，核对后持久化</a:t>
            </a:r>
          </a:p>
        </p:txBody>
      </p:sp>
      <p:sp>
        <p:nvSpPr>
          <p:cNvPr id="56" name="text-222">
            <a:extLst xmlns:a="http://schemas.openxmlformats.org/drawingml/2006/main">
              <a:ext uri="{FF2B5EF4-FFF2-40B4-BE49-F238E27FC236}">
                <a16:creationId xmlns:a16="http://schemas.microsoft.com/office/drawing/2014/main" id="{C6391C17-35E4-4050-98CB-86683636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190875"/>
            <a:ext cx="16478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7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78B"/>
                </a:solidFill>
                <a:latin typeface="Hiragino Sans GB"/>
                <a:ea typeface="Hiragino Sans GB"/>
                <a:cs typeface="Hiragino Sans GB"/>
              </a:rPr>
              <a:t>GUI 收到快照</a:t>
            </a:r>
          </a:p>
          <a:p xmlns:a="http://schemas.openxmlformats.org/drawingml/2006/main">
            <a:pPr algn="l">
              <a:defRPr sz="1350" b="0">
                <a:solidFill>
                  <a:srgbClr val="6377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78B"/>
                </a:solidFill>
                <a:latin typeface="Hiragino Sans GB"/>
                <a:ea typeface="Hiragino Sans GB"/>
                <a:cs typeface="Hiragino Sans GB"/>
              </a:rPr>
              <a:t>或事件后刷新</a:t>
            </a:r>
          </a:p>
          <a:p xmlns:a="http://schemas.openxmlformats.org/drawingml/2006/main">
            <a:pPr algn="l">
              <a:defRPr sz="1350" b="0">
                <a:solidFill>
                  <a:srgbClr val="6377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78B"/>
                </a:solidFill>
                <a:latin typeface="Hiragino Sans GB"/>
                <a:ea typeface="Hiragino Sans GB"/>
                <a:cs typeface="Hiragino Sans GB"/>
              </a:rPr>
              <a:t>（返回消息略）</a:t>
            </a:r>
          </a:p>
        </p:txBody>
      </p:sp>
    </p:spTree>
    <p:extLst>
      <p:ext uri="{BB962C8B-B14F-4D97-AF65-F5344CB8AC3E}">
        <p14:creationId xmlns:p14="http://schemas.microsoft.com/office/powerpoint/2010/main" val="5134692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text-223">
            <a:extLst xmlns:a="http://schemas.openxmlformats.org/drawingml/2006/main">
              <a:ext uri="{FF2B5EF4-FFF2-40B4-BE49-F238E27FC236}">
                <a16:creationId xmlns:a16="http://schemas.microsoft.com/office/drawing/2014/main" id="{5465985B-E6FC-45D3-9787-889D482A3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UML 取消、重试与终态</a:t>
            </a:r>
          </a:p>
        </p:txBody>
      </p:sp>
      <p:sp>
        <p:nvSpPr>
          <p:cNvPr id="2" name="text-224">
            <a:extLst xmlns:a="http://schemas.openxmlformats.org/drawingml/2006/main">
              <a:ext uri="{FF2B5EF4-FFF2-40B4-BE49-F238E27FC236}">
                <a16:creationId xmlns:a16="http://schemas.microsoft.com/office/drawing/2014/main" id="{CE7BEB9A-B26B-4A76-8431-C6BFAB6D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98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377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78B"/>
                </a:solidFill>
                <a:latin typeface="Hiragino Sans GB"/>
                <a:ea typeface="Hiragino Sans GB"/>
                <a:cs typeface="Hiragino Sans GB"/>
              </a:rPr>
              <a:t>09</a:t>
            </a:r>
          </a:p>
        </p:txBody>
      </p:sp>
      <p:sp>
        <p:nvSpPr>
          <p:cNvPr id="3" name="state-queued">
            <a:extLst xmlns:a="http://schemas.openxmlformats.org/drawingml/2006/main">
              <a:ext uri="{FF2B5EF4-FFF2-40B4-BE49-F238E27FC236}">
                <a16:creationId xmlns:a16="http://schemas.microsoft.com/office/drawing/2014/main" id="{B2C53855-63BB-4639-AC40-1C0243E2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0375"/>
            <a:ext cx="2047875" cy="695325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E9F0FA"/>
          </a:solidFill>
          <a:ln xmlns:a="http://schemas.openxmlformats.org/drawingml/2006/main" w="14288">
            <a:solidFill>
              <a:srgbClr val="B7C9D9"/>
            </a:solidFill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Queued</a:t>
            </a:r>
          </a:p>
          <a:p xmlns:a="http://schemas.openxmlformats.org/drawingml/2006/main">
            <a:pPr algn="ctr">
              <a:defRPr sz="180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等待中</a:t>
            </a:r>
          </a:p>
        </p:txBody>
      </p:sp>
      <p:sp>
        <p:nvSpPr>
          <p:cNvPr id="4" name="state-running">
            <a:extLst xmlns:a="http://schemas.openxmlformats.org/drawingml/2006/main">
              <a:ext uri="{FF2B5EF4-FFF2-40B4-BE49-F238E27FC236}">
                <a16:creationId xmlns:a16="http://schemas.microsoft.com/office/drawing/2014/main" id="{3B7D9E30-D77B-4F5B-A22E-C49A71450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00375"/>
            <a:ext cx="2047875" cy="695325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E9F0FA"/>
          </a:solidFill>
          <a:ln xmlns:a="http://schemas.openxmlformats.org/drawingml/2006/main" w="14288">
            <a:solidFill>
              <a:srgbClr val="B7C9D9"/>
            </a:solidFill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Running</a:t>
            </a:r>
          </a:p>
          <a:p xmlns:a="http://schemas.openxmlformats.org/drawingml/2006/main">
            <a:pPr algn="ctr">
              <a:defRPr sz="180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执行中</a:t>
            </a:r>
          </a:p>
        </p:txBody>
      </p:sp>
      <p:sp>
        <p:nvSpPr>
          <p:cNvPr id="5" name="state-completed">
            <a:extLst xmlns:a="http://schemas.openxmlformats.org/drawingml/2006/main">
              <a:ext uri="{FF2B5EF4-FFF2-40B4-BE49-F238E27FC236}">
                <a16:creationId xmlns:a16="http://schemas.microsoft.com/office/drawing/2014/main" id="{A97E9D99-DE47-48C3-96ED-9422A0439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571625"/>
            <a:ext cx="2095500" cy="695325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E5F2EF"/>
          </a:solidFill>
          <a:ln xmlns:a="http://schemas.openxmlformats.org/drawingml/2006/main" w="14288">
            <a:solidFill>
              <a:srgbClr val="B7C9D9"/>
            </a:solidFill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Completed</a:t>
            </a:r>
          </a:p>
          <a:p xmlns:a="http://schemas.openxmlformats.org/drawingml/2006/main">
            <a:pPr algn="ctr">
              <a:defRPr sz="180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完成</a:t>
            </a:r>
          </a:p>
        </p:txBody>
      </p:sp>
      <p:sp>
        <p:nvSpPr>
          <p:cNvPr id="6" name="state-failed">
            <a:extLst xmlns:a="http://schemas.openxmlformats.org/drawingml/2006/main">
              <a:ext uri="{FF2B5EF4-FFF2-40B4-BE49-F238E27FC236}">
                <a16:creationId xmlns:a16="http://schemas.microsoft.com/office/drawing/2014/main" id="{89B95299-CFDD-4981-A36B-185257B96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9675"/>
            <a:ext cx="2047875" cy="695325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E9F0FA"/>
          </a:solidFill>
          <a:ln xmlns:a="http://schemas.openxmlformats.org/drawingml/2006/main" w="14288">
            <a:solidFill>
              <a:srgbClr val="B7C9D9"/>
            </a:solidFill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Failed</a:t>
            </a:r>
          </a:p>
          <a:p xmlns:a="http://schemas.openxmlformats.org/drawingml/2006/main">
            <a:pPr algn="ctr">
              <a:defRPr sz="180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失败</a:t>
            </a:r>
          </a:p>
        </p:txBody>
      </p:sp>
      <p:sp>
        <p:nvSpPr>
          <p:cNvPr id="7" name="state-cancelling">
            <a:extLst xmlns:a="http://schemas.openxmlformats.org/drawingml/2006/main">
              <a:ext uri="{FF2B5EF4-FFF2-40B4-BE49-F238E27FC236}">
                <a16:creationId xmlns:a16="http://schemas.microsoft.com/office/drawing/2014/main" id="{ACF20C29-D00A-4F75-939A-B6F40A2C9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019675"/>
            <a:ext cx="2047875" cy="695325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E9F0FA"/>
          </a:solidFill>
          <a:ln xmlns:a="http://schemas.openxmlformats.org/drawingml/2006/main" w="14288">
            <a:solidFill>
              <a:srgbClr val="B7C9D9"/>
            </a:solidFill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Cancelling</a:t>
            </a:r>
          </a:p>
          <a:p xmlns:a="http://schemas.openxmlformats.org/drawingml/2006/main">
            <a:pPr algn="ctr">
              <a:defRPr sz="180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取消中</a:t>
            </a:r>
          </a:p>
        </p:txBody>
      </p:sp>
      <p:sp>
        <p:nvSpPr>
          <p:cNvPr id="8" name="state-cancelled">
            <a:extLst xmlns:a="http://schemas.openxmlformats.org/drawingml/2006/main">
              <a:ext uri="{FF2B5EF4-FFF2-40B4-BE49-F238E27FC236}">
                <a16:creationId xmlns:a16="http://schemas.microsoft.com/office/drawing/2014/main" id="{881D919F-824C-4C41-B621-2F58C696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019675"/>
            <a:ext cx="2095500" cy="695325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E5F2EF"/>
          </a:solidFill>
          <a:ln xmlns:a="http://schemas.openxmlformats.org/drawingml/2006/main" w="14288">
            <a:solidFill>
              <a:srgbClr val="B7C9D9"/>
            </a:solidFill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Cancelled</a:t>
            </a:r>
          </a:p>
          <a:p xmlns:a="http://schemas.openxmlformats.org/drawingml/2006/main">
            <a:pPr algn="ctr">
              <a:defRPr sz="180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已取消</a:t>
            </a:r>
          </a:p>
        </p:txBody>
      </p:sp>
      <p:sp>
        <p:nvSpPr>
          <p:cNvPr id="9" name="state-start">
            <a:extLst xmlns:a="http://schemas.openxmlformats.org/drawingml/2006/main">
              <a:ext uri="{FF2B5EF4-FFF2-40B4-BE49-F238E27FC236}">
                <a16:creationId xmlns:a16="http://schemas.microsoft.com/office/drawing/2014/main" id="{295AFF1C-9BC7-416F-B523-0DDAAB7C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334A"/>
          </a:solidFill>
          <a:ln xmlns:a="http://schemas.openxmlformats.org/drawingml/2006/main" w="14288">
            <a:solidFill>
              <a:srgbClr val="19334A"/>
            </a:solidFill>
          </a:ln>
        </p:spPr>
      </p:sp>
      <p:sp>
        <p:nvSpPr>
          <p:cNvPr id="10" name="point-225">
            <a:extLst xmlns:a="http://schemas.openxmlformats.org/drawingml/2006/main">
              <a:ext uri="{FF2B5EF4-FFF2-40B4-BE49-F238E27FC236}">
                <a16:creationId xmlns:a16="http://schemas.microsoft.com/office/drawing/2014/main" id="{4A631980-A226-4257-A11E-FC8FD64A6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8" y="33327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point-226">
            <a:extLst xmlns:a="http://schemas.openxmlformats.org/drawingml/2006/main">
              <a:ext uri="{FF2B5EF4-FFF2-40B4-BE49-F238E27FC236}">
                <a16:creationId xmlns:a16="http://schemas.microsoft.com/office/drawing/2014/main" id="{818AB182-5004-4A65-B6ED-C8E59670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8" y="33327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6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839153" y="3333751"/>
            <a:ext cx="11239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C9D9"/>
            </a:solidFill>
            <a:prstDash val="solid"/>
            <a:tailEnd type="arrow" w="sm" len="sm"/>
          </a:ln>
        </p:spPr>
      </p:cxnSp>
      <p:sp>
        <p:nvSpPr>
          <p:cNvPr id="13" name="point-227">
            <a:extLst xmlns:a="http://schemas.openxmlformats.org/drawingml/2006/main">
              <a:ext uri="{FF2B5EF4-FFF2-40B4-BE49-F238E27FC236}">
                <a16:creationId xmlns:a16="http://schemas.microsoft.com/office/drawing/2014/main" id="{F811CD53-5262-4386-BDC5-1C050E2FF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9423" y="33423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" name="point-228">
            <a:extLst xmlns:a="http://schemas.openxmlformats.org/drawingml/2006/main">
              <a:ext uri="{FF2B5EF4-FFF2-40B4-BE49-F238E27FC236}">
                <a16:creationId xmlns:a16="http://schemas.microsoft.com/office/drawing/2014/main" id="{92733B65-6AAF-4135-8C70-081CE2C62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6298" y="33423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9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3001328" y="3343276"/>
            <a:ext cx="166497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C9D9"/>
            </a:solidFill>
            <a:prstDash val="solid"/>
            <a:tailEnd type="arrow" w="sm" len="sm"/>
          </a:ln>
        </p:spPr>
      </p:cxnSp>
      <p:sp>
        <p:nvSpPr>
          <p:cNvPr id="16" name="text-229">
            <a:extLst xmlns:a="http://schemas.openxmlformats.org/drawingml/2006/main">
              <a:ext uri="{FF2B5EF4-FFF2-40B4-BE49-F238E27FC236}">
                <a16:creationId xmlns:a16="http://schemas.microsoft.com/office/drawing/2014/main" id="{6A7EC0E1-EE49-4479-9C3A-8AAF524C6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9337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claim()</a:t>
            </a:r>
          </a:p>
        </p:txBody>
      </p:sp>
      <p:sp>
        <p:nvSpPr>
          <p:cNvPr id="17" name="point-230">
            <a:extLst xmlns:a="http://schemas.openxmlformats.org/drawingml/2006/main">
              <a:ext uri="{FF2B5EF4-FFF2-40B4-BE49-F238E27FC236}">
                <a16:creationId xmlns:a16="http://schemas.microsoft.com/office/drawing/2014/main" id="{D4E6DFF7-D9F1-42EE-BD84-491442705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5473" y="29994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" name="point-231">
            <a:extLst xmlns:a="http://schemas.openxmlformats.org/drawingml/2006/main">
              <a:ext uri="{FF2B5EF4-FFF2-40B4-BE49-F238E27FC236}">
                <a16:creationId xmlns:a16="http://schemas.microsoft.com/office/drawing/2014/main" id="{E423C3E8-140D-4A2A-AAE5-A77D8D262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5473" y="19326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3" name=""/>
          <p:cNvCxnSpPr>
            <a:stCxn xmlns:a="http://schemas.openxmlformats.org/drawingml/2006/main" id="17" idx="0"/>
            <a:endCxn xmlns:a="http://schemas.openxmlformats.org/drawingml/2006/main" id="18" idx="2"/>
          </p:cNvCxnSpPr>
          <p:nvPr/>
        </p:nvCxnSpPr>
        <p:spPr>
          <a:xfrm xmlns:a="http://schemas.openxmlformats.org/drawingml/2006/main" flipV="1">
            <a:off x="5686426" y="1934528"/>
            <a:ext cx="0" cy="10648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C9D9"/>
            </a:solidFill>
            <a:prstDash val="solid"/>
            <a:tailEnd type="none" w="sm" len="sm"/>
          </a:ln>
        </p:spPr>
      </p:cxnSp>
      <p:sp>
        <p:nvSpPr>
          <p:cNvPr id="20" name="point-232">
            <a:extLst xmlns:a="http://schemas.openxmlformats.org/drawingml/2006/main">
              <a:ext uri="{FF2B5EF4-FFF2-40B4-BE49-F238E27FC236}">
                <a16:creationId xmlns:a16="http://schemas.microsoft.com/office/drawing/2014/main" id="{6363BD8C-4A7C-4F33-9E8C-782E2DF4A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5473" y="19326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" name="point-233">
            <a:extLst xmlns:a="http://schemas.openxmlformats.org/drawingml/2006/main">
              <a:ext uri="{FF2B5EF4-FFF2-40B4-BE49-F238E27FC236}">
                <a16:creationId xmlns:a16="http://schemas.microsoft.com/office/drawing/2014/main" id="{61E0BECB-3015-44F2-BC85-EFFDAB367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1173" y="19326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6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5687378" y="1933576"/>
            <a:ext cx="369379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C9D9"/>
            </a:solidFill>
            <a:prstDash val="solid"/>
            <a:tailEnd type="arrow" w="sm" len="sm"/>
          </a:ln>
        </p:spPr>
      </p:cxnSp>
      <p:sp>
        <p:nvSpPr>
          <p:cNvPr id="23" name="text-234">
            <a:extLst xmlns:a="http://schemas.openxmlformats.org/drawingml/2006/main">
              <a:ext uri="{FF2B5EF4-FFF2-40B4-BE49-F238E27FC236}">
                <a16:creationId xmlns:a16="http://schemas.microsoft.com/office/drawing/2014/main" id="{A8B830BD-96FC-458D-B7CA-57407F0E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55257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确认成功输出</a:t>
            </a:r>
          </a:p>
        </p:txBody>
      </p:sp>
      <p:sp>
        <p:nvSpPr>
          <p:cNvPr id="24" name="point-235">
            <a:extLst xmlns:a="http://schemas.openxmlformats.org/drawingml/2006/main">
              <a:ext uri="{FF2B5EF4-FFF2-40B4-BE49-F238E27FC236}">
                <a16:creationId xmlns:a16="http://schemas.microsoft.com/office/drawing/2014/main" id="{365C74F7-08F7-4F40-A1E2-3373E1F6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0173" y="36947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point-236">
            <a:extLst xmlns:a="http://schemas.openxmlformats.org/drawingml/2006/main">
              <a:ext uri="{FF2B5EF4-FFF2-40B4-BE49-F238E27FC236}">
                <a16:creationId xmlns:a16="http://schemas.microsoft.com/office/drawing/2014/main" id="{ABD3A26A-9F93-4127-AB8A-85F3D4AF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0173" y="44757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0" name=""/>
          <p:cNvCxnSpPr>
            <a:stCxn xmlns:a="http://schemas.openxmlformats.org/drawingml/2006/main" id="24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5191126" y="3696653"/>
            <a:ext cx="0" cy="77914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C9D9"/>
            </a:solidFill>
            <a:prstDash val="solid"/>
            <a:tailEnd type="none" w="sm" len="sm"/>
          </a:ln>
        </p:spPr>
      </p:cxnSp>
      <p:sp>
        <p:nvSpPr>
          <p:cNvPr id="27" name="point-237">
            <a:extLst xmlns:a="http://schemas.openxmlformats.org/drawingml/2006/main">
              <a:ext uri="{FF2B5EF4-FFF2-40B4-BE49-F238E27FC236}">
                <a16:creationId xmlns:a16="http://schemas.microsoft.com/office/drawing/2014/main" id="{C41739BC-2D27-4CFE-BED3-53482EBC4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0173" y="44757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" name="point-238">
            <a:extLst xmlns:a="http://schemas.openxmlformats.org/drawingml/2006/main">
              <a:ext uri="{FF2B5EF4-FFF2-40B4-BE49-F238E27FC236}">
                <a16:creationId xmlns:a16="http://schemas.microsoft.com/office/drawing/2014/main" id="{7986DD96-D6EA-4E44-9F76-E028FBE6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0723" y="44757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3" name=""/>
          <p:cNvCxnSpPr>
            <a:stCxn xmlns:a="http://schemas.openxmlformats.org/drawingml/2006/main" id="27" idx="1"/>
            <a:endCxn xmlns:a="http://schemas.openxmlformats.org/drawingml/2006/main" id="28" idx="3"/>
          </p:cNvCxnSpPr>
          <p:nvPr/>
        </p:nvCxnSpPr>
        <p:spPr>
          <a:xfrm xmlns:a="http://schemas.openxmlformats.org/drawingml/2006/main" flipH="1">
            <a:off x="1972628" y="4476751"/>
            <a:ext cx="321754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C9D9"/>
            </a:solidFill>
            <a:prstDash val="solid"/>
            <a:tailEnd type="none" w="sm" len="sm"/>
          </a:ln>
        </p:spPr>
      </p:cxnSp>
      <p:sp>
        <p:nvSpPr>
          <p:cNvPr id="30" name="point-239">
            <a:extLst xmlns:a="http://schemas.openxmlformats.org/drawingml/2006/main">
              <a:ext uri="{FF2B5EF4-FFF2-40B4-BE49-F238E27FC236}">
                <a16:creationId xmlns:a16="http://schemas.microsoft.com/office/drawing/2014/main" id="{5FA2BD8F-530A-4D35-96A0-1D7C34BE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0723" y="44757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point-240">
            <a:extLst xmlns:a="http://schemas.openxmlformats.org/drawingml/2006/main">
              <a:ext uri="{FF2B5EF4-FFF2-40B4-BE49-F238E27FC236}">
                <a16:creationId xmlns:a16="http://schemas.microsoft.com/office/drawing/2014/main" id="{6707B4C5-6684-475D-8E40-D3E02961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0723" y="50187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6" name=""/>
          <p:cNvCxnSpPr>
            <a:stCxn xmlns:a="http://schemas.openxmlformats.org/drawingml/2006/main" id="30" idx="2"/>
            <a:endCxn xmlns:a="http://schemas.openxmlformats.org/drawingml/2006/main" id="31" idx="0"/>
          </p:cNvCxnSpPr>
          <p:nvPr/>
        </p:nvCxnSpPr>
        <p:spPr>
          <a:xfrm xmlns:a="http://schemas.openxmlformats.org/drawingml/2006/main">
            <a:off x="1971676" y="4477703"/>
            <a:ext cx="0" cy="54102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C9D9"/>
            </a:solidFill>
            <a:prstDash val="solid"/>
            <a:tailEnd type="arrow" w="sm" len="sm"/>
          </a:ln>
        </p:spPr>
      </p:cxnSp>
      <p:sp>
        <p:nvSpPr>
          <p:cNvPr id="33" name="text-241">
            <a:extLst xmlns:a="http://schemas.openxmlformats.org/drawingml/2006/main">
              <a:ext uri="{FF2B5EF4-FFF2-40B4-BE49-F238E27FC236}">
                <a16:creationId xmlns:a16="http://schemas.microsoft.com/office/drawing/2014/main" id="{C7A530A4-314F-4FAC-A016-5B87795AB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1052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失败 / 重试耗尽</a:t>
            </a:r>
          </a:p>
        </p:txBody>
      </p:sp>
      <p:sp>
        <p:nvSpPr>
          <p:cNvPr id="34" name="point-242">
            <a:extLst xmlns:a="http://schemas.openxmlformats.org/drawingml/2006/main">
              <a:ext uri="{FF2B5EF4-FFF2-40B4-BE49-F238E27FC236}">
                <a16:creationId xmlns:a16="http://schemas.microsoft.com/office/drawing/2014/main" id="{B04181FD-9954-451A-AFD4-19F37A01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298" y="29994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point-243">
            <a:extLst xmlns:a="http://schemas.openxmlformats.org/drawingml/2006/main">
              <a:ext uri="{FF2B5EF4-FFF2-40B4-BE49-F238E27FC236}">
                <a16:creationId xmlns:a16="http://schemas.microsoft.com/office/drawing/2014/main" id="{E647F66F-772A-46E9-A44E-30B6CAFCD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298" y="23421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0" name=""/>
          <p:cNvCxnSpPr>
            <a:stCxn xmlns:a="http://schemas.openxmlformats.org/drawingml/2006/main" id="34" idx="0"/>
            <a:endCxn xmlns:a="http://schemas.openxmlformats.org/drawingml/2006/main" id="35" idx="2"/>
          </p:cNvCxnSpPr>
          <p:nvPr/>
        </p:nvCxnSpPr>
        <p:spPr>
          <a:xfrm xmlns:a="http://schemas.openxmlformats.org/drawingml/2006/main" flipV="1">
            <a:off x="5048251" y="2344103"/>
            <a:ext cx="0" cy="65532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C9D9"/>
            </a:solidFill>
            <a:prstDash val="solid"/>
            <a:tailEnd type="none" w="sm" len="sm"/>
          </a:ln>
        </p:spPr>
      </p:cxnSp>
      <p:sp>
        <p:nvSpPr>
          <p:cNvPr id="37" name="point-244">
            <a:extLst xmlns:a="http://schemas.openxmlformats.org/drawingml/2006/main">
              <a:ext uri="{FF2B5EF4-FFF2-40B4-BE49-F238E27FC236}">
                <a16:creationId xmlns:a16="http://schemas.microsoft.com/office/drawing/2014/main" id="{F276B618-525F-4AC0-8DF1-523B124E7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298" y="23421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" name="point-245">
            <a:extLst xmlns:a="http://schemas.openxmlformats.org/drawingml/2006/main">
              <a:ext uri="{FF2B5EF4-FFF2-40B4-BE49-F238E27FC236}">
                <a16:creationId xmlns:a16="http://schemas.microsoft.com/office/drawing/2014/main" id="{144440B8-911B-4A74-B370-ECE11627B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9298" y="23421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3" name=""/>
          <p:cNvCxnSpPr>
            <a:stCxn xmlns:a="http://schemas.openxmlformats.org/drawingml/2006/main" id="37" idx="1"/>
            <a:endCxn xmlns:a="http://schemas.openxmlformats.org/drawingml/2006/main" id="38" idx="3"/>
          </p:cNvCxnSpPr>
          <p:nvPr/>
        </p:nvCxnSpPr>
        <p:spPr>
          <a:xfrm xmlns:a="http://schemas.openxmlformats.org/drawingml/2006/main" flipH="1">
            <a:off x="2001203" y="2343151"/>
            <a:ext cx="304609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C9D9"/>
            </a:solidFill>
            <a:prstDash val="solid"/>
            <a:tailEnd type="none" w="sm" len="sm"/>
          </a:ln>
        </p:spPr>
      </p:cxnSp>
      <p:sp>
        <p:nvSpPr>
          <p:cNvPr id="40" name="point-246">
            <a:extLst xmlns:a="http://schemas.openxmlformats.org/drawingml/2006/main">
              <a:ext uri="{FF2B5EF4-FFF2-40B4-BE49-F238E27FC236}">
                <a16:creationId xmlns:a16="http://schemas.microsoft.com/office/drawing/2014/main" id="{5D299768-FAAD-4270-852B-D405B34C4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9298" y="23421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point-247">
            <a:extLst xmlns:a="http://schemas.openxmlformats.org/drawingml/2006/main">
              <a:ext uri="{FF2B5EF4-FFF2-40B4-BE49-F238E27FC236}">
                <a16:creationId xmlns:a16="http://schemas.microsoft.com/office/drawing/2014/main" id="{17EBB577-C644-477A-AA6E-05DAC0821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9298" y="29994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6" name=""/>
          <p:cNvCxnSpPr>
            <a:stCxn xmlns:a="http://schemas.openxmlformats.org/drawingml/2006/main" id="40" idx="2"/>
            <a:endCxn xmlns:a="http://schemas.openxmlformats.org/drawingml/2006/main" id="41" idx="0"/>
          </p:cNvCxnSpPr>
          <p:nvPr/>
        </p:nvCxnSpPr>
        <p:spPr>
          <a:xfrm xmlns:a="http://schemas.openxmlformats.org/drawingml/2006/main">
            <a:off x="2000251" y="2344103"/>
            <a:ext cx="0" cy="65532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C9D9"/>
            </a:solidFill>
            <a:prstDash val="solid"/>
            <a:tailEnd type="arrow" w="sm" len="sm"/>
          </a:ln>
        </p:spPr>
      </p:cxnSp>
      <p:sp>
        <p:nvSpPr>
          <p:cNvPr id="43" name="text-248">
            <a:extLst xmlns:a="http://schemas.openxmlformats.org/drawingml/2006/main">
              <a:ext uri="{FF2B5EF4-FFF2-40B4-BE49-F238E27FC236}">
                <a16:creationId xmlns:a16="http://schemas.microsoft.com/office/drawing/2014/main" id="{8EAC0EE9-D06C-42A5-8544-325AE3A68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1971675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retry() [未达上限]</a:t>
            </a:r>
          </a:p>
        </p:txBody>
      </p:sp>
      <p:sp>
        <p:nvSpPr>
          <p:cNvPr id="44" name="point-249">
            <a:extLst xmlns:a="http://schemas.openxmlformats.org/drawingml/2006/main">
              <a:ext uri="{FF2B5EF4-FFF2-40B4-BE49-F238E27FC236}">
                <a16:creationId xmlns:a16="http://schemas.microsoft.com/office/drawing/2014/main" id="{B86A3CD7-8233-416D-8389-5C74A6A6B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5473" y="36947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5" name="point-250">
            <a:extLst xmlns:a="http://schemas.openxmlformats.org/drawingml/2006/main">
              <a:ext uri="{FF2B5EF4-FFF2-40B4-BE49-F238E27FC236}">
                <a16:creationId xmlns:a16="http://schemas.microsoft.com/office/drawing/2014/main" id="{CFCC4261-D2A3-4A19-8AD8-49E00A21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5473" y="50187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0" name=""/>
          <p:cNvCxnSpPr>
            <a:stCxn xmlns:a="http://schemas.openxmlformats.org/drawingml/2006/main" id="44" idx="2"/>
            <a:endCxn xmlns:a="http://schemas.openxmlformats.org/drawingml/2006/main" id="45" idx="0"/>
          </p:cNvCxnSpPr>
          <p:nvPr/>
        </p:nvCxnSpPr>
        <p:spPr>
          <a:xfrm xmlns:a="http://schemas.openxmlformats.org/drawingml/2006/main">
            <a:off x="5686426" y="3696653"/>
            <a:ext cx="0" cy="132207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C9D9"/>
            </a:solidFill>
            <a:prstDash val="solid"/>
            <a:tailEnd type="arrow" w="sm" len="sm"/>
          </a:ln>
        </p:spPr>
      </p:cxnSp>
      <p:sp>
        <p:nvSpPr>
          <p:cNvPr id="47" name="text-251">
            <a:extLst xmlns:a="http://schemas.openxmlformats.org/drawingml/2006/main">
              <a:ext uri="{FF2B5EF4-FFF2-40B4-BE49-F238E27FC236}">
                <a16:creationId xmlns:a16="http://schemas.microsoft.com/office/drawing/2014/main" id="{20C5BFB5-5D14-4FBB-BCFB-E6B9F5511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257675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cancel()</a:t>
            </a:r>
          </a:p>
        </p:txBody>
      </p:sp>
      <p:sp>
        <p:nvSpPr>
          <p:cNvPr id="48" name="point-252">
            <a:extLst xmlns:a="http://schemas.openxmlformats.org/drawingml/2006/main">
              <a:ext uri="{FF2B5EF4-FFF2-40B4-BE49-F238E27FC236}">
                <a16:creationId xmlns:a16="http://schemas.microsoft.com/office/drawing/2014/main" id="{A985211D-CB61-48C0-AE38-90E7A0DA7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4173" y="53616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" name="point-253">
            <a:extLst xmlns:a="http://schemas.openxmlformats.org/drawingml/2006/main">
              <a:ext uri="{FF2B5EF4-FFF2-40B4-BE49-F238E27FC236}">
                <a16:creationId xmlns:a16="http://schemas.microsoft.com/office/drawing/2014/main" id="{30F22005-BCB1-4CDF-9F75-6F9B8DFE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1173" y="53616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4" name=""/>
          <p:cNvCxnSpPr>
            <a:stCxn xmlns:a="http://schemas.openxmlformats.org/drawingml/2006/main" id="48" idx="3"/>
            <a:endCxn xmlns:a="http://schemas.openxmlformats.org/drawingml/2006/main" id="49" idx="1"/>
          </p:cNvCxnSpPr>
          <p:nvPr/>
        </p:nvCxnSpPr>
        <p:spPr>
          <a:xfrm xmlns:a="http://schemas.openxmlformats.org/drawingml/2006/main">
            <a:off x="6716078" y="5362576"/>
            <a:ext cx="266509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C9D9"/>
            </a:solidFill>
            <a:prstDash val="solid"/>
            <a:tailEnd type="arrow" w="sm" len="sm"/>
          </a:ln>
        </p:spPr>
      </p:cxnSp>
      <p:sp>
        <p:nvSpPr>
          <p:cNvPr id="51" name="text-254">
            <a:extLst xmlns:a="http://schemas.openxmlformats.org/drawingml/2006/main">
              <a:ext uri="{FF2B5EF4-FFF2-40B4-BE49-F238E27FC236}">
                <a16:creationId xmlns:a16="http://schemas.microsoft.com/office/drawing/2014/main" id="{65C27BA1-20E8-4236-A7CF-AFE780F2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543550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acknowledgeCancel()</a:t>
            </a:r>
          </a:p>
        </p:txBody>
      </p:sp>
      <p:sp>
        <p:nvSpPr>
          <p:cNvPr id="52" name="point-255">
            <a:extLst xmlns:a="http://schemas.openxmlformats.org/drawingml/2006/main">
              <a:ext uri="{FF2B5EF4-FFF2-40B4-BE49-F238E27FC236}">
                <a16:creationId xmlns:a16="http://schemas.microsoft.com/office/drawing/2014/main" id="{8EFEA0D2-8B11-4183-925B-D56294A1A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8" y="34756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" name="point-256">
            <a:extLst xmlns:a="http://schemas.openxmlformats.org/drawingml/2006/main">
              <a:ext uri="{FF2B5EF4-FFF2-40B4-BE49-F238E27FC236}">
                <a16:creationId xmlns:a16="http://schemas.microsoft.com/office/drawing/2014/main" id="{34039F75-C9C5-46F7-A3A2-B07ED26BC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8" y="34756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8" name=""/>
          <p:cNvCxnSpPr>
            <a:stCxn xmlns:a="http://schemas.openxmlformats.org/drawingml/2006/main" id="52" idx="1"/>
            <a:endCxn xmlns:a="http://schemas.openxmlformats.org/drawingml/2006/main" id="53" idx="3"/>
          </p:cNvCxnSpPr>
          <p:nvPr/>
        </p:nvCxnSpPr>
        <p:spPr>
          <a:xfrm xmlns:a="http://schemas.openxmlformats.org/drawingml/2006/main" flipH="1">
            <a:off x="743903" y="3476626"/>
            <a:ext cx="20764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C9D9"/>
            </a:solidFill>
            <a:prstDash val="solid"/>
            <a:tailEnd type="none" w="sm" len="sm"/>
          </a:ln>
        </p:spPr>
      </p:cxnSp>
      <p:sp>
        <p:nvSpPr>
          <p:cNvPr id="55" name="point-257">
            <a:extLst xmlns:a="http://schemas.openxmlformats.org/drawingml/2006/main">
              <a:ext uri="{FF2B5EF4-FFF2-40B4-BE49-F238E27FC236}">
                <a16:creationId xmlns:a16="http://schemas.microsoft.com/office/drawing/2014/main" id="{9A50E016-AFED-440E-A8A9-FF683B2B7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8" y="34756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6" name="point-258">
            <a:extLst xmlns:a="http://schemas.openxmlformats.org/drawingml/2006/main">
              <a:ext uri="{FF2B5EF4-FFF2-40B4-BE49-F238E27FC236}">
                <a16:creationId xmlns:a16="http://schemas.microsoft.com/office/drawing/2014/main" id="{3D8B06DD-FE6A-4AA1-86A3-BA6C240E4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8" y="5990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1" name=""/>
          <p:cNvCxnSpPr>
            <a:stCxn xmlns:a="http://schemas.openxmlformats.org/drawingml/2006/main" id="55" idx="2"/>
            <a:endCxn xmlns:a="http://schemas.openxmlformats.org/drawingml/2006/main" id="56" idx="0"/>
          </p:cNvCxnSpPr>
          <p:nvPr/>
        </p:nvCxnSpPr>
        <p:spPr>
          <a:xfrm xmlns:a="http://schemas.openxmlformats.org/drawingml/2006/main">
            <a:off x="742951" y="3477578"/>
            <a:ext cx="0" cy="25126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C9D9"/>
            </a:solidFill>
            <a:prstDash val="solid"/>
            <a:tailEnd type="none" w="sm" len="sm"/>
          </a:ln>
        </p:spPr>
      </p:cxnSp>
      <p:sp>
        <p:nvSpPr>
          <p:cNvPr id="58" name="point-259">
            <a:extLst xmlns:a="http://schemas.openxmlformats.org/drawingml/2006/main">
              <a:ext uri="{FF2B5EF4-FFF2-40B4-BE49-F238E27FC236}">
                <a16:creationId xmlns:a16="http://schemas.microsoft.com/office/drawing/2014/main" id="{839C7BCE-D2B0-4448-BFF0-D18B6F011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8" y="5990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" name="point-260">
            <a:extLst xmlns:a="http://schemas.openxmlformats.org/drawingml/2006/main">
              <a:ext uri="{FF2B5EF4-FFF2-40B4-BE49-F238E27FC236}">
                <a16:creationId xmlns:a16="http://schemas.microsoft.com/office/drawing/2014/main" id="{E2EDE577-7EAC-47AB-8D3C-8425E1A1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6048" y="5990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4" name=""/>
          <p:cNvCxnSpPr>
            <a:stCxn xmlns:a="http://schemas.openxmlformats.org/drawingml/2006/main" id="58" idx="3"/>
            <a:endCxn xmlns:a="http://schemas.openxmlformats.org/drawingml/2006/main" id="59" idx="1"/>
          </p:cNvCxnSpPr>
          <p:nvPr/>
        </p:nvCxnSpPr>
        <p:spPr>
          <a:xfrm xmlns:a="http://schemas.openxmlformats.org/drawingml/2006/main">
            <a:off x="743903" y="5991226"/>
            <a:ext cx="954214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C9D9"/>
            </a:solidFill>
            <a:prstDash val="solid"/>
            <a:tailEnd type="none" w="sm" len="sm"/>
          </a:ln>
        </p:spPr>
      </p:cxnSp>
      <p:sp>
        <p:nvSpPr>
          <p:cNvPr id="61" name="point-261">
            <a:extLst xmlns:a="http://schemas.openxmlformats.org/drawingml/2006/main">
              <a:ext uri="{FF2B5EF4-FFF2-40B4-BE49-F238E27FC236}">
                <a16:creationId xmlns:a16="http://schemas.microsoft.com/office/drawing/2014/main" id="{C3882062-0054-4708-871C-8D80E5D88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6048" y="5990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" name="point-262">
            <a:extLst xmlns:a="http://schemas.openxmlformats.org/drawingml/2006/main">
              <a:ext uri="{FF2B5EF4-FFF2-40B4-BE49-F238E27FC236}">
                <a16:creationId xmlns:a16="http://schemas.microsoft.com/office/drawing/2014/main" id="{FD1B9321-C1E6-40C1-862E-3157A1529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6048" y="57140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7" name=""/>
          <p:cNvCxnSpPr>
            <a:stCxn xmlns:a="http://schemas.openxmlformats.org/drawingml/2006/main" id="61" idx="0"/>
            <a:endCxn xmlns:a="http://schemas.openxmlformats.org/drawingml/2006/main" id="62" idx="2"/>
          </p:cNvCxnSpPr>
          <p:nvPr/>
        </p:nvCxnSpPr>
        <p:spPr>
          <a:xfrm xmlns:a="http://schemas.openxmlformats.org/drawingml/2006/main" flipV="1">
            <a:off x="10287001" y="5715953"/>
            <a:ext cx="0" cy="27432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C9D9"/>
            </a:solidFill>
            <a:prstDash val="solid"/>
            <a:tailEnd type="arrow" w="sm" len="sm"/>
          </a:ln>
        </p:spPr>
      </p:cxnSp>
      <p:sp>
        <p:nvSpPr>
          <p:cNvPr id="64" name="text-263">
            <a:extLst xmlns:a="http://schemas.openxmlformats.org/drawingml/2006/main">
              <a:ext uri="{FF2B5EF4-FFF2-40B4-BE49-F238E27FC236}">
                <a16:creationId xmlns:a16="http://schemas.microsoft.com/office/drawing/2014/main" id="{AA35D124-F091-42D6-8753-695FF398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7340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等待中直接 cancel()</a:t>
            </a:r>
          </a:p>
        </p:txBody>
      </p:sp>
      <p:sp>
        <p:nvSpPr>
          <p:cNvPr id="65" name="point-264">
            <a:extLst xmlns:a="http://schemas.openxmlformats.org/drawingml/2006/main">
              <a:ext uri="{FF2B5EF4-FFF2-40B4-BE49-F238E27FC236}">
                <a16:creationId xmlns:a16="http://schemas.microsoft.com/office/drawing/2014/main" id="{6E5D33CF-40A6-47A8-A52E-4C5CE484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4173" y="51425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6" name="point-265">
            <a:extLst xmlns:a="http://schemas.openxmlformats.org/drawingml/2006/main">
              <a:ext uri="{FF2B5EF4-FFF2-40B4-BE49-F238E27FC236}">
                <a16:creationId xmlns:a16="http://schemas.microsoft.com/office/drawing/2014/main" id="{D633CE10-96E9-4FC7-8E2A-43FEC13FE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4423" y="51425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1" name=""/>
          <p:cNvCxnSpPr>
            <a:stCxn xmlns:a="http://schemas.openxmlformats.org/drawingml/2006/main" id="65" idx="3"/>
            <a:endCxn xmlns:a="http://schemas.openxmlformats.org/drawingml/2006/main" id="66" idx="1"/>
          </p:cNvCxnSpPr>
          <p:nvPr/>
        </p:nvCxnSpPr>
        <p:spPr>
          <a:xfrm xmlns:a="http://schemas.openxmlformats.org/drawingml/2006/main">
            <a:off x="6716078" y="5143501"/>
            <a:ext cx="199834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C9D9"/>
            </a:solidFill>
            <a:prstDash val="dash"/>
            <a:tailEnd type="none" w="sm" len="sm"/>
          </a:ln>
        </p:spPr>
      </p:cxnSp>
      <p:sp>
        <p:nvSpPr>
          <p:cNvPr id="68" name="point-266">
            <a:extLst xmlns:a="http://schemas.openxmlformats.org/drawingml/2006/main">
              <a:ext uri="{FF2B5EF4-FFF2-40B4-BE49-F238E27FC236}">
                <a16:creationId xmlns:a16="http://schemas.microsoft.com/office/drawing/2014/main" id="{3A94B793-1C0D-486C-A0A7-FDC25397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4423" y="51425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9" name="point-267">
            <a:extLst xmlns:a="http://schemas.openxmlformats.org/drawingml/2006/main">
              <a:ext uri="{FF2B5EF4-FFF2-40B4-BE49-F238E27FC236}">
                <a16:creationId xmlns:a16="http://schemas.microsoft.com/office/drawing/2014/main" id="{A0ADE4EF-607A-4692-ADD9-2D1A9CAD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4423" y="22564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4" name=""/>
          <p:cNvCxnSpPr>
            <a:stCxn xmlns:a="http://schemas.openxmlformats.org/drawingml/2006/main" id="68" idx="0"/>
            <a:endCxn xmlns:a="http://schemas.openxmlformats.org/drawingml/2006/main" id="69" idx="2"/>
          </p:cNvCxnSpPr>
          <p:nvPr/>
        </p:nvCxnSpPr>
        <p:spPr>
          <a:xfrm xmlns:a="http://schemas.openxmlformats.org/drawingml/2006/main" flipV="1">
            <a:off x="8715376" y="2258378"/>
            <a:ext cx="0" cy="288417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C9D9"/>
            </a:solidFill>
            <a:prstDash val="dash"/>
            <a:tailEnd type="none" w="sm" len="sm"/>
          </a:ln>
        </p:spPr>
      </p:cxnSp>
      <p:sp>
        <p:nvSpPr>
          <p:cNvPr id="71" name="point-268">
            <a:extLst xmlns:a="http://schemas.openxmlformats.org/drawingml/2006/main">
              <a:ext uri="{FF2B5EF4-FFF2-40B4-BE49-F238E27FC236}">
                <a16:creationId xmlns:a16="http://schemas.microsoft.com/office/drawing/2014/main" id="{C515F70F-B486-4934-A1B4-E2EA3206C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4423" y="22564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2" name="point-269">
            <a:extLst xmlns:a="http://schemas.openxmlformats.org/drawingml/2006/main">
              <a:ext uri="{FF2B5EF4-FFF2-40B4-BE49-F238E27FC236}">
                <a16:creationId xmlns:a16="http://schemas.microsoft.com/office/drawing/2014/main" id="{1BCED130-E1DC-42EC-A40F-322A2F65D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1173" y="22564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7" name=""/>
          <p:cNvCxnSpPr>
            <a:stCxn xmlns:a="http://schemas.openxmlformats.org/drawingml/2006/main" id="71" idx="3"/>
            <a:endCxn xmlns:a="http://schemas.openxmlformats.org/drawingml/2006/main" id="72" idx="1"/>
          </p:cNvCxnSpPr>
          <p:nvPr/>
        </p:nvCxnSpPr>
        <p:spPr>
          <a:xfrm xmlns:a="http://schemas.openxmlformats.org/drawingml/2006/main">
            <a:off x="8716328" y="2257426"/>
            <a:ext cx="66484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C9D9"/>
            </a:solidFill>
            <a:prstDash val="dash"/>
            <a:tailEnd type="arrow" w="sm" len="sm"/>
          </a:ln>
        </p:spPr>
      </p:cxnSp>
      <p:sp>
        <p:nvSpPr>
          <p:cNvPr id="74" name="text-270">
            <a:extLst xmlns:a="http://schemas.openxmlformats.org/drawingml/2006/main">
              <a:ext uri="{FF2B5EF4-FFF2-40B4-BE49-F238E27FC236}">
                <a16:creationId xmlns:a16="http://schemas.microsoft.com/office/drawing/2014/main" id="{BB452EEB-3260-47D4-93F0-C378F314B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95550"/>
            <a:ext cx="1866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877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6877E"/>
                </a:solidFill>
                <a:latin typeface="Hiragino Sans GB"/>
                <a:ea typeface="Hiragino Sans GB"/>
                <a:cs typeface="Hiragino Sans GB"/>
              </a:rPr>
              <a:t>取消期间确认输出</a:t>
            </a:r>
          </a:p>
          <a:p xmlns:a="http://schemas.openxmlformats.org/drawingml/2006/main">
            <a:pPr algn="l">
              <a:defRPr sz="1350" b="0">
                <a:solidFill>
                  <a:srgbClr val="16877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6877E"/>
                </a:solidFill>
                <a:latin typeface="Hiragino Sans GB"/>
                <a:ea typeface="Hiragino Sans GB"/>
                <a:cs typeface="Hiragino Sans GB"/>
              </a:rPr>
              <a:t>成功完成仍可生效</a:t>
            </a:r>
          </a:p>
        </p:txBody>
      </p:sp>
    </p:spTree>
    <p:extLst>
      <p:ext uri="{BB962C8B-B14F-4D97-AF65-F5344CB8AC3E}">
        <p14:creationId xmlns:p14="http://schemas.microsoft.com/office/powerpoint/2010/main" val="8879322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271">
            <a:extLst xmlns:a="http://schemas.openxmlformats.org/drawingml/2006/main">
              <a:ext uri="{FF2B5EF4-FFF2-40B4-BE49-F238E27FC236}">
                <a16:creationId xmlns:a16="http://schemas.microsoft.com/office/drawing/2014/main" id="{919A525F-DD4E-4DEE-BBAD-A70F62DDC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操作系统原理在项目中的应用</a:t>
            </a:r>
          </a:p>
        </p:txBody>
      </p:sp>
      <p:sp>
        <p:nvSpPr>
          <p:cNvPr id="2" name="text-272">
            <a:extLst xmlns:a="http://schemas.openxmlformats.org/drawingml/2006/main">
              <a:ext uri="{FF2B5EF4-FFF2-40B4-BE49-F238E27FC236}">
                <a16:creationId xmlns:a16="http://schemas.microsoft.com/office/drawing/2014/main" id="{B95E1D71-5082-4A4A-946E-49DAD74C7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98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377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78B"/>
                </a:solidFill>
                <a:latin typeface="Hiragino Sans GB"/>
                <a:ea typeface="Hiragino Sans GB"/>
                <a:cs typeface="Hiragino Sans GB"/>
              </a:rPr>
              <a:t>10</a:t>
            </a:r>
          </a:p>
        </p:txBody>
      </p:sp>
      <p:sp>
        <p:nvSpPr>
          <p:cNvPr id="3" name="text-273">
            <a:extLst xmlns:a="http://schemas.openxmlformats.org/drawingml/2006/main">
              <a:ext uri="{FF2B5EF4-FFF2-40B4-BE49-F238E27FC236}">
                <a16:creationId xmlns:a16="http://schemas.microsoft.com/office/drawing/2014/main" id="{09B932BE-E2C2-4D66-8DC8-C1E9C3B4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57325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45EA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45EA7"/>
                </a:solidFill>
                <a:latin typeface="Hiragino Sans GB"/>
                <a:ea typeface="Hiragino Sans GB"/>
                <a:cs typeface="Hiragino Sans GB"/>
              </a:rPr>
              <a:t>调度与互斥</a:t>
            </a:r>
          </a:p>
        </p:txBody>
      </p:sp>
      <p:sp>
        <p:nvSpPr>
          <p:cNvPr id="4" name="text-274">
            <a:extLst xmlns:a="http://schemas.openxmlformats.org/drawingml/2006/main">
              <a:ext uri="{FF2B5EF4-FFF2-40B4-BE49-F238E27FC236}">
                <a16:creationId xmlns:a16="http://schemas.microsoft.com/office/drawing/2014/main" id="{4E27E0B6-FC0E-4E19-9D56-E0B8FAB2E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457325"/>
            <a:ext cx="800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非抢占策略选择，std::mutex 保证领取与状态更新原子化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8749C0-7610-4189-B0AA-4853E7F66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95525"/>
            <a:ext cx="1095375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7C9D9"/>
            </a:solidFill>
          </a:ln>
        </p:spPr>
      </p:sp>
      <p:sp>
        <p:nvSpPr>
          <p:cNvPr id="6" name="text-275">
            <a:extLst xmlns:a="http://schemas.openxmlformats.org/drawingml/2006/main">
              <a:ext uri="{FF2B5EF4-FFF2-40B4-BE49-F238E27FC236}">
                <a16:creationId xmlns:a16="http://schemas.microsoft.com/office/drawing/2014/main" id="{67C2CF93-FBB1-41FA-BC05-FA9BFE21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336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6877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6877E"/>
                </a:solidFill>
                <a:latin typeface="Hiragino Sans GB"/>
                <a:ea typeface="Hiragino Sans GB"/>
                <a:cs typeface="Hiragino Sans GB"/>
              </a:rPr>
              <a:t>多进程与 IPC</a:t>
            </a:r>
          </a:p>
        </p:txBody>
      </p:sp>
      <p:sp>
        <p:nvSpPr>
          <p:cNvPr id="7" name="text-276">
            <a:extLst xmlns:a="http://schemas.openxmlformats.org/drawingml/2006/main">
              <a:ext uri="{FF2B5EF4-FFF2-40B4-BE49-F238E27FC236}">
                <a16:creationId xmlns:a16="http://schemas.microsoft.com/office/drawing/2014/main" id="{2932D313-C63D-4C5C-9FEE-77133B604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33650"/>
            <a:ext cx="800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独立 coordinator / supervisor / worker，JSONL 消息分帧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9BDE52-9EC8-4D8B-A9F8-A4B46E27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71850"/>
            <a:ext cx="1095375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7C9D9"/>
            </a:solidFill>
          </a:ln>
        </p:spPr>
      </p:sp>
      <p:sp>
        <p:nvSpPr>
          <p:cNvPr id="9" name="text-277">
            <a:extLst xmlns:a="http://schemas.openxmlformats.org/drawingml/2006/main">
              <a:ext uri="{FF2B5EF4-FFF2-40B4-BE49-F238E27FC236}">
                <a16:creationId xmlns:a16="http://schemas.microsoft.com/office/drawing/2014/main" id="{EB216DC5-6BAA-402E-B902-0472E0A55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09975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45EA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45EA7"/>
                </a:solidFill>
                <a:latin typeface="Hiragino Sans GB"/>
                <a:ea typeface="Hiragino Sans GB"/>
                <a:cs typeface="Hiragino Sans GB"/>
              </a:rPr>
              <a:t>守护与恢复</a:t>
            </a:r>
          </a:p>
        </p:txBody>
      </p:sp>
      <p:sp>
        <p:nvSpPr>
          <p:cNvPr id="10" name="text-278">
            <a:extLst xmlns:a="http://schemas.openxmlformats.org/drawingml/2006/main">
              <a:ext uri="{FF2B5EF4-FFF2-40B4-BE49-F238E27FC236}">
                <a16:creationId xmlns:a16="http://schemas.microsoft.com/office/drawing/2014/main" id="{33F15126-00DE-4D1F-BD8E-83DB163DD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09975"/>
            <a:ext cx="800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POSIX 脱离终端，监督异常执行，有限重试与重启对账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BFF927-C821-493C-AB2B-4ABBCE4D6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48175"/>
            <a:ext cx="1095375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7C9D9"/>
            </a:solidFill>
          </a:ln>
        </p:spPr>
      </p:sp>
      <p:sp>
        <p:nvSpPr>
          <p:cNvPr id="12" name="text-279">
            <a:extLst xmlns:a="http://schemas.openxmlformats.org/drawingml/2006/main">
              <a:ext uri="{FF2B5EF4-FFF2-40B4-BE49-F238E27FC236}">
                <a16:creationId xmlns:a16="http://schemas.microsoft.com/office/drawing/2014/main" id="{8DC0AE31-B881-47E5-8A3D-4EE0B639E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8630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6877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6877E"/>
                </a:solidFill>
                <a:latin typeface="Hiragino Sans GB"/>
                <a:ea typeface="Hiragino Sans GB"/>
                <a:cs typeface="Hiragino Sans GB"/>
              </a:rPr>
              <a:t>文件 I/O 与锁</a:t>
            </a:r>
          </a:p>
        </p:txBody>
      </p:sp>
      <p:sp>
        <p:nvSpPr>
          <p:cNvPr id="13" name="text-280">
            <a:extLst xmlns:a="http://schemas.openxmlformats.org/drawingml/2006/main">
              <a:ext uri="{FF2B5EF4-FFF2-40B4-BE49-F238E27FC236}">
                <a16:creationId xmlns:a16="http://schemas.microsoft.com/office/drawing/2014/main" id="{19282BBA-064D-4A8E-BA8E-4599939C9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86300"/>
            <a:ext cx="800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QLockFile 防重复实例，QSaveFile 原子更新状态与输出</a:t>
            </a:r>
          </a:p>
        </p:txBody>
      </p:sp>
      <p:sp>
        <p:nvSpPr>
          <p:cNvPr id="14" name="text-281">
            <a:extLst xmlns:a="http://schemas.openxmlformats.org/drawingml/2006/main">
              <a:ext uri="{FF2B5EF4-FFF2-40B4-BE49-F238E27FC236}">
                <a16:creationId xmlns:a16="http://schemas.microsoft.com/office/drawing/2014/main" id="{E28A4061-8E92-4F79-9B68-6537EDC61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91225"/>
            <a:ext cx="1085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377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63778B"/>
                </a:solidFill>
                <a:latin typeface="Hiragino Sans GB"/>
                <a:ea typeface="Hiragino Sans GB"/>
                <a:cs typeface="Hiragino Sans GB"/>
              </a:rPr>
              <a:t>跨平台：Windows 前台监督；macOS / Linux 演示传统 daemon</a:t>
            </a:r>
          </a:p>
        </p:txBody>
      </p:sp>
    </p:spTree>
    <p:extLst>
      <p:ext uri="{BB962C8B-B14F-4D97-AF65-F5344CB8AC3E}">
        <p14:creationId xmlns:p14="http://schemas.microsoft.com/office/powerpoint/2010/main" val="128218593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text-282">
            <a:extLst xmlns:a="http://schemas.openxmlformats.org/drawingml/2006/main">
              <a:ext uri="{FF2B5EF4-FFF2-40B4-BE49-F238E27FC236}">
                <a16:creationId xmlns:a16="http://schemas.microsoft.com/office/drawing/2014/main" id="{53CA093E-8E92-4D56-B3BC-403F4617D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原型工具与界面流程</a:t>
            </a:r>
          </a:p>
        </p:txBody>
      </p:sp>
      <p:sp>
        <p:nvSpPr>
          <p:cNvPr id="2" name="text-283">
            <a:extLst xmlns:a="http://schemas.openxmlformats.org/drawingml/2006/main">
              <a:ext uri="{FF2B5EF4-FFF2-40B4-BE49-F238E27FC236}">
                <a16:creationId xmlns:a16="http://schemas.microsoft.com/office/drawing/2014/main" id="{74C602A8-87C1-4BF6-B4B6-4843FE94C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98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377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78B"/>
                </a:solidFill>
                <a:latin typeface="Hiragino Sans GB"/>
                <a:ea typeface="Hiragino Sans GB"/>
                <a:cs typeface="Hiragino Sans GB"/>
              </a:rPr>
              <a:t>11</a:t>
            </a:r>
          </a:p>
        </p:txBody>
      </p:sp>
      <p:sp>
        <p:nvSpPr>
          <p:cNvPr id="3" name="text-284">
            <a:extLst xmlns:a="http://schemas.openxmlformats.org/drawingml/2006/main">
              <a:ext uri="{FF2B5EF4-FFF2-40B4-BE49-F238E27FC236}">
                <a16:creationId xmlns:a16="http://schemas.microsoft.com/office/drawing/2014/main" id="{9D861D96-83AE-48CF-9494-20A0D3DD9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85875"/>
            <a:ext cx="10953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45EA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245EA7"/>
                </a:solidFill>
                <a:latin typeface="Hiragino Sans GB"/>
                <a:ea typeface="Hiragino Sans GB"/>
                <a:cs typeface="Hiragino Sans GB"/>
              </a:rPr>
              <a:t>先确认页面怎么用，再核对后台接口如何支撑交互</a:t>
            </a:r>
          </a:p>
        </p:txBody>
      </p:sp>
      <p:sp>
        <p:nvSpPr>
          <p:cNvPr id="4" name="wireframe-queue">
            <a:extLst xmlns:a="http://schemas.openxmlformats.org/drawingml/2006/main">
              <a:ext uri="{FF2B5EF4-FFF2-40B4-BE49-F238E27FC236}">
                <a16:creationId xmlns:a16="http://schemas.microsoft.com/office/drawing/2014/main" id="{356A9442-73BA-49F6-8631-2511294EA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99335"/>
            <a:ext cx="2733675" cy="31632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14288">
            <a:solidFill>
              <a:srgbClr val="B7C9D9"/>
            </a:solidFill>
          </a:ln>
        </p:spPr>
      </p:sp>
      <p:sp>
        <p:nvSpPr>
          <p:cNvPr id="5" name="text-285">
            <a:extLst xmlns:a="http://schemas.openxmlformats.org/drawingml/2006/main">
              <a:ext uri="{FF2B5EF4-FFF2-40B4-BE49-F238E27FC236}">
                <a16:creationId xmlns:a16="http://schemas.microsoft.com/office/drawing/2014/main" id="{9908CC8E-4412-467E-8CFC-52EA4FE5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8" y="2393061"/>
            <a:ext cx="2499360" cy="2811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99" b="1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99" b="1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打印队列</a:t>
            </a:r>
          </a:p>
        </p:txBody>
      </p:sp>
      <p:sp>
        <p:nvSpPr>
          <p:cNvPr id="6" name="text-286">
            <a:extLst xmlns:a="http://schemas.openxmlformats.org/drawingml/2006/main">
              <a:ext uri="{FF2B5EF4-FFF2-40B4-BE49-F238E27FC236}">
                <a16:creationId xmlns:a16="http://schemas.microsoft.com/office/drawing/2014/main" id="{D4F73B9B-BCD4-4DFE-8792-37A5DB49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8" y="2846070"/>
            <a:ext cx="2499360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3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3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设备 A：打印中</a:t>
            </a:r>
          </a:p>
          <a:p xmlns:a="http://schemas.openxmlformats.org/drawingml/2006/main">
            <a:pPr algn="l">
              <a:defRPr sz="1353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3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设备 B：打印中</a:t>
            </a:r>
          </a:p>
        </p:txBody>
      </p:sp>
      <p:sp>
        <p:nvSpPr>
          <p:cNvPr id="7" name="wireframe-new">
            <a:extLst xmlns:a="http://schemas.openxmlformats.org/drawingml/2006/main">
              <a:ext uri="{FF2B5EF4-FFF2-40B4-BE49-F238E27FC236}">
                <a16:creationId xmlns:a16="http://schemas.microsoft.com/office/drawing/2014/main" id="{51CDDD30-0A1B-4E62-AA70-A06BAF02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8" y="3439668"/>
            <a:ext cx="2499360" cy="3592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EA7"/>
          </a:solidFill>
          <a:ln xmlns:a="http://schemas.openxmlformats.org/drawingml/2006/main" w="14288">
            <a:solidFill>
              <a:srgbClr val="B7C9D9"/>
            </a:solidFill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1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1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提交任务</a:t>
            </a:r>
          </a:p>
        </p:txBody>
      </p:sp>
      <p:sp>
        <p:nvSpPr>
          <p:cNvPr id="8" name="text-287">
            <a:extLst xmlns:a="http://schemas.openxmlformats.org/drawingml/2006/main">
              <a:ext uri="{FF2B5EF4-FFF2-40B4-BE49-F238E27FC236}">
                <a16:creationId xmlns:a16="http://schemas.microsoft.com/office/drawing/2014/main" id="{D27E76E8-74AA-4C1E-BDCB-D203538E5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8" y="3994213"/>
            <a:ext cx="2499360" cy="937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1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1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任务列表</a:t>
            </a:r>
          </a:p>
          <a:p xmlns:a="http://schemas.openxmlformats.org/drawingml/2006/main">
            <a:pPr algn="l">
              <a:defRPr sz="141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1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名称 / 状态 / 进度</a:t>
            </a:r>
          </a:p>
          <a:p xmlns:a="http://schemas.openxmlformats.org/drawingml/2006/main">
            <a:pPr algn="l">
              <a:defRPr sz="141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1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详情 / 取消</a:t>
            </a:r>
          </a:p>
        </p:txBody>
      </p:sp>
      <p:sp>
        <p:nvSpPr>
          <p:cNvPr id="9" name="wireframe-form">
            <a:extLst xmlns:a="http://schemas.openxmlformats.org/drawingml/2006/main">
              <a:ext uri="{FF2B5EF4-FFF2-40B4-BE49-F238E27FC236}">
                <a16:creationId xmlns:a16="http://schemas.microsoft.com/office/drawing/2014/main" id="{6D87AF84-F15D-4110-BD6C-4F40FEAD4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4752" y="2299335"/>
            <a:ext cx="2733675" cy="31632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14288">
            <a:solidFill>
              <a:srgbClr val="B7C9D9"/>
            </a:solidFill>
          </a:ln>
        </p:spPr>
      </p:sp>
      <p:sp>
        <p:nvSpPr>
          <p:cNvPr id="10" name="text-288">
            <a:extLst xmlns:a="http://schemas.openxmlformats.org/drawingml/2006/main">
              <a:ext uri="{FF2B5EF4-FFF2-40B4-BE49-F238E27FC236}">
                <a16:creationId xmlns:a16="http://schemas.microsoft.com/office/drawing/2014/main" id="{7FFB5542-F6FC-43F5-A534-AEC09E05E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0963" y="2393061"/>
            <a:ext cx="2421255" cy="2811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99" b="1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99" b="1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提交任务</a:t>
            </a:r>
          </a:p>
        </p:txBody>
      </p:sp>
      <p:sp>
        <p:nvSpPr>
          <p:cNvPr id="11" name="wireframe-field105">
            <a:extLst xmlns:a="http://schemas.openxmlformats.org/drawingml/2006/main">
              <a:ext uri="{FF2B5EF4-FFF2-40B4-BE49-F238E27FC236}">
                <a16:creationId xmlns:a16="http://schemas.microsoft.com/office/drawing/2014/main" id="{A2A73F1D-7AE7-4445-A47E-C7C12FDB0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0963" y="2963228"/>
            <a:ext cx="2421255" cy="3670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9D9"/>
            </a:solidFill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3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3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任务名称</a:t>
            </a:r>
          </a:p>
        </p:txBody>
      </p:sp>
      <p:sp>
        <p:nvSpPr>
          <p:cNvPr id="12" name="wireframe-field179">
            <a:extLst xmlns:a="http://schemas.openxmlformats.org/drawingml/2006/main">
              <a:ext uri="{FF2B5EF4-FFF2-40B4-BE49-F238E27FC236}">
                <a16:creationId xmlns:a16="http://schemas.microsoft.com/office/drawing/2014/main" id="{DBFD9AD6-108B-4815-BA59-E11454B95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0963" y="3541204"/>
            <a:ext cx="2421255" cy="3670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9D9"/>
            </a:solidFill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3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3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页数 / 份数</a:t>
            </a:r>
          </a:p>
        </p:txBody>
      </p:sp>
      <p:sp>
        <p:nvSpPr>
          <p:cNvPr id="13" name="wireframe-field253">
            <a:extLst xmlns:a="http://schemas.openxmlformats.org/drawingml/2006/main">
              <a:ext uri="{FF2B5EF4-FFF2-40B4-BE49-F238E27FC236}">
                <a16:creationId xmlns:a16="http://schemas.microsoft.com/office/drawing/2014/main" id="{F1812D8B-AD95-4031-B71E-EA089197F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0963" y="4119182"/>
            <a:ext cx="2421255" cy="3670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9D9"/>
            </a:solidFill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3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3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优先级</a:t>
            </a:r>
          </a:p>
        </p:txBody>
      </p:sp>
      <p:sp>
        <p:nvSpPr>
          <p:cNvPr id="14" name="wireframe-send">
            <a:extLst xmlns:a="http://schemas.openxmlformats.org/drawingml/2006/main">
              <a:ext uri="{FF2B5EF4-FFF2-40B4-BE49-F238E27FC236}">
                <a16:creationId xmlns:a16="http://schemas.microsoft.com/office/drawing/2014/main" id="{580134E4-EE51-4127-AB3D-92FAFEC1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0963" y="4845558"/>
            <a:ext cx="2421255" cy="3670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EA7"/>
          </a:solidFill>
          <a:ln xmlns:a="http://schemas.openxmlformats.org/drawingml/2006/main" w="14288">
            <a:solidFill>
              <a:srgbClr val="B7C9D9"/>
            </a:solidFill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1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1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确认提交</a:t>
            </a:r>
          </a:p>
        </p:txBody>
      </p:sp>
      <p:sp>
        <p:nvSpPr>
          <p:cNvPr id="15" name="wireframe-confirm">
            <a:extLst xmlns:a="http://schemas.openxmlformats.org/drawingml/2006/main">
              <a:ext uri="{FF2B5EF4-FFF2-40B4-BE49-F238E27FC236}">
                <a16:creationId xmlns:a16="http://schemas.microsoft.com/office/drawing/2014/main" id="{55E9B23E-75AC-4BD7-B36C-13272B116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8005" y="2924175"/>
            <a:ext cx="2733675" cy="1921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14288">
            <a:solidFill>
              <a:srgbClr val="B7C9D9"/>
            </a:solidFill>
          </a:ln>
        </p:spPr>
      </p:sp>
      <p:sp>
        <p:nvSpPr>
          <p:cNvPr id="16" name="text-289">
            <a:extLst xmlns:a="http://schemas.openxmlformats.org/drawingml/2006/main">
              <a:ext uri="{FF2B5EF4-FFF2-40B4-BE49-F238E27FC236}">
                <a16:creationId xmlns:a16="http://schemas.microsoft.com/office/drawing/2014/main" id="{69541DAE-6DE4-4AA5-986C-F0BC4373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4215" y="3064764"/>
            <a:ext cx="2421255" cy="312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99" b="1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99" b="1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取消确认</a:t>
            </a:r>
          </a:p>
        </p:txBody>
      </p:sp>
      <p:sp>
        <p:nvSpPr>
          <p:cNvPr id="17" name="text-290">
            <a:extLst xmlns:a="http://schemas.openxmlformats.org/drawingml/2006/main">
              <a:ext uri="{FF2B5EF4-FFF2-40B4-BE49-F238E27FC236}">
                <a16:creationId xmlns:a16="http://schemas.microsoft.com/office/drawing/2014/main" id="{1C3034FA-22E8-40D9-9E21-F197BABD5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4215" y="3549015"/>
            <a:ext cx="2421255" cy="4530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92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92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运行任务先显示“取消中”</a:t>
            </a:r>
          </a:p>
          <a:p xmlns:a="http://schemas.openxmlformats.org/drawingml/2006/main">
            <a:pPr algn="l">
              <a:defRPr sz="1292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92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收到停止确认后结束</a:t>
            </a:r>
          </a:p>
        </p:txBody>
      </p:sp>
      <p:sp>
        <p:nvSpPr>
          <p:cNvPr id="18" name="wireframe-cancel-button">
            <a:extLst xmlns:a="http://schemas.openxmlformats.org/drawingml/2006/main">
              <a:ext uri="{FF2B5EF4-FFF2-40B4-BE49-F238E27FC236}">
                <a16:creationId xmlns:a16="http://schemas.microsoft.com/office/drawing/2014/main" id="{A5F7F963-49AD-41A0-A635-FA66DD699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4215" y="4298823"/>
            <a:ext cx="1132523" cy="3514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EA7"/>
          </a:solidFill>
          <a:ln xmlns:a="http://schemas.openxmlformats.org/drawingml/2006/main" w="14288">
            <a:solidFill>
              <a:srgbClr val="B7C9D9"/>
            </a:solidFill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92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92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确认取消</a:t>
            </a:r>
          </a:p>
        </p:txBody>
      </p:sp>
      <p:sp>
        <p:nvSpPr>
          <p:cNvPr id="19" name="wireframe-keep-button">
            <a:extLst xmlns:a="http://schemas.openxmlformats.org/drawingml/2006/main">
              <a:ext uri="{FF2B5EF4-FFF2-40B4-BE49-F238E27FC236}">
                <a16:creationId xmlns:a16="http://schemas.microsoft.com/office/drawing/2014/main" id="{DC64FAD0-E6CB-4017-BF05-F1C752294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2948" y="4298823"/>
            <a:ext cx="1132523" cy="3514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7C9D9"/>
            </a:solidFill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92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92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保留任务</a:t>
            </a:r>
          </a:p>
        </p:txBody>
      </p:sp>
      <p:sp>
        <p:nvSpPr>
          <p:cNvPr id="20" name="point-291">
            <a:extLst xmlns:a="http://schemas.openxmlformats.org/drawingml/2006/main">
              <a:ext uri="{FF2B5EF4-FFF2-40B4-BE49-F238E27FC236}">
                <a16:creationId xmlns:a16="http://schemas.microsoft.com/office/drawing/2014/main" id="{8BCC72CE-66E8-4097-AB13-089938168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4223" y="3626167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" name="point-292">
            <a:extLst xmlns:a="http://schemas.openxmlformats.org/drawingml/2006/main">
              <a:ext uri="{FF2B5EF4-FFF2-40B4-BE49-F238E27FC236}">
                <a16:creationId xmlns:a16="http://schemas.microsoft.com/office/drawing/2014/main" id="{C146C735-6D9F-4CB1-8845-C03CAE79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626167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9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3306128" y="3627120"/>
            <a:ext cx="427672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EA7"/>
            </a:solidFill>
            <a:prstDash val="solid"/>
            <a:tailEnd type="arrow" w="sm" len="sm"/>
          </a:ln>
        </p:spPr>
      </p:cxnSp>
      <p:sp>
        <p:nvSpPr>
          <p:cNvPr id="23" name="point-293">
            <a:extLst xmlns:a="http://schemas.openxmlformats.org/drawingml/2006/main">
              <a:ext uri="{FF2B5EF4-FFF2-40B4-BE49-F238E27FC236}">
                <a16:creationId xmlns:a16="http://schemas.microsoft.com/office/drawing/2014/main" id="{5094A71F-3E3D-46D6-A03D-72D8EE9A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4223" y="44853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" name="point-294">
            <a:extLst xmlns:a="http://schemas.openxmlformats.org/drawingml/2006/main">
              <a:ext uri="{FF2B5EF4-FFF2-40B4-BE49-F238E27FC236}">
                <a16:creationId xmlns:a16="http://schemas.microsoft.com/office/drawing/2014/main" id="{E7BD7F90-F1C9-4B08-BDFC-E8CFFE638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537" y="44853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2" name=""/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3306128" y="4486276"/>
            <a:ext cx="232409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877E"/>
            </a:solidFill>
            <a:prstDash val="dash"/>
            <a:tailEnd type="none" w="sm" len="sm"/>
          </a:ln>
        </p:spPr>
      </p:cxnSp>
      <p:sp>
        <p:nvSpPr>
          <p:cNvPr id="26" name="point-295">
            <a:extLst xmlns:a="http://schemas.openxmlformats.org/drawingml/2006/main">
              <a:ext uri="{FF2B5EF4-FFF2-40B4-BE49-F238E27FC236}">
                <a16:creationId xmlns:a16="http://schemas.microsoft.com/office/drawing/2014/main" id="{142FBC4C-4A49-4EDD-9C28-5B5AF8678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537" y="44853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" name="point-296">
            <a:extLst xmlns:a="http://schemas.openxmlformats.org/drawingml/2006/main">
              <a:ext uri="{FF2B5EF4-FFF2-40B4-BE49-F238E27FC236}">
                <a16:creationId xmlns:a16="http://schemas.microsoft.com/office/drawing/2014/main" id="{2D2EC525-4E72-496B-A425-122D676E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537" y="5602224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5" name=""/>
          <p:cNvCxnSpPr>
            <a:stCxn xmlns:a="http://schemas.openxmlformats.org/drawingml/2006/main" id="26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3539490" y="4487228"/>
            <a:ext cx="0" cy="111499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877E"/>
            </a:solidFill>
            <a:prstDash val="dash"/>
            <a:tailEnd type="none" w="sm" len="sm"/>
          </a:ln>
        </p:spPr>
      </p:cxnSp>
      <p:sp>
        <p:nvSpPr>
          <p:cNvPr id="29" name="point-297">
            <a:extLst xmlns:a="http://schemas.openxmlformats.org/drawingml/2006/main">
              <a:ext uri="{FF2B5EF4-FFF2-40B4-BE49-F238E27FC236}">
                <a16:creationId xmlns:a16="http://schemas.microsoft.com/office/drawing/2014/main" id="{C51B1740-BF2C-4856-8040-325CB3073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537" y="5602224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" name="point-298">
            <a:extLst xmlns:a="http://schemas.openxmlformats.org/drawingml/2006/main">
              <a:ext uri="{FF2B5EF4-FFF2-40B4-BE49-F238E27FC236}">
                <a16:creationId xmlns:a16="http://schemas.microsoft.com/office/drawing/2014/main" id="{67A782FE-BC4A-4D5F-9ED9-F35DD9B0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3890" y="5602224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8" name=""/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3540442" y="5603177"/>
            <a:ext cx="4723448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877E"/>
            </a:solidFill>
            <a:prstDash val="dash"/>
            <a:tailEnd type="none" w="sm" len="sm"/>
          </a:ln>
        </p:spPr>
      </p:cxnSp>
      <p:sp>
        <p:nvSpPr>
          <p:cNvPr id="32" name="point-299">
            <a:extLst xmlns:a="http://schemas.openxmlformats.org/drawingml/2006/main">
              <a:ext uri="{FF2B5EF4-FFF2-40B4-BE49-F238E27FC236}">
                <a16:creationId xmlns:a16="http://schemas.microsoft.com/office/drawing/2014/main" id="{FAF9FDE7-504F-4C0B-9C04-FCBA7AC02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3890" y="5602224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" name="point-300">
            <a:extLst xmlns:a="http://schemas.openxmlformats.org/drawingml/2006/main">
              <a:ext uri="{FF2B5EF4-FFF2-40B4-BE49-F238E27FC236}">
                <a16:creationId xmlns:a16="http://schemas.microsoft.com/office/drawing/2014/main" id="{75DFCC21-3338-4264-B959-7C3CDC75B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3890" y="4844605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1" name=""/>
          <p:cNvCxnSpPr>
            <a:stCxn xmlns:a="http://schemas.openxmlformats.org/drawingml/2006/main" id="32" idx="0"/>
            <a:endCxn xmlns:a="http://schemas.openxmlformats.org/drawingml/2006/main" id="33" idx="2"/>
          </p:cNvCxnSpPr>
          <p:nvPr/>
        </p:nvCxnSpPr>
        <p:spPr>
          <a:xfrm xmlns:a="http://schemas.openxmlformats.org/drawingml/2006/main" flipV="1">
            <a:off x="8264843" y="4846510"/>
            <a:ext cx="0" cy="755714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877E"/>
            </a:solidFill>
            <a:prstDash val="dash"/>
            <a:tailEnd type="arrow" w="sm" len="sm"/>
          </a:ln>
        </p:spPr>
      </p:cxnSp>
      <p:sp>
        <p:nvSpPr>
          <p:cNvPr id="35" name="text-301">
            <a:extLst xmlns:a="http://schemas.openxmlformats.org/drawingml/2006/main">
              <a:ext uri="{FF2B5EF4-FFF2-40B4-BE49-F238E27FC236}">
                <a16:creationId xmlns:a16="http://schemas.microsoft.com/office/drawing/2014/main" id="{00B4EBA1-336E-4F7C-AB55-80114F0D6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8645" y="5384483"/>
            <a:ext cx="1991678" cy="2186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0" b="0">
                <a:solidFill>
                  <a:srgbClr val="16877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30" b="0">
                <a:solidFill>
                  <a:srgbClr val="16877E"/>
                </a:solidFill>
                <a:latin typeface="Hiragino Sans GB"/>
                <a:ea typeface="Hiragino Sans GB"/>
                <a:cs typeface="Hiragino Sans GB"/>
              </a:rPr>
              <a:t>列表中点击取消</a:t>
            </a:r>
          </a:p>
        </p:txBody>
      </p:sp>
      <p:sp>
        <p:nvSpPr>
          <p:cNvPr id="36" name="text-302">
            <a:extLst xmlns:a="http://schemas.openxmlformats.org/drawingml/2006/main">
              <a:ext uri="{FF2B5EF4-FFF2-40B4-BE49-F238E27FC236}">
                <a16:creationId xmlns:a16="http://schemas.microsoft.com/office/drawing/2014/main" id="{51AB82EC-A9DB-4BFC-81B8-428453922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089" y="5759387"/>
            <a:ext cx="8747760" cy="210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0" b="0">
                <a:solidFill>
                  <a:srgbClr val="6377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30" b="0">
                <a:solidFill>
                  <a:srgbClr val="63778B"/>
                </a:solidFill>
                <a:latin typeface="Hiragino Sans GB"/>
                <a:ea typeface="Hiragino Sans GB"/>
                <a:cs typeface="Hiragino Sans GB"/>
              </a:rPr>
              <a:t>页面布局与交互规格，可点击版本见 prototype.html</a:t>
            </a:r>
          </a:p>
        </p:txBody>
      </p:sp>
      <p:sp>
        <p:nvSpPr>
          <p:cNvPr id="37" name="text-303">
            <a:extLst xmlns:a="http://schemas.openxmlformats.org/drawingml/2006/main">
              <a:ext uri="{FF2B5EF4-FFF2-40B4-BE49-F238E27FC236}">
                <a16:creationId xmlns:a16="http://schemas.microsoft.com/office/drawing/2014/main" id="{23D2215B-CF9D-4C4C-A9DB-FACC6951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600325"/>
            <a:ext cx="17335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7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3778B"/>
                </a:solidFill>
                <a:latin typeface="Hiragino Sans GB"/>
                <a:ea typeface="Hiragino Sans GB"/>
                <a:cs typeface="Hiragino Sans GB"/>
              </a:rPr>
              <a:t>工具与产物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6377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3778B"/>
                </a:solidFill>
                <a:latin typeface="Hiragino Sans GB"/>
                <a:ea typeface="Hiragino Sans GB"/>
                <a:cs typeface="Hiragino Sans GB"/>
              </a:rPr>
              <a:t>diagrams.net</a:t>
            </a:r>
          </a:p>
          <a:p xmlns:a="http://schemas.openxmlformats.org/drawingml/2006/main">
            <a:pPr algn="l">
              <a:defRPr sz="1725" b="0">
                <a:solidFill>
                  <a:srgbClr val="6377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3778B"/>
                </a:solidFill>
                <a:latin typeface="Hiragino Sans GB"/>
                <a:ea typeface="Hiragino Sans GB"/>
                <a:cs typeface="Hiragino Sans GB"/>
              </a:rPr>
              <a:t>可编辑线框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6377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3778B"/>
                </a:solidFill>
                <a:latin typeface="Hiragino Sans GB"/>
                <a:ea typeface="Hiragino Sans GB"/>
                <a:cs typeface="Hiragino Sans GB"/>
              </a:rPr>
              <a:t>浏览器</a:t>
            </a:r>
          </a:p>
          <a:p xmlns:a="http://schemas.openxmlformats.org/drawingml/2006/main">
            <a:pPr algn="l">
              <a:defRPr sz="1725" b="0">
                <a:solidFill>
                  <a:srgbClr val="6377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3778B"/>
                </a:solidFill>
                <a:latin typeface="Hiragino Sans GB"/>
                <a:ea typeface="Hiragino Sans GB"/>
                <a:cs typeface="Hiragino Sans GB"/>
              </a:rPr>
              <a:t>可点击 HTML</a:t>
            </a:r>
          </a:p>
        </p:txBody>
      </p:sp>
    </p:spTree>
    <p:extLst>
      <p:ext uri="{BB962C8B-B14F-4D97-AF65-F5344CB8AC3E}">
        <p14:creationId xmlns:p14="http://schemas.microsoft.com/office/powerpoint/2010/main" val="185640682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304">
            <a:extLst xmlns:a="http://schemas.openxmlformats.org/drawingml/2006/main">
              <a:ext uri="{FF2B5EF4-FFF2-40B4-BE49-F238E27FC236}">
                <a16:creationId xmlns:a16="http://schemas.microsoft.com/office/drawing/2014/main" id="{459D21DE-7B63-47EF-974A-E768B8257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界面原型：打印队列</a:t>
            </a:r>
          </a:p>
        </p:txBody>
      </p:sp>
      <p:sp>
        <p:nvSpPr>
          <p:cNvPr id="2" name="text-305">
            <a:extLst xmlns:a="http://schemas.openxmlformats.org/drawingml/2006/main">
              <a:ext uri="{FF2B5EF4-FFF2-40B4-BE49-F238E27FC236}">
                <a16:creationId xmlns:a16="http://schemas.microsoft.com/office/drawing/2014/main" id="{840F1CFF-2C66-4796-A29D-1C334E5CD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98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377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78B"/>
                </a:solidFill>
                <a:latin typeface="Hiragino Sans GB"/>
                <a:ea typeface="Hiragino Sans GB"/>
                <a:cs typeface="Hiragino Sans GB"/>
              </a:rPr>
              <a:t>12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e091605b7f4d9b"/>
          <a:stretch xmlns:a="http://schemas.openxmlformats.org/drawingml/2006/main"/>
        </p:blipFill>
        <p:spPr>
          <a:xfrm xmlns:a="http://schemas.openxmlformats.org/drawingml/2006/main">
            <a:off x="1994464" y="1285875"/>
            <a:ext cx="8203072" cy="4619625"/>
          </a:xfrm>
          <a:prstGeom xmlns:a="http://schemas.openxmlformats.org/drawingml/2006/main" prst="rect">
            <a:avLst/>
          </a:prstGeom>
        </p:spPr>
      </p:pic>
      <p:sp>
        <p:nvSpPr>
          <p:cNvPr id="4" name="text-306">
            <a:extLst xmlns:a="http://schemas.openxmlformats.org/drawingml/2006/main">
              <a:ext uri="{FF2B5EF4-FFF2-40B4-BE49-F238E27FC236}">
                <a16:creationId xmlns:a16="http://schemas.microsoft.com/office/drawing/2014/main" id="{6A3CD78B-62EC-454E-BE5C-78B481BD4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67425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377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63778B"/>
                </a:solidFill>
                <a:latin typeface="Hiragino Sans GB"/>
                <a:ea typeface="Hiragino Sans GB"/>
                <a:cs typeface="Hiragino Sans GB"/>
              </a:rPr>
              <a:t>交互原型，示例数据。双击 prototype.html 可离线打开</a:t>
            </a:r>
          </a:p>
        </p:txBody>
      </p:sp>
    </p:spTree>
    <p:extLst>
      <p:ext uri="{BB962C8B-B14F-4D97-AF65-F5344CB8AC3E}">
        <p14:creationId xmlns:p14="http://schemas.microsoft.com/office/powerpoint/2010/main" val="184354370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307">
            <a:extLst xmlns:a="http://schemas.openxmlformats.org/drawingml/2006/main">
              <a:ext uri="{FF2B5EF4-FFF2-40B4-BE49-F238E27FC236}">
                <a16:creationId xmlns:a16="http://schemas.microsoft.com/office/drawing/2014/main" id="{F8599DD6-25A0-46D9-A33E-979BBBFD7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界面原型：取消确认与重连</a:t>
            </a:r>
          </a:p>
        </p:txBody>
      </p:sp>
      <p:sp>
        <p:nvSpPr>
          <p:cNvPr id="2" name="text-308">
            <a:extLst xmlns:a="http://schemas.openxmlformats.org/drawingml/2006/main">
              <a:ext uri="{FF2B5EF4-FFF2-40B4-BE49-F238E27FC236}">
                <a16:creationId xmlns:a16="http://schemas.microsoft.com/office/drawing/2014/main" id="{529BB7D5-63D4-48DA-8D9C-E9DEA24B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98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377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78B"/>
                </a:solidFill>
                <a:latin typeface="Hiragino Sans GB"/>
                <a:ea typeface="Hiragino Sans GB"/>
                <a:cs typeface="Hiragino Sans GB"/>
              </a:rPr>
              <a:t>13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eb24d40d374abe"/>
          <a:stretch xmlns:a="http://schemas.openxmlformats.org/drawingml/2006/main"/>
        </p:blipFill>
        <p:spPr>
          <a:xfrm xmlns:a="http://schemas.openxmlformats.org/drawingml/2006/main">
            <a:off x="571500" y="1990175"/>
            <a:ext cx="5429250" cy="2401399"/>
          </a:xfrm>
          <a:prstGeom xmlns:a="http://schemas.openxmlformats.org/drawingml/2006/main" prst="rect">
            <a:avLst/>
          </a:prstGeom>
        </p:spPr>
      </p:pic>
      <p:sp>
        <p:nvSpPr>
          <p:cNvPr id="4" name="text-309">
            <a:extLst xmlns:a="http://schemas.openxmlformats.org/drawingml/2006/main">
              <a:ext uri="{FF2B5EF4-FFF2-40B4-BE49-F238E27FC236}">
                <a16:creationId xmlns:a16="http://schemas.microsoft.com/office/drawing/2014/main" id="{25F11D88-6FAE-4F9A-9BFD-9A47C8D90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1438275"/>
            <a:ext cx="4667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5EA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245EA7"/>
                </a:solidFill>
                <a:latin typeface="Hiragino Sans GB"/>
                <a:ea typeface="Hiragino Sans GB"/>
                <a:cs typeface="Hiragino Sans GB"/>
              </a:rPr>
              <a:t>取消过程</a:t>
            </a:r>
          </a:p>
        </p:txBody>
      </p:sp>
      <p:sp>
        <p:nvSpPr>
          <p:cNvPr id="5" name="text-310">
            <a:extLst xmlns:a="http://schemas.openxmlformats.org/drawingml/2006/main">
              <a:ext uri="{FF2B5EF4-FFF2-40B4-BE49-F238E27FC236}">
                <a16:creationId xmlns:a16="http://schemas.microsoft.com/office/drawing/2014/main" id="{641B3ADE-AD45-4B63-A02C-090EAC8DC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019300"/>
            <a:ext cx="4667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确认取消</a:t>
            </a:r>
          </a:p>
          <a:p xmlns:a="http://schemas.openxmlformats.org/drawingml/2006/main">
            <a:pPr algn="l">
              <a:defRPr sz="202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显示“取消中”</a:t>
            </a:r>
          </a:p>
          <a:p xmlns:a="http://schemas.openxmlformats.org/drawingml/2006/main">
            <a:pPr algn="l">
              <a:defRPr sz="202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收到停止确认后结束</a:t>
            </a:r>
          </a:p>
        </p:txBody>
      </p:sp>
      <p:sp>
        <p:nvSpPr>
          <p:cNvPr id="6" name="text-311">
            <a:extLst xmlns:a="http://schemas.openxmlformats.org/drawingml/2006/main">
              <a:ext uri="{FF2B5EF4-FFF2-40B4-BE49-F238E27FC236}">
                <a16:creationId xmlns:a16="http://schemas.microsoft.com/office/drawing/2014/main" id="{B8A5E3BD-E77E-457D-9C1E-6E9EF1AA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781425"/>
            <a:ext cx="4667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877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6877E"/>
                </a:solidFill>
                <a:latin typeface="Hiragino Sans GB"/>
                <a:ea typeface="Hiragino Sans GB"/>
                <a:cs typeface="Hiragino Sans GB"/>
              </a:rPr>
              <a:t>连接中断</a:t>
            </a:r>
          </a:p>
        </p:txBody>
      </p:sp>
      <p:sp>
        <p:nvSpPr>
          <p:cNvPr id="7" name="text-312">
            <a:extLst xmlns:a="http://schemas.openxmlformats.org/drawingml/2006/main">
              <a:ext uri="{FF2B5EF4-FFF2-40B4-BE49-F238E27FC236}">
                <a16:creationId xmlns:a16="http://schemas.microsoft.com/office/drawing/2014/main" id="{8433B156-65BB-43CC-8980-7F1AC697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362450"/>
            <a:ext cx="4667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显示连接状态，停用控制</a:t>
            </a:r>
          </a:p>
          <a:p xmlns:a="http://schemas.openxmlformats.org/drawingml/2006/main">
            <a:pPr algn="l">
              <a:defRPr sz="195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恢复连接并获取完整快照</a:t>
            </a:r>
          </a:p>
          <a:p xmlns:a="http://schemas.openxmlformats.org/drawingml/2006/main">
            <a:pPr algn="l">
              <a:defRPr sz="195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后台任务按目标设计继续执行</a:t>
            </a:r>
          </a:p>
        </p:txBody>
      </p:sp>
      <p:sp>
        <p:nvSpPr>
          <p:cNvPr id="8" name="text-313">
            <a:extLst xmlns:a="http://schemas.openxmlformats.org/drawingml/2006/main">
              <a:ext uri="{FF2B5EF4-FFF2-40B4-BE49-F238E27FC236}">
                <a16:creationId xmlns:a16="http://schemas.microsoft.com/office/drawing/2014/main" id="{4B454BFA-4ED5-4382-943E-52C068E8B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95975"/>
            <a:ext cx="52863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377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63778B"/>
                </a:solidFill>
                <a:latin typeface="Hiragino Sans GB"/>
                <a:ea typeface="Hiragino Sans GB"/>
                <a:cs typeface="Hiragino Sans GB"/>
              </a:rPr>
              <a:t>示例数据用于确认交互，实际执行由独立后台负责</a:t>
            </a:r>
          </a:p>
        </p:txBody>
      </p:sp>
    </p:spTree>
    <p:extLst>
      <p:ext uri="{BB962C8B-B14F-4D97-AF65-F5344CB8AC3E}">
        <p14:creationId xmlns:p14="http://schemas.microsoft.com/office/powerpoint/2010/main" val="40013239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314">
            <a:extLst xmlns:a="http://schemas.openxmlformats.org/drawingml/2006/main">
              <a:ext uri="{FF2B5EF4-FFF2-40B4-BE49-F238E27FC236}">
                <a16:creationId xmlns:a16="http://schemas.microsoft.com/office/drawing/2014/main" id="{A5190FAA-B63C-49A6-9619-8119EE82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实现难点与解决思路</a:t>
            </a:r>
          </a:p>
        </p:txBody>
      </p:sp>
      <p:sp>
        <p:nvSpPr>
          <p:cNvPr id="2" name="text-315">
            <a:extLst xmlns:a="http://schemas.openxmlformats.org/drawingml/2006/main">
              <a:ext uri="{FF2B5EF4-FFF2-40B4-BE49-F238E27FC236}">
                <a16:creationId xmlns:a16="http://schemas.microsoft.com/office/drawing/2014/main" id="{7BF1B3FC-F398-4F1D-9119-81B8C9C34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98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377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78B"/>
                </a:solidFill>
                <a:latin typeface="Hiragino Sans GB"/>
                <a:ea typeface="Hiragino Sans GB"/>
                <a:cs typeface="Hiragino Sans GB"/>
              </a:rPr>
              <a:t>14</a:t>
            </a:r>
          </a:p>
        </p:txBody>
      </p:sp>
      <p:sp>
        <p:nvSpPr>
          <p:cNvPr id="3" name="text-316">
            <a:extLst xmlns:a="http://schemas.openxmlformats.org/drawingml/2006/main">
              <a:ext uri="{FF2B5EF4-FFF2-40B4-BE49-F238E27FC236}">
                <a16:creationId xmlns:a16="http://schemas.microsoft.com/office/drawing/2014/main" id="{91AE60C0-4A46-4555-B446-DDF3B92C7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620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5EA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245EA7"/>
                </a:solidFill>
                <a:latin typeface="Hiragino Sans GB"/>
                <a:ea typeface="Hiragino Sans GB"/>
                <a:cs typeface="Hiragino Sans GB"/>
              </a:rPr>
              <a:t>重复领取与旧回调</a:t>
            </a:r>
          </a:p>
        </p:txBody>
      </p:sp>
      <p:sp>
        <p:nvSpPr>
          <p:cNvPr id="4" name="text-317">
            <a:extLst xmlns:a="http://schemas.openxmlformats.org/drawingml/2006/main">
              <a:ext uri="{FF2B5EF4-FFF2-40B4-BE49-F238E27FC236}">
                <a16:creationId xmlns:a16="http://schemas.microsoft.com/office/drawing/2014/main" id="{56BA0E7C-7F0E-4D15-8AFB-7642BCAA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362075"/>
            <a:ext cx="762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互斥锁覆盖选取和更新；attempt 识别执行轮次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D4DD5E-1B3F-4BA3-AE8E-AF1D24BA6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57400"/>
            <a:ext cx="108585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7C9D9"/>
            </a:solidFill>
          </a:ln>
        </p:spPr>
      </p:sp>
      <p:sp>
        <p:nvSpPr>
          <p:cNvPr id="6" name="text-318">
            <a:extLst xmlns:a="http://schemas.openxmlformats.org/drawingml/2006/main">
              <a:ext uri="{FF2B5EF4-FFF2-40B4-BE49-F238E27FC236}">
                <a16:creationId xmlns:a16="http://schemas.microsoft.com/office/drawing/2014/main" id="{E4DE5FF3-014B-4E21-8DEF-0385E98F6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764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877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6877E"/>
                </a:solidFill>
                <a:latin typeface="Hiragino Sans GB"/>
                <a:ea typeface="Hiragino Sans GB"/>
                <a:cs typeface="Hiragino Sans GB"/>
              </a:rPr>
              <a:t>取消与输出竞争</a:t>
            </a:r>
          </a:p>
        </p:txBody>
      </p:sp>
      <p:sp>
        <p:nvSpPr>
          <p:cNvPr id="7" name="text-319">
            <a:extLst xmlns:a="http://schemas.openxmlformats.org/drawingml/2006/main">
              <a:ext uri="{FF2B5EF4-FFF2-40B4-BE49-F238E27FC236}">
                <a16:creationId xmlns:a16="http://schemas.microsoft.com/office/drawing/2014/main" id="{E569BEE0-B4A8-4B8A-AD3F-B0657208F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276475"/>
            <a:ext cx="762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区分请求收到、停止确认和原子输出完成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C4C5F2-9FD6-40D5-A88C-F729E40C4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71800"/>
            <a:ext cx="108585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7C9D9"/>
            </a:solidFill>
          </a:ln>
        </p:spPr>
      </p:sp>
      <p:sp>
        <p:nvSpPr>
          <p:cNvPr id="9" name="text-320">
            <a:extLst xmlns:a="http://schemas.openxmlformats.org/drawingml/2006/main">
              <a:ext uri="{FF2B5EF4-FFF2-40B4-BE49-F238E27FC236}">
                <a16:creationId xmlns:a16="http://schemas.microsoft.com/office/drawing/2014/main" id="{354DCD0B-4406-4AB8-B12C-48278B41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908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5EA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245EA7"/>
                </a:solidFill>
                <a:latin typeface="Hiragino Sans GB"/>
                <a:ea typeface="Hiragino Sans GB"/>
                <a:cs typeface="Hiragino Sans GB"/>
              </a:rPr>
              <a:t>崩溃一致性</a:t>
            </a:r>
          </a:p>
        </p:txBody>
      </p:sp>
      <p:sp>
        <p:nvSpPr>
          <p:cNvPr id="10" name="text-321">
            <a:extLst xmlns:a="http://schemas.openxmlformats.org/drawingml/2006/main">
              <a:ext uri="{FF2B5EF4-FFF2-40B4-BE49-F238E27FC236}">
                <a16:creationId xmlns:a16="http://schemas.microsoft.com/office/drawing/2014/main" id="{FE22FE88-A6D7-4A82-B2AC-8F9BD821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190875"/>
            <a:ext cx="762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先写状态再执行，重启核对输出与锁后恢复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1966F2-8D4E-4E37-9508-A9C625D58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86200"/>
            <a:ext cx="108585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7C9D9"/>
            </a:solidFill>
          </a:ln>
        </p:spPr>
      </p:sp>
      <p:sp>
        <p:nvSpPr>
          <p:cNvPr id="12" name="text-322">
            <a:extLst xmlns:a="http://schemas.openxmlformats.org/drawingml/2006/main">
              <a:ext uri="{FF2B5EF4-FFF2-40B4-BE49-F238E27FC236}">
                <a16:creationId xmlns:a16="http://schemas.microsoft.com/office/drawing/2014/main" id="{8F29511E-6B29-47BE-8344-190469C29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052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877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6877E"/>
                </a:solidFill>
                <a:latin typeface="Hiragino Sans GB"/>
                <a:ea typeface="Hiragino Sans GB"/>
                <a:cs typeface="Hiragino Sans GB"/>
              </a:rPr>
              <a:t>效率与公平性</a:t>
            </a:r>
          </a:p>
        </p:txBody>
      </p:sp>
      <p:sp>
        <p:nvSpPr>
          <p:cNvPr id="13" name="text-323">
            <a:extLst xmlns:a="http://schemas.openxmlformats.org/drawingml/2006/main">
              <a:ext uri="{FF2B5EF4-FFF2-40B4-BE49-F238E27FC236}">
                <a16:creationId xmlns:a16="http://schemas.microsoft.com/office/drawing/2014/main" id="{C7A69C3C-729F-4FCD-B6B4-E2FC06079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105275"/>
            <a:ext cx="762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比较平均和最长等待，用老化改善长时间等待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24A0E0-C61C-4CCA-8541-076498FFC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00600"/>
            <a:ext cx="108585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7C9D9"/>
            </a:solidFill>
          </a:ln>
        </p:spPr>
      </p:sp>
      <p:sp>
        <p:nvSpPr>
          <p:cNvPr id="15" name="text-324">
            <a:extLst xmlns:a="http://schemas.openxmlformats.org/drawingml/2006/main">
              <a:ext uri="{FF2B5EF4-FFF2-40B4-BE49-F238E27FC236}">
                <a16:creationId xmlns:a16="http://schemas.microsoft.com/office/drawing/2014/main" id="{8374702E-B190-45A1-8196-07008FBE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196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5EA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245EA7"/>
                </a:solidFill>
                <a:latin typeface="Hiragino Sans GB"/>
                <a:ea typeface="Hiragino Sans GB"/>
                <a:cs typeface="Hiragino Sans GB"/>
              </a:rPr>
              <a:t>跨平台通信</a:t>
            </a:r>
          </a:p>
        </p:txBody>
      </p:sp>
      <p:sp>
        <p:nvSpPr>
          <p:cNvPr id="16" name="text-325">
            <a:extLst xmlns:a="http://schemas.openxmlformats.org/drawingml/2006/main">
              <a:ext uri="{FF2B5EF4-FFF2-40B4-BE49-F238E27FC236}">
                <a16:creationId xmlns:a16="http://schemas.microsoft.com/office/drawing/2014/main" id="{56ECB14B-B354-4899-8012-19984F40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019675"/>
            <a:ext cx="762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JSONL 缓冲分帧，隔离 POSIX API，覆盖中文路径</a:t>
            </a:r>
          </a:p>
        </p:txBody>
      </p:sp>
    </p:spTree>
    <p:extLst>
      <p:ext uri="{BB962C8B-B14F-4D97-AF65-F5344CB8AC3E}">
        <p14:creationId xmlns:p14="http://schemas.microsoft.com/office/powerpoint/2010/main" val="116398169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326">
            <a:extLst xmlns:a="http://schemas.openxmlformats.org/drawingml/2006/main">
              <a:ext uri="{FF2B5EF4-FFF2-40B4-BE49-F238E27FC236}">
                <a16:creationId xmlns:a16="http://schemas.microsoft.com/office/drawing/2014/main" id="{2A65A9CA-AA1F-411F-A567-5AB8127F7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三人分工与接口约定</a:t>
            </a:r>
          </a:p>
        </p:txBody>
      </p:sp>
      <p:sp>
        <p:nvSpPr>
          <p:cNvPr id="2" name="text-327">
            <a:extLst xmlns:a="http://schemas.openxmlformats.org/drawingml/2006/main">
              <a:ext uri="{FF2B5EF4-FFF2-40B4-BE49-F238E27FC236}">
                <a16:creationId xmlns:a16="http://schemas.microsoft.com/office/drawing/2014/main" id="{FD611FC2-7150-4680-B353-52BD14F5A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98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377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78B"/>
                </a:solidFill>
                <a:latin typeface="Hiragino Sans GB"/>
                <a:ea typeface="Hiragino Sans GB"/>
                <a:cs typeface="Hiragino Sans GB"/>
              </a:rPr>
              <a:t>15</a:t>
            </a:r>
          </a:p>
        </p:txBody>
      </p:sp>
      <p:sp>
        <p:nvSpPr>
          <p:cNvPr id="3" name="text-328">
            <a:extLst xmlns:a="http://schemas.openxmlformats.org/drawingml/2006/main">
              <a:ext uri="{FF2B5EF4-FFF2-40B4-BE49-F238E27FC236}">
                <a16:creationId xmlns:a16="http://schemas.microsoft.com/office/drawing/2014/main" id="{EC03566B-7696-4667-9DDA-201F538EB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66850"/>
            <a:ext cx="381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45EA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45EA7"/>
                </a:solidFill>
                <a:latin typeface="Hiragino Sans GB"/>
                <a:ea typeface="Hiragino Sans GB"/>
                <a:cs typeface="Hiragino Sans GB"/>
              </a:rPr>
              <a:t>A  We1chan</a:t>
            </a:r>
          </a:p>
        </p:txBody>
      </p:sp>
      <p:sp>
        <p:nvSpPr>
          <p:cNvPr id="4" name="text-329">
            <a:extLst xmlns:a="http://schemas.openxmlformats.org/drawingml/2006/main">
              <a:ext uri="{FF2B5EF4-FFF2-40B4-BE49-F238E27FC236}">
                <a16:creationId xmlns:a16="http://schemas.microsoft.com/office/drawing/2014/main" id="{13575B53-BF52-4BC9-B577-8398D5DBA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46685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调度与性能分析</a:t>
            </a:r>
          </a:p>
        </p:txBody>
      </p:sp>
      <p:sp>
        <p:nvSpPr>
          <p:cNvPr id="5" name="text-330">
            <a:extLst xmlns:a="http://schemas.openxmlformats.org/drawingml/2006/main">
              <a:ext uri="{FF2B5EF4-FFF2-40B4-BE49-F238E27FC236}">
                <a16:creationId xmlns:a16="http://schemas.microsoft.com/office/drawing/2014/main" id="{BE793F10-31E1-4843-8525-080981C30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71675"/>
            <a:ext cx="647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377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63778B"/>
                </a:solidFill>
                <a:latin typeface="Hiragino Sans GB"/>
                <a:ea typeface="Hiragino Sans GB"/>
                <a:cs typeface="Hiragino Sans GB"/>
              </a:rPr>
              <a:t>策略、状态接口、统计、负载回放与实验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BC94B9-5306-4EAA-AEE5-330317288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09850"/>
            <a:ext cx="108585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7C9D9"/>
            </a:solidFill>
          </a:ln>
        </p:spPr>
      </p:sp>
      <p:sp>
        <p:nvSpPr>
          <p:cNvPr id="7" name="text-331">
            <a:extLst xmlns:a="http://schemas.openxmlformats.org/drawingml/2006/main">
              <a:ext uri="{FF2B5EF4-FFF2-40B4-BE49-F238E27FC236}">
                <a16:creationId xmlns:a16="http://schemas.microsoft.com/office/drawing/2014/main" id="{6831A6CE-0893-4D18-B9E2-57226071F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0"/>
            <a:ext cx="381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6877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6877E"/>
                </a:solidFill>
                <a:latin typeface="Hiragino Sans GB"/>
                <a:ea typeface="Hiragino Sans GB"/>
                <a:cs typeface="Hiragino Sans GB"/>
              </a:rPr>
              <a:t>B  YI1990442038</a:t>
            </a:r>
          </a:p>
        </p:txBody>
      </p:sp>
      <p:sp>
        <p:nvSpPr>
          <p:cNvPr id="8" name="text-332">
            <a:extLst xmlns:a="http://schemas.openxmlformats.org/drawingml/2006/main">
              <a:ext uri="{FF2B5EF4-FFF2-40B4-BE49-F238E27FC236}">
                <a16:creationId xmlns:a16="http://schemas.microsoft.com/office/drawing/2014/main" id="{B272FCBE-BFAF-440D-9702-F8F09A7F0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5750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进程与持久后台</a:t>
            </a:r>
          </a:p>
        </p:txBody>
      </p:sp>
      <p:sp>
        <p:nvSpPr>
          <p:cNvPr id="9" name="text-333">
            <a:extLst xmlns:a="http://schemas.openxmlformats.org/drawingml/2006/main">
              <a:ext uri="{FF2B5EF4-FFF2-40B4-BE49-F238E27FC236}">
                <a16:creationId xmlns:a16="http://schemas.microsoft.com/office/drawing/2014/main" id="{0D1BE013-8B19-4FB5-94B1-FCA312F5C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62325"/>
            <a:ext cx="647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377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63778B"/>
                </a:solidFill>
                <a:latin typeface="Hiragino Sans GB"/>
                <a:ea typeface="Hiragino Sans GB"/>
                <a:cs typeface="Hiragino Sans GB"/>
              </a:rPr>
              <a:t>守护、IPC、文件锁、快照与故障恢复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43044A-8548-4377-9749-40EDDA9D7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108585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7C9D9"/>
            </a:solidFill>
          </a:ln>
        </p:spPr>
      </p:sp>
      <p:sp>
        <p:nvSpPr>
          <p:cNvPr id="11" name="text-334">
            <a:extLst xmlns:a="http://schemas.openxmlformats.org/drawingml/2006/main">
              <a:ext uri="{FF2B5EF4-FFF2-40B4-BE49-F238E27FC236}">
                <a16:creationId xmlns:a16="http://schemas.microsoft.com/office/drawing/2014/main" id="{548C7D54-03CE-4821-98D8-C9E2F1E9D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48150"/>
            <a:ext cx="381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45EA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45EA7"/>
                </a:solidFill>
                <a:latin typeface="Hiragino Sans GB"/>
                <a:ea typeface="Hiragino Sans GB"/>
                <a:cs typeface="Hiragino Sans GB"/>
              </a:rPr>
              <a:t>C  korwave</a:t>
            </a:r>
          </a:p>
        </p:txBody>
      </p:sp>
      <p:sp>
        <p:nvSpPr>
          <p:cNvPr id="12" name="text-335">
            <a:extLst xmlns:a="http://schemas.openxmlformats.org/drawingml/2006/main">
              <a:ext uri="{FF2B5EF4-FFF2-40B4-BE49-F238E27FC236}">
                <a16:creationId xmlns:a16="http://schemas.microsoft.com/office/drawing/2014/main" id="{FE74C7EA-92F3-49C6-B1A0-EDEC969DA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4815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界面与跨平台集成</a:t>
            </a:r>
          </a:p>
        </p:txBody>
      </p:sp>
      <p:sp>
        <p:nvSpPr>
          <p:cNvPr id="13" name="text-336">
            <a:extLst xmlns:a="http://schemas.openxmlformats.org/drawingml/2006/main">
              <a:ext uri="{FF2B5EF4-FFF2-40B4-BE49-F238E27FC236}">
                <a16:creationId xmlns:a16="http://schemas.microsoft.com/office/drawing/2014/main" id="{10116FCF-A4CD-4DC1-A24E-AA7E5522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752975"/>
            <a:ext cx="647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377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63778B"/>
                </a:solidFill>
                <a:latin typeface="Hiragino Sans GB"/>
                <a:ea typeface="Hiragino Sans GB"/>
                <a:cs typeface="Hiragino Sans GB"/>
              </a:rPr>
              <a:t>任务界面、事件处理、后台接入与发布包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F6C813-8E61-4714-A7DD-C14F8EEB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91150"/>
            <a:ext cx="108585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7C9D9"/>
            </a:solidFill>
          </a:ln>
        </p:spPr>
      </p:sp>
      <p:sp>
        <p:nvSpPr>
          <p:cNvPr id="15" name="text-337">
            <a:extLst xmlns:a="http://schemas.openxmlformats.org/drawingml/2006/main">
              <a:ext uri="{FF2B5EF4-FFF2-40B4-BE49-F238E27FC236}">
                <a16:creationId xmlns:a16="http://schemas.microsoft.com/office/drawing/2014/main" id="{52DE8842-8374-43ED-8096-B18F50C0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8170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7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3778B"/>
                </a:solidFill>
                <a:latin typeface="Hiragino Sans GB"/>
                <a:ea typeface="Hiragino Sans GB"/>
                <a:cs typeface="Hiragino Sans GB"/>
              </a:rPr>
              <a:t>共同契约：Job / attempt / JSONL / 取消确认 / 快照版本</a:t>
            </a:r>
          </a:p>
        </p:txBody>
      </p:sp>
    </p:spTree>
    <p:extLst>
      <p:ext uri="{BB962C8B-B14F-4D97-AF65-F5344CB8AC3E}">
        <p14:creationId xmlns:p14="http://schemas.microsoft.com/office/powerpoint/2010/main" val="158117916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338">
            <a:extLst xmlns:a="http://schemas.openxmlformats.org/drawingml/2006/main">
              <a:ext uri="{FF2B5EF4-FFF2-40B4-BE49-F238E27FC236}">
                <a16:creationId xmlns:a16="http://schemas.microsoft.com/office/drawing/2014/main" id="{3694A859-3668-4E33-8CE0-CD08B3217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阶段计划与当前集成边界</a:t>
            </a:r>
          </a:p>
        </p:txBody>
      </p:sp>
      <p:sp>
        <p:nvSpPr>
          <p:cNvPr id="2" name="text-339">
            <a:extLst xmlns:a="http://schemas.openxmlformats.org/drawingml/2006/main">
              <a:ext uri="{FF2B5EF4-FFF2-40B4-BE49-F238E27FC236}">
                <a16:creationId xmlns:a16="http://schemas.microsoft.com/office/drawing/2014/main" id="{198DF617-ACAF-4E1E-B275-1AE8DA869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98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377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78B"/>
                </a:solidFill>
                <a:latin typeface="Hiragino Sans GB"/>
                <a:ea typeface="Hiragino Sans GB"/>
                <a:cs typeface="Hiragino Sans GB"/>
              </a:rPr>
              <a:t>16</a:t>
            </a:r>
          </a:p>
        </p:txBody>
      </p:sp>
      <p:sp>
        <p:nvSpPr>
          <p:cNvPr id="3" name="text-340">
            <a:extLst xmlns:a="http://schemas.openxmlformats.org/drawingml/2006/main">
              <a:ext uri="{FF2B5EF4-FFF2-40B4-BE49-F238E27FC236}">
                <a16:creationId xmlns:a16="http://schemas.microsoft.com/office/drawing/2014/main" id="{3FBB02B2-24F4-4E38-81B9-5EE986C21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620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45EA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245EA7"/>
                </a:solidFill>
                <a:latin typeface="Hiragino Sans GB"/>
                <a:ea typeface="Hiragino Sans GB"/>
                <a:cs typeface="Hiragino Sans GB"/>
              </a:rPr>
              <a:t>第 3 周</a:t>
            </a:r>
          </a:p>
        </p:txBody>
      </p:sp>
      <p:sp>
        <p:nvSpPr>
          <p:cNvPr id="4" name="text-341">
            <a:extLst xmlns:a="http://schemas.openxmlformats.org/drawingml/2006/main">
              <a:ext uri="{FF2B5EF4-FFF2-40B4-BE49-F238E27FC236}">
                <a16:creationId xmlns:a16="http://schemas.microsoft.com/office/drawing/2014/main" id="{01D15D0C-C630-40D9-9E25-5CE1666C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362075"/>
            <a:ext cx="8239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设计汇报、UML、思维导图、交互原型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A9F349-96FC-488C-BE5D-16D99B6F5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9775"/>
            <a:ext cx="108585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7C9D9"/>
            </a:solidFill>
          </a:ln>
        </p:spPr>
      </p:sp>
      <p:sp>
        <p:nvSpPr>
          <p:cNvPr id="6" name="text-342">
            <a:extLst xmlns:a="http://schemas.openxmlformats.org/drawingml/2006/main">
              <a:ext uri="{FF2B5EF4-FFF2-40B4-BE49-F238E27FC236}">
                <a16:creationId xmlns:a16="http://schemas.microsoft.com/office/drawing/2014/main" id="{80BAB525-F169-4EAE-8806-1A66543E0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145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45EA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245EA7"/>
                </a:solidFill>
                <a:latin typeface="Hiragino Sans GB"/>
                <a:ea typeface="Hiragino Sans GB"/>
                <a:cs typeface="Hiragino Sans GB"/>
              </a:rPr>
              <a:t>第 4–5 周</a:t>
            </a:r>
          </a:p>
        </p:txBody>
      </p:sp>
      <p:sp>
        <p:nvSpPr>
          <p:cNvPr id="7" name="text-343">
            <a:extLst xmlns:a="http://schemas.openxmlformats.org/drawingml/2006/main">
              <a:ext uri="{FF2B5EF4-FFF2-40B4-BE49-F238E27FC236}">
                <a16:creationId xmlns:a16="http://schemas.microsoft.com/office/drawing/2014/main" id="{155B314F-CB5F-47F9-99E4-403F8A53F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14575"/>
            <a:ext cx="82391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GUI 接入持久后台，核对取消、重连与故障恢复</a:t>
            </a:r>
          </a:p>
          <a:p xmlns:a="http://schemas.openxmlformats.org/drawingml/2006/main">
            <a:pPr algn="l">
              <a:defRPr sz="202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完善 Windows / macOS 发布与演示步骤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403ADB-76BC-4D30-8CF5-B67FE81C8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95650"/>
            <a:ext cx="108585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7C9D9"/>
            </a:solidFill>
          </a:ln>
        </p:spPr>
      </p:sp>
      <p:sp>
        <p:nvSpPr>
          <p:cNvPr id="9" name="text-344">
            <a:extLst xmlns:a="http://schemas.openxmlformats.org/drawingml/2006/main">
              <a:ext uri="{FF2B5EF4-FFF2-40B4-BE49-F238E27FC236}">
                <a16:creationId xmlns:a16="http://schemas.microsoft.com/office/drawing/2014/main" id="{4AE38812-C3FA-461B-BC90-ABF35453E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290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45EA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245EA7"/>
                </a:solidFill>
                <a:latin typeface="Hiragino Sans GB"/>
                <a:ea typeface="Hiragino Sans GB"/>
                <a:cs typeface="Hiragino Sans GB"/>
              </a:rPr>
              <a:t>第 6 周</a:t>
            </a:r>
          </a:p>
        </p:txBody>
      </p:sp>
      <p:sp>
        <p:nvSpPr>
          <p:cNvPr id="10" name="text-345">
            <a:extLst xmlns:a="http://schemas.openxmlformats.org/drawingml/2006/main">
              <a:ext uri="{FF2B5EF4-FFF2-40B4-BE49-F238E27FC236}">
                <a16:creationId xmlns:a16="http://schemas.microsoft.com/office/drawing/2014/main" id="{5428338A-8720-4F20-88D0-8CFAD52C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29025"/>
            <a:ext cx="82391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展示可运行系统，提交代码与运行证据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EEE206-8A8C-4036-AD3E-25B5A1E05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33875"/>
            <a:ext cx="108585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7C9D9"/>
            </a:solidFill>
          </a:ln>
        </p:spPr>
      </p:sp>
      <p:sp>
        <p:nvSpPr>
          <p:cNvPr id="12" name="text-346">
            <a:extLst xmlns:a="http://schemas.openxmlformats.org/drawingml/2006/main">
              <a:ext uri="{FF2B5EF4-FFF2-40B4-BE49-F238E27FC236}">
                <a16:creationId xmlns:a16="http://schemas.microsoft.com/office/drawing/2014/main" id="{A91B4261-9699-486B-97D4-A111D421E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76775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877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6877E"/>
                </a:solidFill>
                <a:latin typeface="Hiragino Sans GB"/>
                <a:ea typeface="Hiragino Sans GB"/>
                <a:cs typeface="Hiragino Sans GB"/>
              </a:rPr>
              <a:t>已有基础：核心调度、后台、界面及各自测试已实现</a:t>
            </a:r>
          </a:p>
        </p:txBody>
      </p:sp>
      <p:sp>
        <p:nvSpPr>
          <p:cNvPr id="13" name="text-347">
            <a:extLst xmlns:a="http://schemas.openxmlformats.org/drawingml/2006/main">
              <a:ext uri="{FF2B5EF4-FFF2-40B4-BE49-F238E27FC236}">
                <a16:creationId xmlns:a16="http://schemas.microsoft.com/office/drawing/2014/main" id="{F94F0473-C8F2-4E07-93ED-81E0DD75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9334A"/>
                </a:solidFill>
                <a:latin typeface="Hiragino Sans GB"/>
                <a:ea typeface="Hiragino Sans GB"/>
                <a:cs typeface="Hiragino Sans GB"/>
              </a:rPr>
              <a:t>下一验收：界面与 coordinator 的统一链路，以及最终部署包</a:t>
            </a:r>
          </a:p>
        </p:txBody>
      </p:sp>
      <p:sp>
        <p:nvSpPr>
          <p:cNvPr id="14" name="text-348">
            <a:extLst xmlns:a="http://schemas.openxmlformats.org/drawingml/2006/main">
              <a:ext uri="{FF2B5EF4-FFF2-40B4-BE49-F238E27FC236}">
                <a16:creationId xmlns:a16="http://schemas.microsoft.com/office/drawing/2014/main" id="{4D8D3DAF-A1D2-479D-8152-51F0D143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377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3778B"/>
                </a:solidFill>
                <a:latin typeface="Hiragino Sans GB"/>
                <a:ea typeface="Hiragino Sans GB"/>
                <a:cs typeface="Hiragino Sans GB"/>
              </a:rPr>
              <a:t>计划按课程周次安排；本次代码基线 fb7de0b</a:t>
            </a:r>
          </a:p>
        </p:txBody>
      </p:sp>
    </p:spTree>
    <p:extLst>
      <p:ext uri="{BB962C8B-B14F-4D97-AF65-F5344CB8AC3E}">
        <p14:creationId xmlns:p14="http://schemas.microsoft.com/office/powerpoint/2010/main" val="4958690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2026-09-23T06:26:31.6620000Z</dcterms:created>
  <dcterms:modified xsi:type="dcterms:W3CDTF">2026-09-23T06:26:31.6620000Z</dcterms:modified>
</coreProperties>
</file>