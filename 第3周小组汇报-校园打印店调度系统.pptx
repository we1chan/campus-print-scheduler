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大家好，我们组的选题是“校园打印店经营管理与多设备协同调度系统”。本周汇报处于项目前期阶段，重点介绍选题背景、问题分析、初步解决思路以及预判的难点，具体实现将在第 4–5 周集中编码阶段展开。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汇报分为五部分：先介绍场景与背景，再做问题分析，然后给出初步的解决思路和界面原型，接着预判可能的难点，最后说明小组分工和后续计划。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先看场景：校园打印店的订单有明显的高峰，比如课前、考试周和毕业季。店里的打印机能力各不相同，有的只能黑白、有的能彩色、只有少数能打 A3。现在主要靠店主凭经验安排，学生不知道什么时候能取，店主也说不清耗材和营收。归结起来就是：谁先打、在哪台打、什么时候能取——这是一个典型的有限资源调度问题。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对应考核里的“需求调研”。对学生：希望价格透明、能按急缓选择服务、知道什么时候能取。对店主：希望订单能自动派到合适的设备，掌握设备与库存，并看到营业统计。对课程：这个场景能自然地覆盖进程调度、同步互斥、进程通信、守护进程和文件锁等原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例图梳理了系统边界和两类参与者。学生顾客：选择规格与服务档位、查看报价与取件时间、提交或取消订单、查询进度。店主：管理设备和接单状态、切换调度策略、补充耗材、查看经营统计。提交订单会包含“自动匹配设备并派单”这一系统内部用例，这正是调度的核心。具体交互细节会在详细设计阶段再细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用思维导图做的问题分解。核心矛盾是：有限的设备如何服务多样的订单，同时兼顾多方目标。拆成六个子问题：订单多样、设备异构、资源有限、目标冲突、承诺兑现、持续可靠。前三个对应资源分配与匹配，后三个对应调度目标与系统可靠性，每个子问题都会在后面的解决思路和难点中对应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这张图对应考核中的“分析运用了哪些 OS 原理”。参照课件里医院急诊室的类比：订单相当于进程，打印机相当于异构的处理机，等待队列就是就绪队列，派单规则就是调度算法；纸张耗材是多台设备共享的临界资源，需要互斥；界面和后台之间需要进程间通信；后台常驻服务对应课程要求的守护进程；订单记录的保存涉及文件系统和文件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体思路分五步：学生分档下单，系统统一报价并给出期限；派单时先做能力匹配，只考虑能做这一单的空闲设备；在候选订单之间用可切换的调度策略排序；开打前预留纸张，避免多台设备抢同一批耗材；后台服务以守护进程方式常驻，异常时能被拉起并恢复状态。最后，经营统计数据反过来指导策略和定价，形成闭环。这些都是方案层面的构想，具体实现在后续阶段确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调度策略是本课题和处理机调度对应最直接的部分。我们初步考虑五种候选：FCFS 最公平直观，但大单会阻塞小单；SJF 平均等待最短，但会让大单饥饿；优先级加老化兼顾急单和公平；截止期限优先更适合已经承诺了取件时间的订单；收入导向从店主角度出发。没有哪种策略全面最优，所以计划在同一批模拟订单上量化对比，再选择默认策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结合老师建议、从经营角度加入的一个创新点：服务分档。愿意等待的顾客可以拿到折扣，这样不急的订单会被引导到低谷时段，缓解高峰排队。报价和期限由系统统一计算并锁定。表中的折扣和时限只是初步设想，后面会通过模拟实验调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用原型工具思路画的低保真界面构想，只表达功能布局。学生端：依次选择纸张、色彩、单双面、页数份数和服务档位，系统给出报价和预计取件时间后再提交。店主端：顶部是营业额、等待单数、超时单数，中间是六台设备的状态和进度，下方是按当前策略排好的等待队列。界面中的数字仅为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第一类难点在调度与业务层面。一是多目标冲突，快、便宜、公平和营收不能同时最优；二是饥饿，短单急单一直优先会让大单等很久，需要老化机制；三是设备异构带来的瓶颈，A3 和彩色订单只能在少数设备上完成；四是承诺期限与实际产能的矛盾，高峰期可能超时，我们计划如实统计超时，并用档位折扣引导错峰。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类难点在系统与工程层面。一是并发一致性：多台设备同时取单时，不能重复打印同一单，也不能把库存扣成负数，需要把选单、占用设备和预留纸张放在同一个临界区里。二是常驻与故障恢复：课程要求系统必须有守护进程，界面关闭或后台崩溃后订单状态不能丢。需要说明的是，真实纸张打印出去无法撤销，课设中打印用模拟输出代替，可靠性结论只针对模拟输出。三是跨平台差异：传统守护进程的 fork、setsid 是 POSIX 机制，Windows 下需要另行处理。四是缺少真实数据，我们会构造可复现的模拟订单并标注假设。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分工按模块划分，三人工作量各约三分之一：A 负责调度策略、订单状态和经营统计分析；B 负责进程管理、守护进程、进程通信和文件存储；C 负责界面交互和跨平台集成。接口和方案由三人共同评审。进度按课程安排：第 1–2 周已完成组队、需求分析和概要设计，本周汇报，第 4–5 周集中编码，第 6 周小组展示验收，第 7–8 周个人汇报与答辩。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总结一下：我们的选题来自真实的校园打印店场景，能把进程调度、同步互斥、进程通信、守护进程和文件锁等原理贯通起来，并且调度策略的效果可以用模拟实验量化对比。以上是我们第 3 周的汇报，谢谢，请老师和同学批评指正。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1261872"/>
            <a:ext cx="3017520" cy="3017520"/>
          </a:xfrm>
          <a:prstGeom prst="ellipse">
            <a:avLst/>
          </a:prstGeom>
          <a:solidFill>
            <a:srgbClr val="0093C4">
              <a:alpha val="7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41080" y="1261872"/>
            <a:ext cx="3017520" cy="3017520"/>
          </a:xfrm>
          <a:prstGeom prst="ellipse">
            <a:avLst/>
          </a:prstGeom>
          <a:solidFill>
            <a:srgbClr val="D0266E">
              <a:alpha val="7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2606040"/>
            <a:ext cx="3017520" cy="3017520"/>
          </a:xfrm>
          <a:prstGeom prst="ellipse">
            <a:avLst/>
          </a:prstGeom>
          <a:solidFill>
            <a:srgbClr val="F2B600">
              <a:alpha val="7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spc="100" kern="0" dirty="0">
                <a:solidFill>
                  <a:srgbClr val="4CC3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操作系统原理课程设计 · 第 3 周课堂实验设计小组汇报</a:t>
            </a:r>
            <a:endParaRPr lang="zh-CN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校园打印店经营管理与</a:t>
            </a:r>
            <a:endParaRPr lang="zh-CN" sz="3800" dirty="0"/>
          </a:p>
          <a:p>
            <a:pPr indent="0" marL="0">
              <a:lnSpc>
                <a:spcPct val="110000"/>
              </a:lnSpc>
              <a:buNone/>
            </a:pPr>
            <a:r>
              <a:rPr lang="zh-CN" alt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多设备协同调度系统</a:t>
            </a:r>
            <a:endParaRPr lang="zh-CN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947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C9CF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场景背景 · 问题分析 · 解决思路 · 难点预判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846320"/>
            <a:ext cx="128016" cy="128016"/>
          </a:xfrm>
          <a:prstGeom prst="ellipse">
            <a:avLst/>
          </a:prstGeom>
          <a:solidFill>
            <a:srgbClr val="0093C4"/>
          </a:solidFill>
          <a:ln/>
        </p:spPr>
      </p:sp>
      <p:sp>
        <p:nvSpPr>
          <p:cNvPr id="9" name="Shape 7"/>
          <p:cNvSpPr/>
          <p:nvPr/>
        </p:nvSpPr>
        <p:spPr>
          <a:xfrm>
            <a:off x="923544" y="4846320"/>
            <a:ext cx="128016" cy="128016"/>
          </a:xfrm>
          <a:prstGeom prst="ellipse">
            <a:avLst/>
          </a:prstGeom>
          <a:solidFill>
            <a:srgbClr val="D0266E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4846320"/>
            <a:ext cx="128016" cy="128016"/>
          </a:xfrm>
          <a:prstGeom prst="ellipse">
            <a:avLst/>
          </a:prstGeom>
          <a:solidFill>
            <a:srgbClr val="F2B600"/>
          </a:solidFill>
          <a:ln/>
        </p:spPr>
      </p:sp>
      <p:sp>
        <p:nvSpPr>
          <p:cNvPr id="11" name="Shape 9"/>
          <p:cNvSpPr/>
          <p:nvPr/>
        </p:nvSpPr>
        <p:spPr>
          <a:xfrm>
            <a:off x="1307592" y="484632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5120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8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三人小组 · 2026 年 9 月</a:t>
            </a:r>
            <a:endParaRPr lang="zh-CN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203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103120"/>
            <a:ext cx="128016" cy="128016"/>
          </a:xfrm>
          <a:prstGeom prst="ellipse">
            <a:avLst/>
          </a:prstGeom>
          <a:solidFill>
            <a:srgbClr val="0093C4"/>
          </a:solidFill>
          <a:ln/>
        </p:spPr>
      </p:sp>
      <p:sp>
        <p:nvSpPr>
          <p:cNvPr id="4" name="Shape 2"/>
          <p:cNvSpPr/>
          <p:nvPr/>
        </p:nvSpPr>
        <p:spPr>
          <a:xfrm>
            <a:off x="740664" y="2103120"/>
            <a:ext cx="128016" cy="128016"/>
          </a:xfrm>
          <a:prstGeom prst="ellipse">
            <a:avLst/>
          </a:prstGeom>
          <a:solidFill>
            <a:srgbClr val="D0266E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103120"/>
            <a:ext cx="128016" cy="128016"/>
          </a:xfrm>
          <a:prstGeom prst="ellipse">
            <a:avLst/>
          </a:prstGeom>
          <a:solidFill>
            <a:srgbClr val="F2B600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210312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汇报提纲</a:t>
            </a:r>
            <a:endParaRPr lang="zh-CN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CN" altLang="en-US" sz="1300" dirty="0">
                <a:solidFill>
                  <a:srgbClr val="C9CF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本次汇报聚焦前期调研与方案构想，暂不涉及具体实现细节</a:t>
            </a:r>
            <a:endParaRPr lang="zh-CN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960120"/>
            <a:ext cx="640080" cy="640080"/>
          </a:xfrm>
          <a:prstGeom prst="ellipse">
            <a:avLst/>
          </a:prstGeom>
          <a:solidFill>
            <a:srgbClr val="0093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9418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场景与背景</a:t>
            </a:r>
            <a:endParaRPr lang="zh-CN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校园打印店高峰期的真实痛点与研发目标</a:t>
            </a:r>
            <a:endParaRPr lang="zh-CN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2011680"/>
            <a:ext cx="640080" cy="640080"/>
          </a:xfrm>
          <a:prstGeom prst="ellipse">
            <a:avLst/>
          </a:prstGeom>
          <a:solidFill>
            <a:srgbClr val="D0266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377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19933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问题分析</a:t>
            </a:r>
            <a:endParaRPr lang="zh-CN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2377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用例梳理、问题分解与操作系统原理映射</a:t>
            </a:r>
            <a:endParaRPr lang="zh-CN" sz="1300" dirty="0"/>
          </a:p>
        </p:txBody>
      </p:sp>
      <p:sp>
        <p:nvSpPr>
          <p:cNvPr id="17" name="Shape 15"/>
          <p:cNvSpPr/>
          <p:nvPr/>
        </p:nvSpPr>
        <p:spPr>
          <a:xfrm>
            <a:off x="4937760" y="3063240"/>
            <a:ext cx="640080" cy="640080"/>
          </a:xfrm>
          <a:prstGeom prst="ellipse">
            <a:avLst/>
          </a:prstGeom>
          <a:solidFill>
            <a:srgbClr val="F2B6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3776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852160" y="30449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解决思路</a:t>
            </a:r>
            <a:endParaRPr lang="zh-CN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3429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分档下单、能力匹配、多策略调度与界面原型</a:t>
            </a:r>
            <a:endParaRPr lang="zh-CN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4114800"/>
            <a:ext cx="640080" cy="640080"/>
          </a:xfrm>
          <a:prstGeom prst="ellipse">
            <a:avLst/>
          </a:prstGeom>
          <a:solidFill>
            <a:srgbClr val="1B203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377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409651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难点与挑战</a:t>
            </a:r>
            <a:endParaRPr lang="zh-CN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4480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调度业务与系统工程两个层面的预判</a:t>
            </a:r>
            <a:endParaRPr lang="zh-CN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5166360"/>
            <a:ext cx="640080" cy="640080"/>
          </a:xfrm>
          <a:prstGeom prst="ellipse">
            <a:avLst/>
          </a:prstGeom>
          <a:solidFill>
            <a:srgbClr val="0093C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93776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zh-CN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852160" y="51480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分工与计划</a:t>
            </a:r>
            <a:endParaRPr lang="zh-CN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5852160" y="5532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三人分工与后续进度安排</a:t>
            </a:r>
            <a:endParaRPr lang="zh-CN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183112" y="64008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8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zh-CN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spc="100" kern="0" dirty="0">
                <a:solidFill>
                  <a:srgbClr val="007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pPr indent="0" marL="0">
              <a:buNone/>
            </a:pPr>
            <a:r>
              <a:rPr lang="zh-CN" altLang="en-US" sz="1200" spc="100" kern="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场景与背景</a:t>
            </a:r>
            <a:endParaRPr lang="zh-CN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一家校园打印店的高峰时段</a:t>
            </a:r>
            <a:endParaRPr lang="zh-CN" sz="3000" dirty="0"/>
          </a:p>
        </p:txBody>
      </p:sp>
      <p:sp>
        <p:nvSpPr>
          <p:cNvPr id="4" name="Shape 2"/>
          <p:cNvSpPr/>
          <p:nvPr/>
        </p:nvSpPr>
        <p:spPr>
          <a:xfrm>
            <a:off x="10945368" y="457200"/>
            <a:ext cx="128016" cy="128016"/>
          </a:xfrm>
          <a:prstGeom prst="ellipse">
            <a:avLst/>
          </a:prstGeom>
          <a:solidFill>
            <a:srgbClr val="0093C4"/>
          </a:solidFill>
          <a:ln/>
        </p:spPr>
      </p:sp>
      <p:sp>
        <p:nvSpPr>
          <p:cNvPr id="5" name="Shape 3"/>
          <p:cNvSpPr/>
          <p:nvPr/>
        </p:nvSpPr>
        <p:spPr>
          <a:xfrm>
            <a:off x="11137392" y="457200"/>
            <a:ext cx="128016" cy="128016"/>
          </a:xfrm>
          <a:prstGeom prst="ellipse">
            <a:avLst/>
          </a:prstGeom>
          <a:solidFill>
            <a:srgbClr val="D0266E"/>
          </a:solidFill>
          <a:ln/>
        </p:spPr>
      </p:sp>
      <p:sp>
        <p:nvSpPr>
          <p:cNvPr id="6" name="Shape 4"/>
          <p:cNvSpPr/>
          <p:nvPr/>
        </p:nvSpPr>
        <p:spPr>
          <a:xfrm>
            <a:off x="11329416" y="457200"/>
            <a:ext cx="128016" cy="128016"/>
          </a:xfrm>
          <a:prstGeom prst="ellipse">
            <a:avLst/>
          </a:prstGeom>
          <a:solidFill>
            <a:srgbClr val="F2B600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457200"/>
            <a:ext cx="128016" cy="128016"/>
          </a:xfrm>
          <a:prstGeom prst="ellipse">
            <a:avLst/>
          </a:prstGeom>
          <a:solidFill>
            <a:srgbClr val="1B20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183112" y="64008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8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zh-CN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4592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zh-CN" altLang="en-US" sz="15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课前赶印讲义、考试周集中打印复习资料、毕业季批量打印论文……订单常在短时间内集中涌入。</a:t>
            </a:r>
            <a:endParaRPr lang="zh-CN" sz="1500" dirty="0"/>
          </a:p>
          <a:p>
            <a:pPr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而店里只有几台能力各不相同的打印机，店主一边收单、一边凭经验安排先后顺序。</a:t>
            </a:r>
            <a:endParaRPr lang="zh-CN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50792"/>
            <a:ext cx="4480560" cy="2103120"/>
          </a:xfrm>
          <a:prstGeom prst="roundRect">
            <a:avLst>
              <a:gd name="adj" fmla="val 5217"/>
            </a:avLst>
          </a:prstGeom>
          <a:solidFill>
            <a:srgbClr val="E3F4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2976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21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谁先打？在哪台打？</a:t>
            </a:r>
            <a:endParaRPr lang="zh-CN" sz="2100" dirty="0"/>
          </a:p>
          <a:p>
            <a:pPr indent="0" marL="0">
              <a:lnSpc>
                <a:spcPct val="115000"/>
              </a:lnSpc>
              <a:buNone/>
            </a:pPr>
            <a:r>
              <a:rPr lang="zh-CN" altLang="en-US" sz="21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什么时候能取？</a:t>
            </a:r>
            <a:endParaRPr lang="zh-CN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4406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007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——本质上是一个“有限资源如何分配”的调度问题</a:t>
            </a:r>
            <a:endParaRPr lang="zh-CN" sz="1300" dirty="0"/>
          </a:p>
        </p:txBody>
      </p:sp>
      <p:sp>
        <p:nvSpPr>
          <p:cNvPr id="13" name="Shape 11"/>
          <p:cNvSpPr/>
          <p:nvPr/>
        </p:nvSpPr>
        <p:spPr>
          <a:xfrm>
            <a:off x="5486400" y="1645920"/>
            <a:ext cx="2926080" cy="2103120"/>
          </a:xfrm>
          <a:prstGeom prst="roundRect">
            <a:avLst>
              <a:gd name="adj" fmla="val 5217"/>
            </a:avLst>
          </a:prstGeom>
          <a:solidFill>
            <a:srgbClr val="F2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5742432" y="1901952"/>
            <a:ext cx="566928" cy="566928"/>
          </a:xfrm>
          <a:prstGeom prst="ellipse">
            <a:avLst/>
          </a:prstGeom>
          <a:solidFill>
            <a:srgbClr val="0093C4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164" y="2043684"/>
            <a:ext cx="283464" cy="28346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742432" y="2606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排队久、取件时间不确定</a:t>
            </a:r>
            <a:endParaRPr lang="zh-CN" sz="1550" dirty="0"/>
          </a:p>
        </p:txBody>
      </p:sp>
      <p:sp>
        <p:nvSpPr>
          <p:cNvPr id="17" name="Text 14"/>
          <p:cNvSpPr txBox="1"/>
          <p:nvPr/>
        </p:nvSpPr>
        <p:spPr>
          <a:xfrm>
            <a:off x="5742432" y="29992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学生不知道何时能取，只能守在店里等或反复询问</a:t>
            </a:r>
            <a:endParaRPr lang="zh-CN" sz="1250" dirty="0"/>
          </a:p>
        </p:txBody>
      </p:sp>
      <p:sp>
        <p:nvSpPr>
          <p:cNvPr id="18" name="Shape 15"/>
          <p:cNvSpPr/>
          <p:nvPr/>
        </p:nvSpPr>
        <p:spPr>
          <a:xfrm>
            <a:off x="8714232" y="1645920"/>
            <a:ext cx="2926080" cy="2103120"/>
          </a:xfrm>
          <a:prstGeom prst="roundRect">
            <a:avLst>
              <a:gd name="adj" fmla="val 5217"/>
            </a:avLst>
          </a:prstGeom>
          <a:solidFill>
            <a:srgbClr val="F2F4F8"/>
          </a:solidFill>
          <a:ln/>
        </p:spPr>
      </p:sp>
      <p:sp>
        <p:nvSpPr>
          <p:cNvPr id="19" name="Shape 16"/>
          <p:cNvSpPr/>
          <p:nvPr/>
        </p:nvSpPr>
        <p:spPr>
          <a:xfrm>
            <a:off x="8970264" y="1901952"/>
            <a:ext cx="566928" cy="566928"/>
          </a:xfrm>
          <a:prstGeom prst="ellipse">
            <a:avLst/>
          </a:prstGeom>
          <a:solidFill>
            <a:srgbClr val="D0266E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1996" y="2043684"/>
            <a:ext cx="283464" cy="28346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970264" y="2606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设备能力参差不齐</a:t>
            </a:r>
            <a:endParaRPr lang="zh-CN" sz="1550" dirty="0"/>
          </a:p>
        </p:txBody>
      </p:sp>
      <p:sp>
        <p:nvSpPr>
          <p:cNvPr id="22" name="Text 18"/>
          <p:cNvSpPr txBox="1"/>
          <p:nvPr/>
        </p:nvSpPr>
        <p:spPr>
          <a:xfrm>
            <a:off x="8970264" y="29992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黑白/彩色、A4/A3、单面/双面，并非每台都能接每一单</a:t>
            </a:r>
            <a:endParaRPr lang="zh-CN" sz="1250" dirty="0"/>
          </a:p>
        </p:txBody>
      </p:sp>
      <p:sp>
        <p:nvSpPr>
          <p:cNvPr id="23" name="Shape 19"/>
          <p:cNvSpPr/>
          <p:nvPr/>
        </p:nvSpPr>
        <p:spPr>
          <a:xfrm>
            <a:off x="5486400" y="4050792"/>
            <a:ext cx="2926080" cy="2103120"/>
          </a:xfrm>
          <a:prstGeom prst="roundRect">
            <a:avLst>
              <a:gd name="adj" fmla="val 5217"/>
            </a:avLst>
          </a:prstGeom>
          <a:solidFill>
            <a:srgbClr val="F2F4F8"/>
          </a:solidFill>
          <a:ln/>
        </p:spPr>
      </p:sp>
      <p:sp>
        <p:nvSpPr>
          <p:cNvPr id="24" name="Shape 20"/>
          <p:cNvSpPr/>
          <p:nvPr/>
        </p:nvSpPr>
        <p:spPr>
          <a:xfrm>
            <a:off x="5742432" y="4306824"/>
            <a:ext cx="566928" cy="566928"/>
          </a:xfrm>
          <a:prstGeom prst="ellipse">
            <a:avLst/>
          </a:prstGeom>
          <a:solidFill>
            <a:srgbClr val="F2B600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4448556"/>
            <a:ext cx="283464" cy="28346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742432" y="50109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派单全凭经验</a:t>
            </a:r>
            <a:endParaRPr lang="zh-CN" sz="1550" dirty="0"/>
          </a:p>
        </p:txBody>
      </p:sp>
      <p:sp>
        <p:nvSpPr>
          <p:cNvPr id="27" name="Text 22"/>
          <p:cNvSpPr txBox="1"/>
          <p:nvPr/>
        </p:nvSpPr>
        <p:spPr>
          <a:xfrm>
            <a:off x="5742432" y="540410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高峰时手工排序，易插队、漏单，大单小单相互阻塞</a:t>
            </a:r>
            <a:endParaRPr lang="zh-CN" sz="1250" dirty="0"/>
          </a:p>
        </p:txBody>
      </p:sp>
      <p:sp>
        <p:nvSpPr>
          <p:cNvPr id="28" name="Shape 23"/>
          <p:cNvSpPr/>
          <p:nvPr/>
        </p:nvSpPr>
        <p:spPr>
          <a:xfrm>
            <a:off x="8714232" y="4050792"/>
            <a:ext cx="2926080" cy="2103120"/>
          </a:xfrm>
          <a:prstGeom prst="roundRect">
            <a:avLst>
              <a:gd name="adj" fmla="val 5217"/>
            </a:avLst>
          </a:prstGeom>
          <a:solidFill>
            <a:srgbClr val="F2F4F8"/>
          </a:solidFill>
          <a:ln/>
        </p:spPr>
      </p:sp>
      <p:sp>
        <p:nvSpPr>
          <p:cNvPr id="29" name="Shape 24"/>
          <p:cNvSpPr/>
          <p:nvPr/>
        </p:nvSpPr>
        <p:spPr>
          <a:xfrm>
            <a:off x="8970264" y="4306824"/>
            <a:ext cx="566928" cy="566928"/>
          </a:xfrm>
          <a:prstGeom prst="ellipse">
            <a:avLst/>
          </a:prstGeom>
          <a:solidFill>
            <a:srgbClr val="1B2030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1996" y="4448556"/>
            <a:ext cx="283464" cy="28346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970264" y="50109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耗材与经营说不清</a:t>
            </a:r>
            <a:endParaRPr lang="zh-CN" sz="1550" dirty="0"/>
          </a:p>
        </p:txBody>
      </p:sp>
      <p:sp>
        <p:nvSpPr>
          <p:cNvPr id="32" name="Text 26"/>
          <p:cNvSpPr txBox="1"/>
          <p:nvPr/>
        </p:nvSpPr>
        <p:spPr>
          <a:xfrm>
            <a:off x="8970264" y="540410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缺纸时才发现；营业额、成本、超时情况缺少统计</a:t>
            </a:r>
            <a:endParaRPr lang="zh-CN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spc="100" kern="0" dirty="0">
                <a:solidFill>
                  <a:srgbClr val="007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pPr indent="0" marL="0">
              <a:buNone/>
            </a:pPr>
            <a:r>
              <a:rPr lang="zh-CN" altLang="en-US" sz="1200" spc="100" kern="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场景与背景</a:t>
            </a:r>
            <a:endParaRPr lang="zh-CN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系统研发目标与项目必要性</a:t>
            </a:r>
            <a:endParaRPr lang="zh-CN" sz="3000" dirty="0"/>
          </a:p>
        </p:txBody>
      </p:sp>
      <p:sp>
        <p:nvSpPr>
          <p:cNvPr id="4" name="Shape 2"/>
          <p:cNvSpPr/>
          <p:nvPr/>
        </p:nvSpPr>
        <p:spPr>
          <a:xfrm>
            <a:off x="10945368" y="457200"/>
            <a:ext cx="128016" cy="128016"/>
          </a:xfrm>
          <a:prstGeom prst="ellipse">
            <a:avLst/>
          </a:prstGeom>
          <a:solidFill>
            <a:srgbClr val="0093C4"/>
          </a:solidFill>
          <a:ln/>
        </p:spPr>
      </p:sp>
      <p:sp>
        <p:nvSpPr>
          <p:cNvPr id="5" name="Shape 3"/>
          <p:cNvSpPr/>
          <p:nvPr/>
        </p:nvSpPr>
        <p:spPr>
          <a:xfrm>
            <a:off x="11137392" y="457200"/>
            <a:ext cx="128016" cy="128016"/>
          </a:xfrm>
          <a:prstGeom prst="ellipse">
            <a:avLst/>
          </a:prstGeom>
          <a:solidFill>
            <a:srgbClr val="D0266E"/>
          </a:solidFill>
          <a:ln/>
        </p:spPr>
      </p:sp>
      <p:sp>
        <p:nvSpPr>
          <p:cNvPr id="6" name="Shape 4"/>
          <p:cNvSpPr/>
          <p:nvPr/>
        </p:nvSpPr>
        <p:spPr>
          <a:xfrm>
            <a:off x="11329416" y="457200"/>
            <a:ext cx="128016" cy="128016"/>
          </a:xfrm>
          <a:prstGeom prst="ellipse">
            <a:avLst/>
          </a:prstGeom>
          <a:solidFill>
            <a:srgbClr val="F2B600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457200"/>
            <a:ext cx="128016" cy="128016"/>
          </a:xfrm>
          <a:prstGeom prst="ellipse">
            <a:avLst/>
          </a:prstGeom>
          <a:solidFill>
            <a:srgbClr val="1B20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183112" y="64008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8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3453689" cy="3566160"/>
          </a:xfrm>
          <a:prstGeom prst="roundRect">
            <a:avLst>
              <a:gd name="adj" fmla="val 3177"/>
            </a:avLst>
          </a:prstGeom>
          <a:solidFill>
            <a:srgbClr val="F2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0093C4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645920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学生顾客</a:t>
            </a:r>
            <a:endParaRPr lang="zh-CN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78892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按规格明码标价，价格透明</a:t>
            </a:r>
            <a:endParaRPr lang="zh-CN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按急缓自选服务档位</a:t>
            </a:r>
            <a:endParaRPr lang="zh-CN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下单即知预计取件时间，并可随时查看进度</a:t>
            </a:r>
            <a:endParaRPr lang="zh-CN" sz="1400" dirty="0"/>
          </a:p>
        </p:txBody>
      </p:sp>
      <p:sp>
        <p:nvSpPr>
          <p:cNvPr id="14" name="Shape 11"/>
          <p:cNvSpPr/>
          <p:nvPr/>
        </p:nvSpPr>
        <p:spPr>
          <a:xfrm>
            <a:off x="822960" y="4526280"/>
            <a:ext cx="2905049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4526280"/>
            <a:ext cx="290504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50" b="1" dirty="0">
                <a:solidFill>
                  <a:srgbClr val="007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关注点  </a:t>
            </a:r>
            <a:pPr algn="ctr" indent="0" marL="0">
              <a:buNone/>
            </a:pPr>
            <a:r>
              <a:rPr lang="zh-CN" altLang="en-US" sz="125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价格透明 · 时间可预期</a:t>
            </a:r>
            <a:endParaRPr lang="zh-CN" sz="1250" dirty="0"/>
          </a:p>
        </p:txBody>
      </p:sp>
      <p:sp>
        <p:nvSpPr>
          <p:cNvPr id="16" name="Shape 13"/>
          <p:cNvSpPr/>
          <p:nvPr/>
        </p:nvSpPr>
        <p:spPr>
          <a:xfrm>
            <a:off x="4368089" y="1600200"/>
            <a:ext cx="3453689" cy="3566160"/>
          </a:xfrm>
          <a:prstGeom prst="roundRect">
            <a:avLst>
              <a:gd name="adj" fmla="val 3177"/>
            </a:avLst>
          </a:prstGeom>
          <a:solidFill>
            <a:srgbClr val="F2F4F8"/>
          </a:solidFill>
          <a:ln/>
        </p:spPr>
      </p:sp>
      <p:sp>
        <p:nvSpPr>
          <p:cNvPr id="17" name="Shape 14"/>
          <p:cNvSpPr/>
          <p:nvPr/>
        </p:nvSpPr>
        <p:spPr>
          <a:xfrm>
            <a:off x="4642409" y="1874520"/>
            <a:ext cx="640080" cy="640080"/>
          </a:xfrm>
          <a:prstGeom prst="ellipse">
            <a:avLst/>
          </a:prstGeom>
          <a:solidFill>
            <a:srgbClr val="D0266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429" y="20345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465369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打印店店主</a:t>
            </a:r>
            <a:endParaRPr lang="zh-CN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4642409" y="278892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订单自动派给能力匹配的空闲设备</a:t>
            </a:r>
            <a:endParaRPr lang="zh-CN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实时掌握设备状态与纸张库存</a:t>
            </a:r>
            <a:endParaRPr lang="zh-CN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统计营业额、耗材成本与超时情况</a:t>
            </a:r>
            <a:endParaRPr lang="zh-CN" sz="1400" dirty="0"/>
          </a:p>
        </p:txBody>
      </p:sp>
      <p:sp>
        <p:nvSpPr>
          <p:cNvPr id="21" name="Shape 17"/>
          <p:cNvSpPr/>
          <p:nvPr/>
        </p:nvSpPr>
        <p:spPr>
          <a:xfrm>
            <a:off x="4642409" y="4526280"/>
            <a:ext cx="2905049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642409" y="4526280"/>
            <a:ext cx="290504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50" b="1" dirty="0">
                <a:solidFill>
                  <a:srgbClr val="BE1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关注点  </a:t>
            </a:r>
            <a:pPr algn="ctr" indent="0" marL="0">
              <a:buNone/>
            </a:pPr>
            <a:r>
              <a:rPr lang="zh-CN" altLang="en-US" sz="125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自动派单 · 经营可掌控</a:t>
            </a:r>
            <a:endParaRPr lang="zh-CN" sz="1250" dirty="0"/>
          </a:p>
        </p:txBody>
      </p:sp>
      <p:sp>
        <p:nvSpPr>
          <p:cNvPr id="23" name="Shape 19"/>
          <p:cNvSpPr/>
          <p:nvPr/>
        </p:nvSpPr>
        <p:spPr>
          <a:xfrm>
            <a:off x="8187538" y="1600200"/>
            <a:ext cx="3453689" cy="3566160"/>
          </a:xfrm>
          <a:prstGeom prst="roundRect">
            <a:avLst>
              <a:gd name="adj" fmla="val 3177"/>
            </a:avLst>
          </a:prstGeom>
          <a:solidFill>
            <a:srgbClr val="F2F4F8"/>
          </a:solidFill>
          <a:ln/>
        </p:spPr>
      </p:sp>
      <p:sp>
        <p:nvSpPr>
          <p:cNvPr id="24" name="Shape 20"/>
          <p:cNvSpPr/>
          <p:nvPr/>
        </p:nvSpPr>
        <p:spPr>
          <a:xfrm>
            <a:off x="8461858" y="1874520"/>
            <a:ext cx="640080" cy="640080"/>
          </a:xfrm>
          <a:prstGeom prst="ellipse">
            <a:avLst/>
          </a:prstGeom>
          <a:solidFill>
            <a:srgbClr val="1B2030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878" y="2034540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284818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课程目标</a:t>
            </a:r>
            <a:endParaRPr lang="zh-CN" sz="1900" dirty="0"/>
          </a:p>
        </p:txBody>
      </p:sp>
      <p:sp>
        <p:nvSpPr>
          <p:cNvPr id="27" name="Text 22"/>
          <p:cNvSpPr txBox="1"/>
          <p:nvPr/>
        </p:nvSpPr>
        <p:spPr>
          <a:xfrm>
            <a:off x="8461858" y="278892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以真实场景综合运用操作系统原理</a:t>
            </a:r>
            <a:endParaRPr lang="zh-CN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涵盖调度、同步互斥与进程通信</a:t>
            </a:r>
            <a:endParaRPr lang="zh-CN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守护进程、文件读写与文件锁</a:t>
            </a:r>
            <a:endParaRPr lang="zh-CN" sz="1400" dirty="0"/>
          </a:p>
        </p:txBody>
      </p:sp>
      <p:sp>
        <p:nvSpPr>
          <p:cNvPr id="28" name="Shape 23"/>
          <p:cNvSpPr/>
          <p:nvPr/>
        </p:nvSpPr>
        <p:spPr>
          <a:xfrm>
            <a:off x="8461858" y="4526280"/>
            <a:ext cx="2905049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461858" y="4526280"/>
            <a:ext cx="290504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5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关注点  </a:t>
            </a:r>
            <a:pPr algn="ctr" indent="0" marL="0">
              <a:buNone/>
            </a:pPr>
            <a:r>
              <a:rPr lang="zh-CN" altLang="en-US" sz="125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原理与真实问题结合</a:t>
            </a:r>
            <a:endParaRPr lang="zh-CN" sz="1250" dirty="0"/>
          </a:p>
        </p:txBody>
      </p:sp>
      <p:sp>
        <p:nvSpPr>
          <p:cNvPr id="30" name="Shape 25"/>
          <p:cNvSpPr/>
          <p:nvPr/>
        </p:nvSpPr>
        <p:spPr>
          <a:xfrm>
            <a:off x="548640" y="5440680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1B2030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68680" y="5440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4CC3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必要性  </a:t>
            </a:r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高峰期打印机是稀缺资源，订单多样、设备异构、目标相互冲突，人工排单难以兼顾效率与公平——值得借助操作系统的调度思想系统化地解决。</a:t>
            </a:r>
            <a:endParaRPr lang="zh-CN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spc="100" kern="0" dirty="0">
                <a:solidFill>
                  <a:srgbClr val="BE1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pPr indent="0" marL="0">
              <a:buNone/>
            </a:pPr>
            <a:r>
              <a:rPr lang="zh-CN" altLang="en-US" sz="1200" spc="100" kern="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问题分析</a:t>
            </a:r>
            <a:endParaRPr lang="zh-CN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需求分析：系统用例图</a:t>
            </a:r>
            <a:endParaRPr lang="zh-CN" sz="3000" dirty="0"/>
          </a:p>
        </p:txBody>
      </p:sp>
      <p:sp>
        <p:nvSpPr>
          <p:cNvPr id="4" name="Shape 2"/>
          <p:cNvSpPr/>
          <p:nvPr/>
        </p:nvSpPr>
        <p:spPr>
          <a:xfrm>
            <a:off x="10945368" y="457200"/>
            <a:ext cx="128016" cy="128016"/>
          </a:xfrm>
          <a:prstGeom prst="ellipse">
            <a:avLst/>
          </a:prstGeom>
          <a:solidFill>
            <a:srgbClr val="0093C4"/>
          </a:solidFill>
          <a:ln/>
        </p:spPr>
      </p:sp>
      <p:sp>
        <p:nvSpPr>
          <p:cNvPr id="5" name="Shape 3"/>
          <p:cNvSpPr/>
          <p:nvPr/>
        </p:nvSpPr>
        <p:spPr>
          <a:xfrm>
            <a:off x="11137392" y="457200"/>
            <a:ext cx="128016" cy="128016"/>
          </a:xfrm>
          <a:prstGeom prst="ellipse">
            <a:avLst/>
          </a:prstGeom>
          <a:solidFill>
            <a:srgbClr val="D0266E"/>
          </a:solidFill>
          <a:ln/>
        </p:spPr>
      </p:sp>
      <p:sp>
        <p:nvSpPr>
          <p:cNvPr id="6" name="Shape 4"/>
          <p:cNvSpPr/>
          <p:nvPr/>
        </p:nvSpPr>
        <p:spPr>
          <a:xfrm>
            <a:off x="11329416" y="457200"/>
            <a:ext cx="128016" cy="128016"/>
          </a:xfrm>
          <a:prstGeom prst="ellipse">
            <a:avLst/>
          </a:prstGeom>
          <a:solidFill>
            <a:srgbClr val="F2B600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457200"/>
            <a:ext cx="128016" cy="128016"/>
          </a:xfrm>
          <a:prstGeom prst="ellipse">
            <a:avLst/>
          </a:prstGeom>
          <a:solidFill>
            <a:srgbClr val="1B20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183112" y="64008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8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463040"/>
            <a:ext cx="6812280" cy="4937760"/>
          </a:xfrm>
          <a:prstGeom prst="rect">
            <a:avLst/>
          </a:prstGeom>
          <a:solidFill>
            <a:srgbClr val="FAFBFC"/>
          </a:solidFill>
          <a:ln w="15875">
            <a:solidFill>
              <a:srgbClr val="1B20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8036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«system»  打印店经营调度系统</a:t>
            </a:r>
            <a:endParaRPr lang="zh-CN" sz="1200" dirty="0"/>
          </a:p>
        </p:txBody>
      </p:sp>
      <p:sp>
        <p:nvSpPr>
          <p:cNvPr id="11" name="Shape 9"/>
          <p:cNvSpPr/>
          <p:nvPr/>
        </p:nvSpPr>
        <p:spPr>
          <a:xfrm>
            <a:off x="1325880" y="27432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2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54480" y="3200400"/>
            <a:ext cx="0" cy="777240"/>
          </a:xfrm>
          <a:prstGeom prst="line">
            <a:avLst/>
          </a:prstGeom>
          <a:noFill/>
          <a:ln w="25400">
            <a:solidFill>
              <a:srgbClr val="1B2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3474720"/>
            <a:ext cx="731520" cy="0"/>
          </a:xfrm>
          <a:prstGeom prst="line">
            <a:avLst/>
          </a:prstGeom>
          <a:noFill/>
          <a:ln w="25400">
            <a:solidFill>
              <a:srgbClr val="1B2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234440" y="3977640"/>
            <a:ext cx="320040" cy="502920"/>
          </a:xfrm>
          <a:prstGeom prst="line">
            <a:avLst/>
          </a:prstGeom>
          <a:noFill/>
          <a:ln w="25400">
            <a:solidFill>
              <a:srgbClr val="1B20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3977640"/>
            <a:ext cx="320040" cy="502920"/>
          </a:xfrm>
          <a:prstGeom prst="line">
            <a:avLst/>
          </a:prstGeom>
          <a:noFill/>
          <a:ln w="25400">
            <a:solidFill>
              <a:srgbClr val="1B20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617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学生顾客</a:t>
            </a:r>
            <a:endParaRPr lang="zh-CN" sz="1400" dirty="0"/>
          </a:p>
        </p:txBody>
      </p:sp>
      <p:sp>
        <p:nvSpPr>
          <p:cNvPr id="17" name="Shape 15"/>
          <p:cNvSpPr/>
          <p:nvPr/>
        </p:nvSpPr>
        <p:spPr>
          <a:xfrm>
            <a:off x="10424160" y="27432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20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52760" y="3200400"/>
            <a:ext cx="0" cy="777240"/>
          </a:xfrm>
          <a:prstGeom prst="line">
            <a:avLst/>
          </a:prstGeom>
          <a:noFill/>
          <a:ln w="25400">
            <a:solidFill>
              <a:srgbClr val="1B20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87000" y="3474720"/>
            <a:ext cx="731520" cy="0"/>
          </a:xfrm>
          <a:prstGeom prst="line">
            <a:avLst/>
          </a:prstGeom>
          <a:noFill/>
          <a:ln w="25400">
            <a:solidFill>
              <a:srgbClr val="1B20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0332720" y="3977640"/>
            <a:ext cx="320040" cy="502920"/>
          </a:xfrm>
          <a:prstGeom prst="line">
            <a:avLst/>
          </a:prstGeom>
          <a:noFill/>
          <a:ln w="25400">
            <a:solidFill>
              <a:srgbClr val="1B20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52760" y="3977640"/>
            <a:ext cx="320040" cy="502920"/>
          </a:xfrm>
          <a:prstGeom prst="line">
            <a:avLst/>
          </a:prstGeom>
          <a:noFill/>
          <a:ln w="25400">
            <a:solidFill>
              <a:srgbClr val="1B203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21240" y="4617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店主 / 店员</a:t>
            </a:r>
            <a:endParaRPr lang="zh-CN" sz="1400" dirty="0"/>
          </a:p>
        </p:txBody>
      </p:sp>
      <p:sp>
        <p:nvSpPr>
          <p:cNvPr id="23" name="Shape 21"/>
          <p:cNvSpPr/>
          <p:nvPr/>
        </p:nvSpPr>
        <p:spPr>
          <a:xfrm flipV="1">
            <a:off x="2011680" y="2331720"/>
            <a:ext cx="1051560" cy="1188720"/>
          </a:xfrm>
          <a:prstGeom prst="line">
            <a:avLst/>
          </a:prstGeom>
          <a:noFill/>
          <a:ln w="15875">
            <a:solidFill>
              <a:srgbClr val="5A63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2331720"/>
            <a:ext cx="1051560" cy="1188720"/>
          </a:xfrm>
          <a:prstGeom prst="line">
            <a:avLst/>
          </a:prstGeom>
          <a:noFill/>
          <a:ln w="15875">
            <a:solidFill>
              <a:srgbClr val="5A63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63240" y="2011680"/>
            <a:ext cx="288036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0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63240" y="20116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5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选择打印规格与服务档位</a:t>
            </a:r>
            <a:endParaRPr lang="zh-CN" sz="1250" dirty="0"/>
          </a:p>
        </p:txBody>
      </p:sp>
      <p:sp>
        <p:nvSpPr>
          <p:cNvPr id="27" name="Shape 25"/>
          <p:cNvSpPr/>
          <p:nvPr/>
        </p:nvSpPr>
        <p:spPr>
          <a:xfrm>
            <a:off x="6263640" y="2011680"/>
            <a:ext cx="288036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03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20116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5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管理设备与接单状态</a:t>
            </a:r>
            <a:endParaRPr lang="zh-CN" sz="1250" dirty="0"/>
          </a:p>
        </p:txBody>
      </p:sp>
      <p:sp>
        <p:nvSpPr>
          <p:cNvPr id="29" name="Shape 27"/>
          <p:cNvSpPr/>
          <p:nvPr/>
        </p:nvSpPr>
        <p:spPr>
          <a:xfrm flipV="1">
            <a:off x="2011680" y="3154680"/>
            <a:ext cx="1051560" cy="365760"/>
          </a:xfrm>
          <a:prstGeom prst="line">
            <a:avLst/>
          </a:prstGeom>
          <a:noFill/>
          <a:ln w="15875">
            <a:solidFill>
              <a:srgbClr val="5A63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0" y="3154680"/>
            <a:ext cx="1051560" cy="365760"/>
          </a:xfrm>
          <a:prstGeom prst="line">
            <a:avLst/>
          </a:prstGeom>
          <a:noFill/>
          <a:ln w="15875">
            <a:solidFill>
              <a:srgbClr val="5A637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63240" y="2834640"/>
            <a:ext cx="288036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03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063240" y="28346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5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查看报价与取件时间</a:t>
            </a:r>
            <a:endParaRPr lang="zh-CN" sz="1250" dirty="0"/>
          </a:p>
        </p:txBody>
      </p:sp>
      <p:sp>
        <p:nvSpPr>
          <p:cNvPr id="33" name="Shape 31"/>
          <p:cNvSpPr/>
          <p:nvPr/>
        </p:nvSpPr>
        <p:spPr>
          <a:xfrm>
            <a:off x="6263640" y="2834640"/>
            <a:ext cx="288036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03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3640" y="28346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5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切换调度策略</a:t>
            </a:r>
            <a:endParaRPr lang="zh-CN" sz="1250" dirty="0"/>
          </a:p>
        </p:txBody>
      </p:sp>
      <p:sp>
        <p:nvSpPr>
          <p:cNvPr id="35" name="Shape 33"/>
          <p:cNvSpPr/>
          <p:nvPr/>
        </p:nvSpPr>
        <p:spPr>
          <a:xfrm>
            <a:off x="2011680" y="3520440"/>
            <a:ext cx="1051560" cy="457200"/>
          </a:xfrm>
          <a:prstGeom prst="line">
            <a:avLst/>
          </a:prstGeom>
          <a:noFill/>
          <a:ln w="15875">
            <a:solidFill>
              <a:srgbClr val="5A637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9144000" y="3520440"/>
            <a:ext cx="1051560" cy="457200"/>
          </a:xfrm>
          <a:prstGeom prst="line">
            <a:avLst/>
          </a:prstGeom>
          <a:noFill/>
          <a:ln w="15875">
            <a:solidFill>
              <a:srgbClr val="5A637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63240" y="3657600"/>
            <a:ext cx="288036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03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063240" y="36576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5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查询订单进度</a:t>
            </a:r>
            <a:endParaRPr lang="zh-CN" sz="1250" dirty="0"/>
          </a:p>
        </p:txBody>
      </p:sp>
      <p:sp>
        <p:nvSpPr>
          <p:cNvPr id="39" name="Shape 37"/>
          <p:cNvSpPr/>
          <p:nvPr/>
        </p:nvSpPr>
        <p:spPr>
          <a:xfrm>
            <a:off x="6263640" y="3657600"/>
            <a:ext cx="288036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03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36576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5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补充纸张与耗材</a:t>
            </a:r>
            <a:endParaRPr lang="zh-CN" sz="1250" dirty="0"/>
          </a:p>
        </p:txBody>
      </p:sp>
      <p:sp>
        <p:nvSpPr>
          <p:cNvPr id="41" name="Shape 39"/>
          <p:cNvSpPr/>
          <p:nvPr/>
        </p:nvSpPr>
        <p:spPr>
          <a:xfrm>
            <a:off x="2011680" y="3520440"/>
            <a:ext cx="1051560" cy="1280160"/>
          </a:xfrm>
          <a:prstGeom prst="line">
            <a:avLst/>
          </a:prstGeom>
          <a:noFill/>
          <a:ln w="15875">
            <a:solidFill>
              <a:srgbClr val="5A637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9144000" y="3520440"/>
            <a:ext cx="1051560" cy="1280160"/>
          </a:xfrm>
          <a:prstGeom prst="line">
            <a:avLst/>
          </a:prstGeom>
          <a:noFill/>
          <a:ln w="15875">
            <a:solidFill>
              <a:srgbClr val="5A637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63240" y="4480560"/>
            <a:ext cx="288036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03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063240" y="44805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5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提交或取消订单</a:t>
            </a:r>
            <a:endParaRPr lang="zh-CN" sz="1250" dirty="0"/>
          </a:p>
        </p:txBody>
      </p:sp>
      <p:sp>
        <p:nvSpPr>
          <p:cNvPr id="45" name="Shape 43"/>
          <p:cNvSpPr/>
          <p:nvPr/>
        </p:nvSpPr>
        <p:spPr>
          <a:xfrm>
            <a:off x="6263640" y="4480560"/>
            <a:ext cx="288036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03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263640" y="44805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5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查看经营统计</a:t>
            </a:r>
            <a:endParaRPr lang="zh-CN" sz="1250" dirty="0"/>
          </a:p>
        </p:txBody>
      </p:sp>
      <p:sp>
        <p:nvSpPr>
          <p:cNvPr id="47" name="Shape 45"/>
          <p:cNvSpPr/>
          <p:nvPr/>
        </p:nvSpPr>
        <p:spPr>
          <a:xfrm>
            <a:off x="4663440" y="5440680"/>
            <a:ext cx="2880360" cy="640080"/>
          </a:xfrm>
          <a:prstGeom prst="ellipse">
            <a:avLst/>
          </a:prstGeom>
          <a:solidFill>
            <a:srgbClr val="E3F4FA"/>
          </a:solidFill>
          <a:ln w="19050">
            <a:solidFill>
              <a:srgbClr val="0093C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663440" y="54406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50" b="1" dirty="0">
                <a:solidFill>
                  <a:srgbClr val="007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自动匹配设备并派单</a:t>
            </a:r>
            <a:endParaRPr lang="zh-CN" sz="1250" dirty="0"/>
          </a:p>
        </p:txBody>
      </p:sp>
      <p:sp>
        <p:nvSpPr>
          <p:cNvPr id="49" name="Shape 47"/>
          <p:cNvSpPr/>
          <p:nvPr/>
        </p:nvSpPr>
        <p:spPr>
          <a:xfrm>
            <a:off x="4526280" y="5120640"/>
            <a:ext cx="731520" cy="365760"/>
          </a:xfrm>
          <a:prstGeom prst="line">
            <a:avLst/>
          </a:prstGeom>
          <a:noFill/>
          <a:ln w="15875">
            <a:solidFill>
              <a:srgbClr val="0093C4"/>
            </a:solidFill>
            <a:prstDash val="dash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3200400" y="52303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50" dirty="0">
                <a:solidFill>
                  <a:srgbClr val="007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«include»</a:t>
            </a:r>
            <a:endParaRPr lang="zh-CN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spc="100" kern="0" dirty="0">
                <a:solidFill>
                  <a:srgbClr val="BE1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pPr indent="0" marL="0">
              <a:buNone/>
            </a:pPr>
            <a:r>
              <a:rPr lang="zh-CN" altLang="en-US" sz="1200" spc="100" kern="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问题分析</a:t>
            </a:r>
            <a:endParaRPr lang="zh-CN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问题分解：核心矛盾与六个子问题</a:t>
            </a:r>
            <a:endParaRPr lang="zh-CN" sz="3000" dirty="0"/>
          </a:p>
        </p:txBody>
      </p:sp>
      <p:sp>
        <p:nvSpPr>
          <p:cNvPr id="4" name="Shape 2"/>
          <p:cNvSpPr/>
          <p:nvPr/>
        </p:nvSpPr>
        <p:spPr>
          <a:xfrm>
            <a:off x="10945368" y="457200"/>
            <a:ext cx="128016" cy="128016"/>
          </a:xfrm>
          <a:prstGeom prst="ellipse">
            <a:avLst/>
          </a:prstGeom>
          <a:solidFill>
            <a:srgbClr val="0093C4"/>
          </a:solidFill>
          <a:ln/>
        </p:spPr>
      </p:sp>
      <p:sp>
        <p:nvSpPr>
          <p:cNvPr id="5" name="Shape 3"/>
          <p:cNvSpPr/>
          <p:nvPr/>
        </p:nvSpPr>
        <p:spPr>
          <a:xfrm>
            <a:off x="11137392" y="457200"/>
            <a:ext cx="128016" cy="128016"/>
          </a:xfrm>
          <a:prstGeom prst="ellipse">
            <a:avLst/>
          </a:prstGeom>
          <a:solidFill>
            <a:srgbClr val="D0266E"/>
          </a:solidFill>
          <a:ln/>
        </p:spPr>
      </p:sp>
      <p:sp>
        <p:nvSpPr>
          <p:cNvPr id="6" name="Shape 4"/>
          <p:cNvSpPr/>
          <p:nvPr/>
        </p:nvSpPr>
        <p:spPr>
          <a:xfrm>
            <a:off x="11329416" y="457200"/>
            <a:ext cx="128016" cy="128016"/>
          </a:xfrm>
          <a:prstGeom prst="ellipse">
            <a:avLst/>
          </a:prstGeom>
          <a:solidFill>
            <a:srgbClr val="F2B600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457200"/>
            <a:ext cx="128016" cy="128016"/>
          </a:xfrm>
          <a:prstGeom prst="ellipse">
            <a:avLst/>
          </a:prstGeom>
          <a:solidFill>
            <a:srgbClr val="1B20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183112" y="64008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8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838505" cy="1280160"/>
          </a:xfrm>
          <a:prstGeom prst="line">
            <a:avLst/>
          </a:prstGeom>
          <a:noFill/>
          <a:ln w="25400">
            <a:solidFill>
              <a:srgbClr val="0093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682496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0093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34640" y="16824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订单多样</a:t>
            </a:r>
            <a:endParaRPr lang="zh-CN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417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500"/>
              </a:spcAft>
              <a:buNone/>
            </a:pPr>
            <a:r>
              <a:rPr lang="zh-CN" altLang="en-US" sz="12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A4/A3 · 黑白/彩色 · 单双面</a:t>
            </a:r>
            <a:endParaRPr lang="zh-CN" sz="1200" dirty="0"/>
          </a:p>
          <a:p>
            <a:pPr algn="r" indent="0" marL="0">
              <a:spcAft>
                <a:spcPts val="500"/>
              </a:spcAft>
              <a:buNone/>
            </a:pPr>
            <a:r>
              <a:rPr lang="zh-CN" altLang="en-US" sz="12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页数、份数差异悬殊</a:t>
            </a:r>
            <a:endParaRPr lang="zh-CN" sz="1200" dirty="0"/>
          </a:p>
          <a:p>
            <a:pPr algn="r" indent="0" marL="0">
              <a:spcAft>
                <a:spcPts val="500"/>
              </a:spcAft>
              <a:buNone/>
            </a:pPr>
            <a:r>
              <a:rPr lang="zh-CN" altLang="en-US" sz="12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急单与不急的单混杂</a:t>
            </a:r>
            <a:endParaRPr lang="zh-CN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3749040"/>
            <a:ext cx="838505" cy="0"/>
          </a:xfrm>
          <a:prstGeom prst="line">
            <a:avLst/>
          </a:prstGeom>
          <a:noFill/>
          <a:ln w="25400">
            <a:solidFill>
              <a:srgbClr val="D026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3465576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D0266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834640" y="346557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设备异构</a:t>
            </a:r>
            <a:endParaRPr lang="zh-CN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00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500"/>
              </a:spcAft>
              <a:buNone/>
            </a:pPr>
            <a:r>
              <a:rPr lang="zh-CN" altLang="en-US" sz="12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能力不同：并非每台都能接</a:t>
            </a:r>
            <a:endParaRPr lang="zh-CN" sz="1200" dirty="0"/>
          </a:p>
          <a:p>
            <a:pPr algn="r" indent="0" marL="0">
              <a:spcAft>
                <a:spcPts val="500"/>
              </a:spcAft>
              <a:buNone/>
            </a:pPr>
            <a:r>
              <a:rPr lang="zh-CN" altLang="en-US" sz="12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速度不同：同单耗时不同</a:t>
            </a:r>
            <a:endParaRPr lang="zh-CN" sz="1200" dirty="0"/>
          </a:p>
          <a:p>
            <a:pPr algn="r" indent="0" marL="0">
              <a:spcAft>
                <a:spcPts val="500"/>
              </a:spcAft>
              <a:buNone/>
            </a:pPr>
            <a:r>
              <a:rPr lang="zh-CN" altLang="en-US" sz="12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可能暂停接单或临时故障</a:t>
            </a:r>
            <a:endParaRPr lang="zh-CN" sz="1200" dirty="0"/>
          </a:p>
        </p:txBody>
      </p:sp>
      <p:sp>
        <p:nvSpPr>
          <p:cNvPr id="17" name="Shape 15"/>
          <p:cNvSpPr/>
          <p:nvPr/>
        </p:nvSpPr>
        <p:spPr>
          <a:xfrm flipV="1">
            <a:off x="4251960" y="4251960"/>
            <a:ext cx="838505" cy="1280160"/>
          </a:xfrm>
          <a:prstGeom prst="line">
            <a:avLst/>
          </a:prstGeom>
          <a:noFill/>
          <a:ln w="25400">
            <a:solidFill>
              <a:srgbClr val="F2B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5248656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F2B6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834640" y="52486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资源有限</a:t>
            </a:r>
            <a:endParaRPr lang="zh-CN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983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500"/>
              </a:spcAft>
              <a:buNone/>
            </a:pPr>
            <a:r>
              <a:rPr lang="zh-CN" altLang="en-US" sz="12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纸张、墨粉多台设备共用</a:t>
            </a:r>
            <a:endParaRPr lang="zh-CN" sz="1200" dirty="0"/>
          </a:p>
          <a:p>
            <a:pPr algn="r" indent="0" marL="0">
              <a:spcAft>
                <a:spcPts val="500"/>
              </a:spcAft>
              <a:buNone/>
            </a:pPr>
            <a:r>
              <a:rPr lang="zh-CN" altLang="en-US" sz="12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同时取用可能超额扣减</a:t>
            </a:r>
            <a:endParaRPr lang="zh-CN" sz="1200" dirty="0"/>
          </a:p>
          <a:p>
            <a:pPr algn="r" indent="0" marL="0">
              <a:spcAft>
                <a:spcPts val="500"/>
              </a:spcAft>
              <a:buNone/>
            </a:pPr>
            <a:r>
              <a:rPr lang="zh-CN" altLang="en-US" sz="12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缺纸会中断已开始的订单</a:t>
            </a:r>
            <a:endParaRPr lang="zh-CN" sz="1200" dirty="0"/>
          </a:p>
        </p:txBody>
      </p:sp>
      <p:sp>
        <p:nvSpPr>
          <p:cNvPr id="21" name="Shape 19"/>
          <p:cNvSpPr/>
          <p:nvPr/>
        </p:nvSpPr>
        <p:spPr>
          <a:xfrm flipV="1">
            <a:off x="7102145" y="1965960"/>
            <a:ext cx="837590" cy="1280160"/>
          </a:xfrm>
          <a:prstGeom prst="line">
            <a:avLst/>
          </a:prstGeom>
          <a:noFill/>
          <a:ln w="25400">
            <a:solidFill>
              <a:srgbClr val="1B20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39735" y="1682496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1B203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39735" y="16824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目标冲突</a:t>
            </a:r>
            <a:endParaRPr lang="zh-CN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494215" y="1417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zh-CN" altLang="en-US" sz="12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学生：越快越好、越便宜越好</a:t>
            </a:r>
            <a:endParaRPr lang="zh-CN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zh-CN" altLang="en-US" sz="12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店主：营收高、设备不闲置</a:t>
            </a:r>
            <a:endParaRPr lang="zh-CN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zh-CN" altLang="en-US" sz="12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整体：公平，大单不被饿死</a:t>
            </a:r>
            <a:endParaRPr lang="zh-CN" sz="1200" dirty="0"/>
          </a:p>
        </p:txBody>
      </p:sp>
      <p:sp>
        <p:nvSpPr>
          <p:cNvPr id="25" name="Shape 23"/>
          <p:cNvSpPr/>
          <p:nvPr/>
        </p:nvSpPr>
        <p:spPr>
          <a:xfrm>
            <a:off x="7102145" y="3749040"/>
            <a:ext cx="837590" cy="0"/>
          </a:xfrm>
          <a:prstGeom prst="line">
            <a:avLst/>
          </a:prstGeom>
          <a:noFill/>
          <a:ln w="25400">
            <a:solidFill>
              <a:srgbClr val="0093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39735" y="3465576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0093C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39735" y="346557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承诺兑现</a:t>
            </a:r>
            <a:endParaRPr lang="zh-CN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494215" y="3200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zh-CN" altLang="en-US" sz="12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报价和取件时间给出即需兑现</a:t>
            </a:r>
            <a:endParaRPr lang="zh-CN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zh-CN" altLang="en-US" sz="12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高峰期产能有限，可能超时</a:t>
            </a:r>
            <a:endParaRPr lang="zh-CN" sz="1200" dirty="0"/>
          </a:p>
        </p:txBody>
      </p:sp>
      <p:sp>
        <p:nvSpPr>
          <p:cNvPr id="29" name="Shape 27"/>
          <p:cNvSpPr/>
          <p:nvPr/>
        </p:nvSpPr>
        <p:spPr>
          <a:xfrm>
            <a:off x="7102145" y="4251960"/>
            <a:ext cx="837590" cy="1280160"/>
          </a:xfrm>
          <a:prstGeom prst="line">
            <a:avLst/>
          </a:prstGeom>
          <a:noFill/>
          <a:ln w="25400">
            <a:solidFill>
              <a:srgbClr val="D026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39735" y="5248656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D0266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39735" y="52486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持续可靠</a:t>
            </a:r>
            <a:endParaRPr lang="zh-CN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494215" y="4983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zh-CN" altLang="en-US" sz="12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关闭界面后仍需持续接单派单</a:t>
            </a:r>
            <a:endParaRPr lang="zh-CN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zh-CN" altLang="en-US" sz="12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程序崩溃后订单状态不能丢</a:t>
            </a:r>
            <a:endParaRPr lang="zh-CN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zh-CN" altLang="en-US" sz="12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同一订单不能被重复执行</a:t>
            </a:r>
            <a:endParaRPr lang="zh-CN" sz="1200" dirty="0"/>
          </a:p>
        </p:txBody>
      </p:sp>
      <p:sp>
        <p:nvSpPr>
          <p:cNvPr id="33" name="Shape 31"/>
          <p:cNvSpPr/>
          <p:nvPr/>
        </p:nvSpPr>
        <p:spPr>
          <a:xfrm>
            <a:off x="5090465" y="3017520"/>
            <a:ext cx="2011680" cy="1463040"/>
          </a:xfrm>
          <a:prstGeom prst="roundRect">
            <a:avLst>
              <a:gd name="adj" fmla="val 12500"/>
            </a:avLst>
          </a:prstGeom>
          <a:solidFill>
            <a:srgbClr val="1B203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090465" y="301752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zh-CN" altLang="en-US" sz="1200" b="1" dirty="0">
                <a:solidFill>
                  <a:srgbClr val="4CC3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zh-CN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有限设备如何服务</a:t>
            </a:r>
            <a:endParaRPr lang="zh-CN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多样订单与多方目标</a:t>
            </a:r>
            <a:endParaRPr lang="zh-CN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spc="100" kern="0" dirty="0">
                <a:solidFill>
                  <a:srgbClr val="BE1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pPr indent="0" marL="0">
              <a:buNone/>
            </a:pPr>
            <a:r>
              <a:rPr lang="zh-CN" altLang="en-US" sz="1200" spc="100" kern="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问题分析</a:t>
            </a:r>
            <a:endParaRPr lang="zh-CN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把打印店看作一台“操作系统”</a:t>
            </a:r>
            <a:endParaRPr lang="zh-CN" sz="3000" dirty="0"/>
          </a:p>
        </p:txBody>
      </p:sp>
      <p:sp>
        <p:nvSpPr>
          <p:cNvPr id="4" name="Shape 2"/>
          <p:cNvSpPr/>
          <p:nvPr/>
        </p:nvSpPr>
        <p:spPr>
          <a:xfrm>
            <a:off x="10945368" y="457200"/>
            <a:ext cx="128016" cy="128016"/>
          </a:xfrm>
          <a:prstGeom prst="ellipse">
            <a:avLst/>
          </a:prstGeom>
          <a:solidFill>
            <a:srgbClr val="0093C4"/>
          </a:solidFill>
          <a:ln/>
        </p:spPr>
      </p:sp>
      <p:sp>
        <p:nvSpPr>
          <p:cNvPr id="5" name="Shape 3"/>
          <p:cNvSpPr/>
          <p:nvPr/>
        </p:nvSpPr>
        <p:spPr>
          <a:xfrm>
            <a:off x="11137392" y="457200"/>
            <a:ext cx="128016" cy="128016"/>
          </a:xfrm>
          <a:prstGeom prst="ellipse">
            <a:avLst/>
          </a:prstGeom>
          <a:solidFill>
            <a:srgbClr val="D0266E"/>
          </a:solidFill>
          <a:ln/>
        </p:spPr>
      </p:sp>
      <p:sp>
        <p:nvSpPr>
          <p:cNvPr id="6" name="Shape 4"/>
          <p:cNvSpPr/>
          <p:nvPr/>
        </p:nvSpPr>
        <p:spPr>
          <a:xfrm>
            <a:off x="11329416" y="457200"/>
            <a:ext cx="128016" cy="128016"/>
          </a:xfrm>
          <a:prstGeom prst="ellipse">
            <a:avLst/>
          </a:prstGeom>
          <a:solidFill>
            <a:srgbClr val="F2B600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457200"/>
            <a:ext cx="128016" cy="128016"/>
          </a:xfrm>
          <a:prstGeom prst="ellipse">
            <a:avLst/>
          </a:prstGeom>
          <a:solidFill>
            <a:srgbClr val="1B20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183112" y="64008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8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zh-CN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325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借鉴课件中“医院急诊室 ↔ 处理机调度”的类比方法，将业务概念逐一映射到操作系统原理</a:t>
            </a:r>
            <a:endParaRPr lang="zh-CN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2567178" cy="2103120"/>
          </a:xfrm>
          <a:prstGeom prst="roundRect">
            <a:avLst>
              <a:gd name="adj" fmla="val 5217"/>
            </a:avLst>
          </a:prstGeom>
          <a:solidFill>
            <a:srgbClr val="F2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057400"/>
            <a:ext cx="566928" cy="566928"/>
          </a:xfrm>
          <a:prstGeom prst="ellipse">
            <a:avLst/>
          </a:prstGeom>
          <a:solidFill>
            <a:srgbClr val="0093C4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2199132"/>
            <a:ext cx="283464" cy="28346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463040" y="20574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</a:t>
            </a:r>
            <a:endParaRPr lang="zh-CN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276148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007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进程 / 作业</a:t>
            </a:r>
            <a:endParaRPr lang="zh-CN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有到达时间、规模和状态，经历等待→打印→完成</a:t>
            </a:r>
            <a:endParaRPr lang="zh-CN" sz="1200" dirty="0"/>
          </a:p>
        </p:txBody>
      </p:sp>
      <p:sp>
        <p:nvSpPr>
          <p:cNvPr id="16" name="Shape 13"/>
          <p:cNvSpPr/>
          <p:nvPr/>
        </p:nvSpPr>
        <p:spPr>
          <a:xfrm>
            <a:off x="3390138" y="1828800"/>
            <a:ext cx="2567178" cy="2103120"/>
          </a:xfrm>
          <a:prstGeom prst="roundRect">
            <a:avLst>
              <a:gd name="adj" fmla="val 5217"/>
            </a:avLst>
          </a:prstGeom>
          <a:solidFill>
            <a:srgbClr val="F2F4F8"/>
          </a:solidFill>
          <a:ln/>
        </p:spPr>
      </p:sp>
      <p:sp>
        <p:nvSpPr>
          <p:cNvPr id="17" name="Shape 14"/>
          <p:cNvSpPr/>
          <p:nvPr/>
        </p:nvSpPr>
        <p:spPr>
          <a:xfrm>
            <a:off x="3618738" y="2057400"/>
            <a:ext cx="566928" cy="566928"/>
          </a:xfrm>
          <a:prstGeom prst="ellipse">
            <a:avLst/>
          </a:prstGeom>
          <a:solidFill>
            <a:srgbClr val="D0266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470" y="2199132"/>
            <a:ext cx="283464" cy="28346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304538" y="20574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打印机</a:t>
            </a:r>
            <a:endParaRPr lang="zh-CN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3618738" y="276148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BE1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处理机（异构）</a:t>
            </a:r>
            <a:endParaRPr lang="zh-CN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3618738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能力、速度各异的多台设备，相当于异构多处理机</a:t>
            </a:r>
            <a:endParaRPr lang="zh-CN" sz="1200" dirty="0"/>
          </a:p>
        </p:txBody>
      </p:sp>
      <p:sp>
        <p:nvSpPr>
          <p:cNvPr id="22" name="Shape 18"/>
          <p:cNvSpPr/>
          <p:nvPr/>
        </p:nvSpPr>
        <p:spPr>
          <a:xfrm>
            <a:off x="6231636" y="1828800"/>
            <a:ext cx="2567178" cy="2103120"/>
          </a:xfrm>
          <a:prstGeom prst="roundRect">
            <a:avLst>
              <a:gd name="adj" fmla="val 5217"/>
            </a:avLst>
          </a:prstGeom>
          <a:solidFill>
            <a:srgbClr val="F2F4F8"/>
          </a:solidFill>
          <a:ln/>
        </p:spPr>
      </p:sp>
      <p:sp>
        <p:nvSpPr>
          <p:cNvPr id="23" name="Shape 19"/>
          <p:cNvSpPr/>
          <p:nvPr/>
        </p:nvSpPr>
        <p:spPr>
          <a:xfrm>
            <a:off x="6460236" y="2057400"/>
            <a:ext cx="566928" cy="566928"/>
          </a:xfrm>
          <a:prstGeom prst="ellipse">
            <a:avLst/>
          </a:prstGeom>
          <a:solidFill>
            <a:srgbClr val="F2B60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199132"/>
            <a:ext cx="283464" cy="28346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146036" y="20574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等待队列</a:t>
            </a:r>
            <a:endParaRPr lang="zh-CN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6460236" y="276148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8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就绪队列</a:t>
            </a:r>
            <a:endParaRPr lang="zh-CN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6460236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已下单、尚未开打的订单在此等待分配设备</a:t>
            </a:r>
            <a:endParaRPr lang="zh-CN" sz="1200" dirty="0"/>
          </a:p>
        </p:txBody>
      </p:sp>
      <p:sp>
        <p:nvSpPr>
          <p:cNvPr id="28" name="Shape 23"/>
          <p:cNvSpPr/>
          <p:nvPr/>
        </p:nvSpPr>
        <p:spPr>
          <a:xfrm>
            <a:off x="9073134" y="1828800"/>
            <a:ext cx="2567178" cy="2103120"/>
          </a:xfrm>
          <a:prstGeom prst="roundRect">
            <a:avLst>
              <a:gd name="adj" fmla="val 5217"/>
            </a:avLst>
          </a:prstGeom>
          <a:solidFill>
            <a:srgbClr val="F2F4F8"/>
          </a:solidFill>
          <a:ln/>
        </p:spPr>
      </p:sp>
      <p:sp>
        <p:nvSpPr>
          <p:cNvPr id="29" name="Shape 24"/>
          <p:cNvSpPr/>
          <p:nvPr/>
        </p:nvSpPr>
        <p:spPr>
          <a:xfrm>
            <a:off x="9301734" y="2057400"/>
            <a:ext cx="566928" cy="566928"/>
          </a:xfrm>
          <a:prstGeom prst="ellipse">
            <a:avLst/>
          </a:prstGeom>
          <a:solidFill>
            <a:srgbClr val="1B2030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466" y="2199132"/>
            <a:ext cx="283464" cy="28346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987534" y="20574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派单规则</a:t>
            </a:r>
            <a:endParaRPr lang="zh-CN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9301734" y="276148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进程调度算法</a:t>
            </a:r>
            <a:endParaRPr lang="zh-CN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9301734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决定下一单先打谁、派给哪台设备，如 FCFS、SJF</a:t>
            </a:r>
            <a:endParaRPr lang="zh-CN" sz="1200" dirty="0"/>
          </a:p>
        </p:txBody>
      </p:sp>
      <p:sp>
        <p:nvSpPr>
          <p:cNvPr id="34" name="Shape 28"/>
          <p:cNvSpPr/>
          <p:nvPr/>
        </p:nvSpPr>
        <p:spPr>
          <a:xfrm>
            <a:off x="548640" y="4206240"/>
            <a:ext cx="2567178" cy="2103120"/>
          </a:xfrm>
          <a:prstGeom prst="roundRect">
            <a:avLst>
              <a:gd name="adj" fmla="val 5217"/>
            </a:avLst>
          </a:prstGeom>
          <a:solidFill>
            <a:srgbClr val="F2F4F8"/>
          </a:solidFill>
          <a:ln/>
        </p:spPr>
      </p:sp>
      <p:sp>
        <p:nvSpPr>
          <p:cNvPr id="35" name="Shape 29"/>
          <p:cNvSpPr/>
          <p:nvPr/>
        </p:nvSpPr>
        <p:spPr>
          <a:xfrm>
            <a:off x="777240" y="4434840"/>
            <a:ext cx="566928" cy="566928"/>
          </a:xfrm>
          <a:prstGeom prst="ellipse">
            <a:avLst/>
          </a:prstGeom>
          <a:solidFill>
            <a:srgbClr val="0093C4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" y="4576572"/>
            <a:ext cx="283464" cy="283464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463040" y="44348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纸张耗材</a:t>
            </a:r>
            <a:endParaRPr lang="zh-CN" sz="1500" dirty="0"/>
          </a:p>
        </p:txBody>
      </p:sp>
      <p:sp>
        <p:nvSpPr>
          <p:cNvPr id="38" name="Text 31"/>
          <p:cNvSpPr txBox="1"/>
          <p:nvPr/>
        </p:nvSpPr>
        <p:spPr>
          <a:xfrm>
            <a:off x="777240" y="51389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007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临界资源 · 互斥</a:t>
            </a:r>
            <a:endParaRPr lang="zh-CN" sz="1500" dirty="0"/>
          </a:p>
        </p:txBody>
      </p:sp>
      <p:sp>
        <p:nvSpPr>
          <p:cNvPr id="39" name="Text 32"/>
          <p:cNvSpPr txBox="1"/>
          <p:nvPr/>
        </p:nvSpPr>
        <p:spPr>
          <a:xfrm>
            <a:off x="777240" y="5577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多台设备共用库存，领取与扣减必须互斥</a:t>
            </a:r>
            <a:endParaRPr lang="zh-CN" sz="1200" dirty="0"/>
          </a:p>
        </p:txBody>
      </p:sp>
      <p:sp>
        <p:nvSpPr>
          <p:cNvPr id="40" name="Shape 33"/>
          <p:cNvSpPr/>
          <p:nvPr/>
        </p:nvSpPr>
        <p:spPr>
          <a:xfrm>
            <a:off x="3390138" y="4206240"/>
            <a:ext cx="2567178" cy="2103120"/>
          </a:xfrm>
          <a:prstGeom prst="roundRect">
            <a:avLst>
              <a:gd name="adj" fmla="val 5217"/>
            </a:avLst>
          </a:prstGeom>
          <a:solidFill>
            <a:srgbClr val="F2F4F8"/>
          </a:solidFill>
          <a:ln/>
        </p:spPr>
      </p:sp>
      <p:sp>
        <p:nvSpPr>
          <p:cNvPr id="41" name="Shape 34"/>
          <p:cNvSpPr/>
          <p:nvPr/>
        </p:nvSpPr>
        <p:spPr>
          <a:xfrm>
            <a:off x="3618738" y="4434840"/>
            <a:ext cx="566928" cy="566928"/>
          </a:xfrm>
          <a:prstGeom prst="ellipse">
            <a:avLst/>
          </a:prstGeom>
          <a:solidFill>
            <a:srgbClr val="D0266E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0470" y="4576572"/>
            <a:ext cx="283464" cy="283464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4304538" y="44348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下单端 ↔ 后台</a:t>
            </a:r>
            <a:endParaRPr lang="zh-CN" sz="1500" dirty="0"/>
          </a:p>
        </p:txBody>
      </p:sp>
      <p:sp>
        <p:nvSpPr>
          <p:cNvPr id="44" name="Text 36"/>
          <p:cNvSpPr txBox="1"/>
          <p:nvPr/>
        </p:nvSpPr>
        <p:spPr>
          <a:xfrm>
            <a:off x="3618738" y="51389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BE1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进程间通信</a:t>
            </a:r>
            <a:endParaRPr lang="zh-CN" sz="1500" dirty="0"/>
          </a:p>
        </p:txBody>
      </p:sp>
      <p:sp>
        <p:nvSpPr>
          <p:cNvPr id="45" name="Text 37"/>
          <p:cNvSpPr txBox="1"/>
          <p:nvPr/>
        </p:nvSpPr>
        <p:spPr>
          <a:xfrm>
            <a:off x="3618738" y="5577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界面与后台服务之间传递订单、指令和进度</a:t>
            </a:r>
            <a:endParaRPr lang="zh-CN" sz="1200" dirty="0"/>
          </a:p>
        </p:txBody>
      </p:sp>
      <p:sp>
        <p:nvSpPr>
          <p:cNvPr id="46" name="Shape 38"/>
          <p:cNvSpPr/>
          <p:nvPr/>
        </p:nvSpPr>
        <p:spPr>
          <a:xfrm>
            <a:off x="6231636" y="4206240"/>
            <a:ext cx="2567178" cy="2103120"/>
          </a:xfrm>
          <a:prstGeom prst="roundRect">
            <a:avLst>
              <a:gd name="adj" fmla="val 5217"/>
            </a:avLst>
          </a:prstGeom>
          <a:solidFill>
            <a:srgbClr val="F2F4F8"/>
          </a:solidFill>
          <a:ln/>
        </p:spPr>
      </p:sp>
      <p:sp>
        <p:nvSpPr>
          <p:cNvPr id="47" name="Shape 39"/>
          <p:cNvSpPr/>
          <p:nvPr/>
        </p:nvSpPr>
        <p:spPr>
          <a:xfrm>
            <a:off x="6460236" y="4434840"/>
            <a:ext cx="566928" cy="566928"/>
          </a:xfrm>
          <a:prstGeom prst="ellipse">
            <a:avLst/>
          </a:prstGeom>
          <a:solidFill>
            <a:srgbClr val="F2B600"/>
          </a:solidFill>
          <a:ln/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968" y="4576572"/>
            <a:ext cx="283464" cy="283464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7146036" y="44348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常驻后台服务</a:t>
            </a:r>
            <a:endParaRPr lang="zh-CN" sz="1500" dirty="0"/>
          </a:p>
        </p:txBody>
      </p:sp>
      <p:sp>
        <p:nvSpPr>
          <p:cNvPr id="50" name="Text 41"/>
          <p:cNvSpPr txBox="1"/>
          <p:nvPr/>
        </p:nvSpPr>
        <p:spPr>
          <a:xfrm>
            <a:off x="6460236" y="51389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8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守护进程</a:t>
            </a:r>
            <a:endParaRPr lang="zh-CN" sz="1500" dirty="0"/>
          </a:p>
        </p:txBody>
      </p:sp>
      <p:sp>
        <p:nvSpPr>
          <p:cNvPr id="51" name="Text 42"/>
          <p:cNvSpPr txBox="1"/>
          <p:nvPr/>
        </p:nvSpPr>
        <p:spPr>
          <a:xfrm>
            <a:off x="6460236" y="5577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脱离界面持续运行，异常退出后被重新拉起</a:t>
            </a:r>
            <a:endParaRPr lang="zh-CN" sz="1200" dirty="0"/>
          </a:p>
        </p:txBody>
      </p:sp>
      <p:sp>
        <p:nvSpPr>
          <p:cNvPr id="52" name="Shape 43"/>
          <p:cNvSpPr/>
          <p:nvPr/>
        </p:nvSpPr>
        <p:spPr>
          <a:xfrm>
            <a:off x="9073134" y="4206240"/>
            <a:ext cx="2567178" cy="2103120"/>
          </a:xfrm>
          <a:prstGeom prst="roundRect">
            <a:avLst>
              <a:gd name="adj" fmla="val 5217"/>
            </a:avLst>
          </a:prstGeom>
          <a:solidFill>
            <a:srgbClr val="F2F4F8"/>
          </a:solidFill>
          <a:ln/>
        </p:spPr>
      </p:sp>
      <p:sp>
        <p:nvSpPr>
          <p:cNvPr id="53" name="Shape 44"/>
          <p:cNvSpPr/>
          <p:nvPr/>
        </p:nvSpPr>
        <p:spPr>
          <a:xfrm>
            <a:off x="9301734" y="4434840"/>
            <a:ext cx="566928" cy="566928"/>
          </a:xfrm>
          <a:prstGeom prst="ellipse">
            <a:avLst/>
          </a:prstGeom>
          <a:solidFill>
            <a:srgbClr val="1B2030"/>
          </a:solidFill>
          <a:ln/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3466" y="4576572"/>
            <a:ext cx="283464" cy="283464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9987534" y="44348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订单记录</a:t>
            </a:r>
            <a:endParaRPr lang="zh-CN" sz="1500" dirty="0"/>
          </a:p>
        </p:txBody>
      </p:sp>
      <p:sp>
        <p:nvSpPr>
          <p:cNvPr id="56" name="Text 46"/>
          <p:cNvSpPr txBox="1"/>
          <p:nvPr/>
        </p:nvSpPr>
        <p:spPr>
          <a:xfrm>
            <a:off x="9301734" y="51389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文件系统 · 文件锁</a:t>
            </a:r>
            <a:endParaRPr lang="zh-CN" sz="1500" dirty="0"/>
          </a:p>
        </p:txBody>
      </p:sp>
      <p:sp>
        <p:nvSpPr>
          <p:cNvPr id="57" name="Text 47"/>
          <p:cNvSpPr txBox="1"/>
          <p:nvPr/>
        </p:nvSpPr>
        <p:spPr>
          <a:xfrm>
            <a:off x="9301734" y="5577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订单与经营数据落盘保存，防止多方同时改写</a:t>
            </a:r>
            <a:endParaRPr lang="zh-CN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spc="100" kern="0" dirty="0">
                <a:solidFill>
                  <a:srgbClr val="8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pPr indent="0" marL="0">
              <a:buNone/>
            </a:pPr>
            <a:r>
              <a:rPr lang="zh-CN" altLang="en-US" sz="1200" spc="100" kern="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解决思路</a:t>
            </a:r>
            <a:endParaRPr lang="zh-CN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解决思路：从下单到结算的调度闭环</a:t>
            </a:r>
            <a:endParaRPr lang="zh-CN" sz="3000" dirty="0"/>
          </a:p>
        </p:txBody>
      </p:sp>
      <p:sp>
        <p:nvSpPr>
          <p:cNvPr id="4" name="Shape 2"/>
          <p:cNvSpPr/>
          <p:nvPr/>
        </p:nvSpPr>
        <p:spPr>
          <a:xfrm>
            <a:off x="10945368" y="457200"/>
            <a:ext cx="128016" cy="128016"/>
          </a:xfrm>
          <a:prstGeom prst="ellipse">
            <a:avLst/>
          </a:prstGeom>
          <a:solidFill>
            <a:srgbClr val="0093C4"/>
          </a:solidFill>
          <a:ln/>
        </p:spPr>
      </p:sp>
      <p:sp>
        <p:nvSpPr>
          <p:cNvPr id="5" name="Shape 3"/>
          <p:cNvSpPr/>
          <p:nvPr/>
        </p:nvSpPr>
        <p:spPr>
          <a:xfrm>
            <a:off x="11137392" y="457200"/>
            <a:ext cx="128016" cy="128016"/>
          </a:xfrm>
          <a:prstGeom prst="ellipse">
            <a:avLst/>
          </a:prstGeom>
          <a:solidFill>
            <a:srgbClr val="D0266E"/>
          </a:solidFill>
          <a:ln/>
        </p:spPr>
      </p:sp>
      <p:sp>
        <p:nvSpPr>
          <p:cNvPr id="6" name="Shape 4"/>
          <p:cNvSpPr/>
          <p:nvPr/>
        </p:nvSpPr>
        <p:spPr>
          <a:xfrm>
            <a:off x="11329416" y="457200"/>
            <a:ext cx="128016" cy="128016"/>
          </a:xfrm>
          <a:prstGeom prst="ellipse">
            <a:avLst/>
          </a:prstGeom>
          <a:solidFill>
            <a:srgbClr val="F2B600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457200"/>
            <a:ext cx="128016" cy="128016"/>
          </a:xfrm>
          <a:prstGeom prst="ellipse">
            <a:avLst/>
          </a:prstGeom>
          <a:solidFill>
            <a:srgbClr val="1B20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183112" y="64008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8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982980" y="2263140"/>
            <a:ext cx="9056218" cy="0"/>
          </a:xfrm>
          <a:prstGeom prst="line">
            <a:avLst/>
          </a:prstGeom>
          <a:noFill/>
          <a:ln w="31750">
            <a:solidFill>
              <a:srgbClr val="D9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28800"/>
            <a:ext cx="868680" cy="868680"/>
          </a:xfrm>
          <a:prstGeom prst="ellipse">
            <a:avLst/>
          </a:prstGeom>
          <a:solidFill>
            <a:srgbClr val="0093C4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2045970"/>
            <a:ext cx="434340" cy="4343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2926080"/>
            <a:ext cx="20354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007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</a:t>
            </a:r>
            <a:pPr indent="0" marL="0">
              <a:buNone/>
            </a:pPr>
            <a:r>
              <a:rPr lang="zh-CN" altLang="en-US" sz="18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分档下单</a:t>
            </a:r>
            <a:endParaRPr lang="zh-CN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456432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学生选规格与档位，系统统一报价并给出取件期限</a:t>
            </a:r>
            <a:endParaRPr lang="zh-CN" sz="1400" dirty="0"/>
          </a:p>
        </p:txBody>
      </p:sp>
      <p:sp>
        <p:nvSpPr>
          <p:cNvPr id="14" name="Shape 11"/>
          <p:cNvSpPr/>
          <p:nvPr/>
        </p:nvSpPr>
        <p:spPr>
          <a:xfrm>
            <a:off x="2812694" y="1828800"/>
            <a:ext cx="868680" cy="868680"/>
          </a:xfrm>
          <a:prstGeom prst="ellipse">
            <a:avLst/>
          </a:prstGeom>
          <a:solidFill>
            <a:srgbClr val="D0266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864" y="2045970"/>
            <a:ext cx="434340" cy="4343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812694" y="2926080"/>
            <a:ext cx="20354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BE1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</a:t>
            </a:r>
            <a:pPr indent="0" marL="0">
              <a:buNone/>
            </a:pPr>
            <a:r>
              <a:rPr lang="zh-CN" altLang="en-US" sz="18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能力匹配</a:t>
            </a:r>
            <a:endParaRPr lang="zh-CN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2812694" y="3456432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只把订单派给能力满足、且正在接单的空闲设备</a:t>
            </a:r>
            <a:endParaRPr lang="zh-CN" sz="1400" dirty="0"/>
          </a:p>
        </p:txBody>
      </p:sp>
      <p:sp>
        <p:nvSpPr>
          <p:cNvPr id="18" name="Shape 14"/>
          <p:cNvSpPr/>
          <p:nvPr/>
        </p:nvSpPr>
        <p:spPr>
          <a:xfrm>
            <a:off x="5076749" y="1828800"/>
            <a:ext cx="868680" cy="868680"/>
          </a:xfrm>
          <a:prstGeom prst="ellipse">
            <a:avLst/>
          </a:prstGeom>
          <a:solidFill>
            <a:srgbClr val="F2B60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919" y="2045970"/>
            <a:ext cx="434340" cy="4343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076749" y="2926080"/>
            <a:ext cx="20354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8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</a:t>
            </a:r>
            <a:pPr indent="0" marL="0">
              <a:buNone/>
            </a:pPr>
            <a:r>
              <a:rPr lang="zh-CN" altLang="en-US" sz="18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策略调度</a:t>
            </a:r>
            <a:endParaRPr lang="zh-CN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5076749" y="3456432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多种排序策略可切换，并在同一批订单上对比效果</a:t>
            </a:r>
            <a:endParaRPr lang="zh-CN" sz="1400" dirty="0"/>
          </a:p>
        </p:txBody>
      </p:sp>
      <p:sp>
        <p:nvSpPr>
          <p:cNvPr id="22" name="Shape 17"/>
          <p:cNvSpPr/>
          <p:nvPr/>
        </p:nvSpPr>
        <p:spPr>
          <a:xfrm>
            <a:off x="7340803" y="1828800"/>
            <a:ext cx="868680" cy="868680"/>
          </a:xfrm>
          <a:prstGeom prst="ellipse">
            <a:avLst/>
          </a:prstGeom>
          <a:solidFill>
            <a:srgbClr val="1B203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973" y="2045970"/>
            <a:ext cx="434340" cy="4343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40803" y="2926080"/>
            <a:ext cx="20354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</a:t>
            </a:r>
            <a:pPr indent="0" marL="0">
              <a:buNone/>
            </a:pPr>
            <a:r>
              <a:rPr lang="zh-CN" altLang="en-US" sz="18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资源预留</a:t>
            </a:r>
            <a:endParaRPr lang="zh-CN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340803" y="3456432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开打前先锁定整单纸张，完成后扣减、取消则释放</a:t>
            </a:r>
            <a:endParaRPr lang="zh-CN" sz="1400" dirty="0"/>
          </a:p>
        </p:txBody>
      </p:sp>
      <p:sp>
        <p:nvSpPr>
          <p:cNvPr id="26" name="Shape 20"/>
          <p:cNvSpPr/>
          <p:nvPr/>
        </p:nvSpPr>
        <p:spPr>
          <a:xfrm>
            <a:off x="9604858" y="1828800"/>
            <a:ext cx="868680" cy="868680"/>
          </a:xfrm>
          <a:prstGeom prst="ellipse">
            <a:avLst/>
          </a:prstGeom>
          <a:solidFill>
            <a:srgbClr val="0093C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2028" y="2045970"/>
            <a:ext cx="434340" cy="43434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604858" y="2926080"/>
            <a:ext cx="20354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007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</a:t>
            </a:r>
            <a:pPr indent="0" marL="0">
              <a:buNone/>
            </a:pPr>
            <a:r>
              <a:rPr lang="zh-CN" altLang="en-US" sz="18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常驻守护</a:t>
            </a:r>
            <a:endParaRPr lang="zh-CN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9604858" y="3456432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后台服务独立于界面持续运行，异常退出后自动拉起并恢复订单状态</a:t>
            </a:r>
            <a:endParaRPr lang="zh-CN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F2F4F8"/>
          </a:solidFill>
          <a:ln/>
        </p:spPr>
      </p:sp>
      <p:sp>
        <p:nvSpPr>
          <p:cNvPr id="31" name="Shape 24"/>
          <p:cNvSpPr/>
          <p:nvPr/>
        </p:nvSpPr>
        <p:spPr>
          <a:xfrm>
            <a:off x="822960" y="5262372"/>
            <a:ext cx="585216" cy="585216"/>
          </a:xfrm>
          <a:prstGeom prst="ellipse">
            <a:avLst/>
          </a:prstGeom>
          <a:solidFill>
            <a:srgbClr val="0093C4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5408676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645920" y="507492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007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经营统计形成闭环  </a:t>
            </a:r>
            <a:pPr indent="0" marL="0">
              <a:buNone/>
            </a:pPr>
            <a:r>
              <a:rPr lang="zh-CN" altLang="en-US" sz="15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营业额、耗材成本、超时率、设备利用率等指标，反过来指导策略选择与档位定价。</a:t>
            </a:r>
            <a:endParaRPr lang="zh-CN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spc="100" kern="0" dirty="0">
                <a:solidFill>
                  <a:srgbClr val="8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pPr indent="0" marL="0">
              <a:buNone/>
            </a:pPr>
            <a:r>
              <a:rPr lang="zh-CN" altLang="en-US" sz="1200" spc="100" kern="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解决思路</a:t>
            </a:r>
            <a:endParaRPr lang="zh-CN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候选调度策略对比</a:t>
            </a:r>
            <a:endParaRPr lang="zh-CN" sz="3000" dirty="0"/>
          </a:p>
        </p:txBody>
      </p:sp>
      <p:sp>
        <p:nvSpPr>
          <p:cNvPr id="4" name="Shape 2"/>
          <p:cNvSpPr/>
          <p:nvPr/>
        </p:nvSpPr>
        <p:spPr>
          <a:xfrm>
            <a:off x="10945368" y="457200"/>
            <a:ext cx="128016" cy="128016"/>
          </a:xfrm>
          <a:prstGeom prst="ellipse">
            <a:avLst/>
          </a:prstGeom>
          <a:solidFill>
            <a:srgbClr val="0093C4"/>
          </a:solidFill>
          <a:ln/>
        </p:spPr>
      </p:sp>
      <p:sp>
        <p:nvSpPr>
          <p:cNvPr id="5" name="Shape 3"/>
          <p:cNvSpPr/>
          <p:nvPr/>
        </p:nvSpPr>
        <p:spPr>
          <a:xfrm>
            <a:off x="11137392" y="457200"/>
            <a:ext cx="128016" cy="128016"/>
          </a:xfrm>
          <a:prstGeom prst="ellipse">
            <a:avLst/>
          </a:prstGeom>
          <a:solidFill>
            <a:srgbClr val="D0266E"/>
          </a:solidFill>
          <a:ln/>
        </p:spPr>
      </p:sp>
      <p:sp>
        <p:nvSpPr>
          <p:cNvPr id="6" name="Shape 4"/>
          <p:cNvSpPr/>
          <p:nvPr/>
        </p:nvSpPr>
        <p:spPr>
          <a:xfrm>
            <a:off x="11329416" y="457200"/>
            <a:ext cx="128016" cy="128016"/>
          </a:xfrm>
          <a:prstGeom prst="ellipse">
            <a:avLst/>
          </a:prstGeom>
          <a:solidFill>
            <a:srgbClr val="F2B600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457200"/>
            <a:ext cx="128016" cy="128016"/>
          </a:xfrm>
          <a:prstGeom prst="ellipse">
            <a:avLst/>
          </a:prstGeom>
          <a:solidFill>
            <a:srgbClr val="1B20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183112" y="64008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8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zh-CN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  <a:gridCol w="2651760"/>
                <a:gridCol w="30449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zh-CN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核心思想</a:t>
                      </a:r>
                      <a:endParaRPr lang="zh-CN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zh-CN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 / 不足</a:t>
                      </a:r>
                      <a:endParaRPr lang="zh-CN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0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007F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先来先服务（FCFS）</a:t>
                      </a:r>
                      <a:endParaRPr lang="zh-CN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0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按下单先后依次打印</a:t>
                      </a:r>
                      <a:endParaRPr lang="zh-CN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0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公平直观，容易向顾客解释</a:t>
                      </a:r>
                      <a:endParaRPr lang="zh-CN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0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大单堵住后面的小单，平均等待变长</a:t>
                      </a:r>
                      <a:endParaRPr lang="zh-CN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BE1E6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短作业优先（SJF）</a:t>
                      </a:r>
                      <a:endParaRPr lang="zh-CN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0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打印面数少的订单先打</a:t>
                      </a:r>
                      <a:endParaRPr lang="zh-CN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0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平均等待时间最短</a:t>
                      </a:r>
                      <a:endParaRPr lang="zh-CN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0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大单可能被一再推后，出现“饥饿”</a:t>
                      </a:r>
                      <a:endParaRPr lang="zh-CN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8F66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 + 老化</a:t>
                      </a:r>
                      <a:endParaRPr lang="zh-CN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0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急单优先；等待越久，优先级逐步提高</a:t>
                      </a:r>
                      <a:endParaRPr lang="zh-CN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0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兼顾紧急程度与公平</a:t>
                      </a:r>
                      <a:endParaRPr lang="zh-CN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0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老化速度难以把握，需要实验调参</a:t>
                      </a:r>
                      <a:endParaRPr lang="zh-CN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1B20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截止期限优先（EDF）</a:t>
                      </a:r>
                      <a:endParaRPr lang="zh-CN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0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取件期限越早越先打</a:t>
                      </a:r>
                      <a:endParaRPr lang="zh-CN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0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更容易按承诺时间交付</a:t>
                      </a:r>
                      <a:endParaRPr lang="zh-CN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0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过载时可能出现连锁超时</a:t>
                      </a:r>
                      <a:endParaRPr lang="zh-CN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007F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收入导向</a:t>
                      </a:r>
                      <a:endParaRPr lang="zh-CN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0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综合报价、耗时、等待与期限打分</a:t>
                      </a:r>
                      <a:endParaRPr lang="zh-CN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0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提升单位时间营收</a:t>
                      </a:r>
                      <a:endParaRPr lang="zh-CN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0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规则较复杂，需防止冷落低价订单</a:t>
                      </a:r>
                      <a:endParaRPr lang="zh-CN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852160"/>
            <a:ext cx="475488" cy="475488"/>
          </a:xfrm>
          <a:prstGeom prst="ellipse">
            <a:avLst/>
          </a:prstGeom>
          <a:solidFill>
            <a:srgbClr val="F2B60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7103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" y="5824728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8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评估计划  </a:t>
            </a:r>
            <a:pPr indent="0" marL="0">
              <a:buNone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用同一批模拟订单分别运行各策略，比较平均等待、最长等待、准时率与营业额，再确定默认策略。</a:t>
            </a:r>
            <a:endParaRPr lang="zh-CN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spc="100" kern="0" dirty="0">
                <a:solidFill>
                  <a:srgbClr val="8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pPr indent="0" marL="0">
              <a:buNone/>
            </a:pPr>
            <a:r>
              <a:rPr lang="zh-CN" altLang="en-US" sz="1200" spc="100" kern="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解决思路</a:t>
            </a:r>
            <a:endParaRPr lang="zh-CN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服务分档：用“等待换优惠”引导错峰</a:t>
            </a:r>
            <a:endParaRPr lang="zh-CN" sz="3000" dirty="0"/>
          </a:p>
        </p:txBody>
      </p:sp>
      <p:sp>
        <p:nvSpPr>
          <p:cNvPr id="4" name="Shape 2"/>
          <p:cNvSpPr/>
          <p:nvPr/>
        </p:nvSpPr>
        <p:spPr>
          <a:xfrm>
            <a:off x="10945368" y="457200"/>
            <a:ext cx="128016" cy="128016"/>
          </a:xfrm>
          <a:prstGeom prst="ellipse">
            <a:avLst/>
          </a:prstGeom>
          <a:solidFill>
            <a:srgbClr val="0093C4"/>
          </a:solidFill>
          <a:ln/>
        </p:spPr>
      </p:sp>
      <p:sp>
        <p:nvSpPr>
          <p:cNvPr id="5" name="Shape 3"/>
          <p:cNvSpPr/>
          <p:nvPr/>
        </p:nvSpPr>
        <p:spPr>
          <a:xfrm>
            <a:off x="11137392" y="457200"/>
            <a:ext cx="128016" cy="128016"/>
          </a:xfrm>
          <a:prstGeom prst="ellipse">
            <a:avLst/>
          </a:prstGeom>
          <a:solidFill>
            <a:srgbClr val="D0266E"/>
          </a:solidFill>
          <a:ln/>
        </p:spPr>
      </p:sp>
      <p:sp>
        <p:nvSpPr>
          <p:cNvPr id="6" name="Shape 4"/>
          <p:cNvSpPr/>
          <p:nvPr/>
        </p:nvSpPr>
        <p:spPr>
          <a:xfrm>
            <a:off x="11329416" y="457200"/>
            <a:ext cx="128016" cy="128016"/>
          </a:xfrm>
          <a:prstGeom prst="ellipse">
            <a:avLst/>
          </a:prstGeom>
          <a:solidFill>
            <a:srgbClr val="F2B600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457200"/>
            <a:ext cx="128016" cy="128016"/>
          </a:xfrm>
          <a:prstGeom prst="ellipse">
            <a:avLst/>
          </a:prstGeom>
          <a:solidFill>
            <a:srgbClr val="1B20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183112" y="64008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8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3514039" cy="2377440"/>
          </a:xfrm>
          <a:prstGeom prst="roundRect">
            <a:avLst>
              <a:gd name="adj" fmla="val 4615"/>
            </a:avLst>
          </a:prstGeom>
          <a:solidFill>
            <a:srgbClr val="FBE6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BE1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快速档</a:t>
            </a:r>
            <a:endParaRPr lang="zh-CN" sz="1800" dirty="0"/>
          </a:p>
        </p:txBody>
      </p:sp>
      <p:sp>
        <p:nvSpPr>
          <p:cNvPr id="11" name="Shape 9"/>
          <p:cNvSpPr/>
          <p:nvPr/>
        </p:nvSpPr>
        <p:spPr>
          <a:xfrm>
            <a:off x="3148279" y="1874520"/>
            <a:ext cx="594360" cy="594360"/>
          </a:xfrm>
          <a:prstGeom prst="ellipse">
            <a:avLst/>
          </a:prstGeom>
          <a:solidFill>
            <a:srgbClr val="D0266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6869" y="2023110"/>
            <a:ext cx="297180" cy="29718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68680" y="23774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BE1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原价</a:t>
            </a:r>
            <a:endParaRPr lang="zh-CN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30 分钟内可取</a:t>
            </a:r>
            <a:endParaRPr lang="zh-CN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3474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适合：马上要用的急单</a:t>
            </a:r>
            <a:endParaRPr lang="zh-CN" sz="1300" dirty="0"/>
          </a:p>
        </p:txBody>
      </p:sp>
      <p:sp>
        <p:nvSpPr>
          <p:cNvPr id="16" name="Shape 13"/>
          <p:cNvSpPr/>
          <p:nvPr/>
        </p:nvSpPr>
        <p:spPr>
          <a:xfrm>
            <a:off x="4336999" y="1600200"/>
            <a:ext cx="3514039" cy="2377440"/>
          </a:xfrm>
          <a:prstGeom prst="roundRect">
            <a:avLst>
              <a:gd name="adj" fmla="val 4615"/>
            </a:avLst>
          </a:prstGeom>
          <a:solidFill>
            <a:srgbClr val="E3F4F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657039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007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普通档</a:t>
            </a:r>
            <a:endParaRPr lang="zh-CN" sz="1800" dirty="0"/>
          </a:p>
        </p:txBody>
      </p:sp>
      <p:sp>
        <p:nvSpPr>
          <p:cNvPr id="18" name="Shape 15"/>
          <p:cNvSpPr/>
          <p:nvPr/>
        </p:nvSpPr>
        <p:spPr>
          <a:xfrm>
            <a:off x="6936638" y="1874520"/>
            <a:ext cx="594360" cy="594360"/>
          </a:xfrm>
          <a:prstGeom prst="ellipse">
            <a:avLst/>
          </a:prstGeom>
          <a:solidFill>
            <a:srgbClr val="0093C4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228" y="2023110"/>
            <a:ext cx="297180" cy="29718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657039" y="23774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007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95 折</a:t>
            </a:r>
            <a:endParaRPr lang="zh-CN" sz="3400" dirty="0"/>
          </a:p>
        </p:txBody>
      </p:sp>
      <p:sp>
        <p:nvSpPr>
          <p:cNvPr id="21" name="Text 17"/>
          <p:cNvSpPr txBox="1"/>
          <p:nvPr/>
        </p:nvSpPr>
        <p:spPr>
          <a:xfrm>
            <a:off x="4657039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 小时内可取</a:t>
            </a:r>
            <a:endParaRPr lang="zh-CN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4657039" y="3474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适合：当天课后再取</a:t>
            </a:r>
            <a:endParaRPr lang="zh-CN" sz="1300" dirty="0"/>
          </a:p>
        </p:txBody>
      </p:sp>
      <p:sp>
        <p:nvSpPr>
          <p:cNvPr id="23" name="Shape 19"/>
          <p:cNvSpPr/>
          <p:nvPr/>
        </p:nvSpPr>
        <p:spPr>
          <a:xfrm>
            <a:off x="8125358" y="1600200"/>
            <a:ext cx="3514039" cy="2377440"/>
          </a:xfrm>
          <a:prstGeom prst="roundRect">
            <a:avLst>
              <a:gd name="adj" fmla="val 4615"/>
            </a:avLst>
          </a:prstGeom>
          <a:solidFill>
            <a:srgbClr val="FEF4D4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445398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8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灵活档</a:t>
            </a:r>
            <a:endParaRPr lang="zh-CN" sz="1800" dirty="0"/>
          </a:p>
        </p:txBody>
      </p:sp>
      <p:sp>
        <p:nvSpPr>
          <p:cNvPr id="25" name="Shape 21"/>
          <p:cNvSpPr/>
          <p:nvPr/>
        </p:nvSpPr>
        <p:spPr>
          <a:xfrm>
            <a:off x="10724998" y="1874520"/>
            <a:ext cx="594360" cy="594360"/>
          </a:xfrm>
          <a:prstGeom prst="ellipse">
            <a:avLst/>
          </a:prstGeom>
          <a:solidFill>
            <a:srgbClr val="F2B600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3588" y="2023110"/>
            <a:ext cx="297180" cy="297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445398" y="23774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8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85 折</a:t>
            </a:r>
            <a:endParaRPr lang="zh-CN" sz="3400" dirty="0"/>
          </a:p>
        </p:txBody>
      </p:sp>
      <p:sp>
        <p:nvSpPr>
          <p:cNvPr id="28" name="Text 23"/>
          <p:cNvSpPr txBox="1"/>
          <p:nvPr/>
        </p:nvSpPr>
        <p:spPr>
          <a:xfrm>
            <a:off x="8445398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8 小时内可取</a:t>
            </a:r>
            <a:endParaRPr lang="zh-CN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8445398" y="3474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适合：不急、可错峰的大单</a:t>
            </a:r>
            <a:endParaRPr lang="zh-CN" sz="1300" dirty="0"/>
          </a:p>
        </p:txBody>
      </p:sp>
      <p:sp>
        <p:nvSpPr>
          <p:cNvPr id="30" name="Shape 25"/>
          <p:cNvSpPr/>
          <p:nvPr/>
        </p:nvSpPr>
        <p:spPr>
          <a:xfrm>
            <a:off x="548640" y="4389120"/>
            <a:ext cx="566928" cy="566928"/>
          </a:xfrm>
          <a:prstGeom prst="ellipse">
            <a:avLst/>
          </a:prstGeom>
          <a:solidFill>
            <a:srgbClr val="1B2030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530852"/>
            <a:ext cx="283464" cy="28346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298448" y="4389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削峰填谷</a:t>
            </a:r>
            <a:endParaRPr lang="zh-CN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1298448" y="4800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CN" altLang="en-US" sz="13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把不急的订单引导到低谷时段，缓解高峰排队</a:t>
            </a:r>
            <a:endParaRPr lang="zh-CN" sz="1300" dirty="0"/>
          </a:p>
        </p:txBody>
      </p:sp>
      <p:sp>
        <p:nvSpPr>
          <p:cNvPr id="34" name="Shape 28"/>
          <p:cNvSpPr/>
          <p:nvPr/>
        </p:nvSpPr>
        <p:spPr>
          <a:xfrm>
            <a:off x="4336999" y="4389120"/>
            <a:ext cx="566928" cy="566928"/>
          </a:xfrm>
          <a:prstGeom prst="ellipse">
            <a:avLst/>
          </a:prstGeom>
          <a:solidFill>
            <a:srgbClr val="1B2030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8731" y="4530852"/>
            <a:ext cx="283464" cy="283464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5086807" y="4389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双方受益</a:t>
            </a:r>
            <a:endParaRPr lang="zh-CN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5086807" y="4800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CN" altLang="en-US" sz="13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学生愿意等就能省钱，店主提高设备利用率</a:t>
            </a:r>
            <a:endParaRPr lang="zh-CN" sz="1300" dirty="0"/>
          </a:p>
        </p:txBody>
      </p:sp>
      <p:sp>
        <p:nvSpPr>
          <p:cNvPr id="38" name="Shape 31"/>
          <p:cNvSpPr/>
          <p:nvPr/>
        </p:nvSpPr>
        <p:spPr>
          <a:xfrm>
            <a:off x="8125358" y="4389120"/>
            <a:ext cx="566928" cy="566928"/>
          </a:xfrm>
          <a:prstGeom prst="ellipse">
            <a:avLst/>
          </a:prstGeom>
          <a:solidFill>
            <a:srgbClr val="1B2030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7090" y="4530852"/>
            <a:ext cx="283464" cy="283464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8875166" y="4389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统一定价</a:t>
            </a:r>
            <a:endParaRPr lang="zh-CN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8875166" y="4800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CN" altLang="en-US" sz="13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报价与期限由系统统一计算并锁定，不随意变动</a:t>
            </a:r>
            <a:endParaRPr lang="zh-CN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548640" y="5943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注：折扣与时限均为初步设想，将通过模拟实验调整后确定。</a:t>
            </a:r>
            <a:endParaRPr lang="zh-CN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spc="100" kern="0" dirty="0">
                <a:solidFill>
                  <a:srgbClr val="8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pPr indent="0" marL="0">
              <a:buNone/>
            </a:pPr>
            <a:r>
              <a:rPr lang="zh-CN" altLang="en-US" sz="1200" spc="100" kern="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解决思路</a:t>
            </a:r>
            <a:endParaRPr lang="zh-CN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界面原型构想（低保真）</a:t>
            </a:r>
            <a:endParaRPr lang="zh-CN" sz="3000" dirty="0"/>
          </a:p>
        </p:txBody>
      </p:sp>
      <p:sp>
        <p:nvSpPr>
          <p:cNvPr id="4" name="Shape 2"/>
          <p:cNvSpPr/>
          <p:nvPr/>
        </p:nvSpPr>
        <p:spPr>
          <a:xfrm>
            <a:off x="10945368" y="457200"/>
            <a:ext cx="128016" cy="128016"/>
          </a:xfrm>
          <a:prstGeom prst="ellipse">
            <a:avLst/>
          </a:prstGeom>
          <a:solidFill>
            <a:srgbClr val="0093C4"/>
          </a:solidFill>
          <a:ln/>
        </p:spPr>
      </p:sp>
      <p:sp>
        <p:nvSpPr>
          <p:cNvPr id="5" name="Shape 3"/>
          <p:cNvSpPr/>
          <p:nvPr/>
        </p:nvSpPr>
        <p:spPr>
          <a:xfrm>
            <a:off x="11137392" y="457200"/>
            <a:ext cx="128016" cy="128016"/>
          </a:xfrm>
          <a:prstGeom prst="ellipse">
            <a:avLst/>
          </a:prstGeom>
          <a:solidFill>
            <a:srgbClr val="D0266E"/>
          </a:solidFill>
          <a:ln/>
        </p:spPr>
      </p:sp>
      <p:sp>
        <p:nvSpPr>
          <p:cNvPr id="6" name="Shape 4"/>
          <p:cNvSpPr/>
          <p:nvPr/>
        </p:nvSpPr>
        <p:spPr>
          <a:xfrm>
            <a:off x="11329416" y="457200"/>
            <a:ext cx="128016" cy="128016"/>
          </a:xfrm>
          <a:prstGeom prst="ellipse">
            <a:avLst/>
          </a:prstGeom>
          <a:solidFill>
            <a:srgbClr val="F2B600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457200"/>
            <a:ext cx="128016" cy="128016"/>
          </a:xfrm>
          <a:prstGeom prst="ellipse">
            <a:avLst/>
          </a:prstGeom>
          <a:solidFill>
            <a:srgbClr val="1B20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183112" y="64008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8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47548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00200"/>
            <a:ext cx="4754880" cy="347472"/>
          </a:xfrm>
          <a:prstGeom prst="rect">
            <a:avLst/>
          </a:prstGeom>
          <a:solidFill>
            <a:srgbClr val="EEF0F4"/>
          </a:solidFill>
          <a:ln w="12700">
            <a:solidFill>
              <a:srgbClr val="C3C9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" y="1719072"/>
            <a:ext cx="109728" cy="109728"/>
          </a:xfrm>
          <a:prstGeom prst="ellipse">
            <a:avLst/>
          </a:prstGeom>
          <a:solidFill>
            <a:srgbClr val="C3C9D4"/>
          </a:solidFill>
          <a:ln/>
        </p:spPr>
      </p:sp>
      <p:sp>
        <p:nvSpPr>
          <p:cNvPr id="12" name="Shape 10"/>
          <p:cNvSpPr/>
          <p:nvPr/>
        </p:nvSpPr>
        <p:spPr>
          <a:xfrm>
            <a:off x="877824" y="1719072"/>
            <a:ext cx="109728" cy="109728"/>
          </a:xfrm>
          <a:prstGeom prst="ellipse">
            <a:avLst/>
          </a:prstGeom>
          <a:solidFill>
            <a:srgbClr val="C3C9D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0704" y="1719072"/>
            <a:ext cx="109728" cy="109728"/>
          </a:xfrm>
          <a:prstGeom prst="ellipse">
            <a:avLst/>
          </a:prstGeom>
          <a:solidFill>
            <a:srgbClr val="C3C9D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1600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05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学生端 · 打印下单</a:t>
            </a:r>
            <a:endParaRPr lang="zh-CN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194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纸张</a:t>
            </a:r>
            <a:endParaRPr lang="zh-CN" sz="1200" dirty="0"/>
          </a:p>
        </p:txBody>
      </p:sp>
      <p:sp>
        <p:nvSpPr>
          <p:cNvPr id="16" name="Shape 14"/>
          <p:cNvSpPr/>
          <p:nvPr/>
        </p:nvSpPr>
        <p:spPr>
          <a:xfrm>
            <a:off x="2148840" y="219456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1B2030"/>
          </a:solidFill>
          <a:ln w="9525">
            <a:solidFill>
              <a:srgbClr val="1B20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48840" y="21945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A4</a:t>
            </a:r>
            <a:endParaRPr lang="zh-CN" sz="1100" dirty="0"/>
          </a:p>
        </p:txBody>
      </p:sp>
      <p:sp>
        <p:nvSpPr>
          <p:cNvPr id="18" name="Shape 16"/>
          <p:cNvSpPr/>
          <p:nvPr/>
        </p:nvSpPr>
        <p:spPr>
          <a:xfrm>
            <a:off x="2990088" y="219456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3C9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90088" y="21945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</a:t>
            </a:r>
            <a:endParaRPr lang="zh-CN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26517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</a:t>
            </a:r>
            <a:endParaRPr lang="zh-CN" sz="1200" dirty="0"/>
          </a:p>
        </p:txBody>
      </p:sp>
      <p:sp>
        <p:nvSpPr>
          <p:cNvPr id="21" name="Shape 19"/>
          <p:cNvSpPr/>
          <p:nvPr/>
        </p:nvSpPr>
        <p:spPr>
          <a:xfrm>
            <a:off x="2148840" y="265176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1B2030"/>
          </a:solidFill>
          <a:ln w="9525">
            <a:solidFill>
              <a:srgbClr val="1B203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148840" y="26517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黑白</a:t>
            </a:r>
            <a:endParaRPr lang="zh-CN" sz="1100" dirty="0"/>
          </a:p>
        </p:txBody>
      </p:sp>
      <p:sp>
        <p:nvSpPr>
          <p:cNvPr id="23" name="Shape 21"/>
          <p:cNvSpPr/>
          <p:nvPr/>
        </p:nvSpPr>
        <p:spPr>
          <a:xfrm>
            <a:off x="2990088" y="265176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3C9D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90088" y="26517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彩色</a:t>
            </a:r>
            <a:endParaRPr lang="zh-CN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31089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单双面</a:t>
            </a:r>
            <a:endParaRPr lang="zh-CN" sz="1200" dirty="0"/>
          </a:p>
        </p:txBody>
      </p:sp>
      <p:sp>
        <p:nvSpPr>
          <p:cNvPr id="26" name="Shape 24"/>
          <p:cNvSpPr/>
          <p:nvPr/>
        </p:nvSpPr>
        <p:spPr>
          <a:xfrm>
            <a:off x="2148840" y="310896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3C9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48840" y="31089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单面</a:t>
            </a:r>
            <a:endParaRPr lang="zh-CN" sz="1100" dirty="0"/>
          </a:p>
        </p:txBody>
      </p:sp>
      <p:sp>
        <p:nvSpPr>
          <p:cNvPr id="28" name="Shape 26"/>
          <p:cNvSpPr/>
          <p:nvPr/>
        </p:nvSpPr>
        <p:spPr>
          <a:xfrm>
            <a:off x="2990088" y="310896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1B2030"/>
          </a:solidFill>
          <a:ln w="9525">
            <a:solidFill>
              <a:srgbClr val="1B203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90088" y="31089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双面</a:t>
            </a:r>
            <a:endParaRPr lang="zh-CN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页数 × 份数</a:t>
            </a:r>
            <a:endParaRPr lang="zh-CN" sz="1200" dirty="0"/>
          </a:p>
        </p:txBody>
      </p:sp>
      <p:sp>
        <p:nvSpPr>
          <p:cNvPr id="31" name="Shape 29"/>
          <p:cNvSpPr/>
          <p:nvPr/>
        </p:nvSpPr>
        <p:spPr>
          <a:xfrm>
            <a:off x="2148840" y="3566160"/>
            <a:ext cx="84124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3C9D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221992" y="35661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页</a:t>
            </a:r>
            <a:endParaRPr lang="zh-CN" sz="1100" dirty="0"/>
          </a:p>
        </p:txBody>
      </p:sp>
      <p:sp>
        <p:nvSpPr>
          <p:cNvPr id="33" name="Shape 31"/>
          <p:cNvSpPr/>
          <p:nvPr/>
        </p:nvSpPr>
        <p:spPr>
          <a:xfrm>
            <a:off x="3108960" y="3566160"/>
            <a:ext cx="84124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3C9D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182112" y="35661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份</a:t>
            </a:r>
            <a:endParaRPr lang="zh-CN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40233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服务档位</a:t>
            </a:r>
            <a:endParaRPr lang="zh-CN" sz="1200" dirty="0"/>
          </a:p>
        </p:txBody>
      </p:sp>
      <p:sp>
        <p:nvSpPr>
          <p:cNvPr id="36" name="Shape 34"/>
          <p:cNvSpPr/>
          <p:nvPr/>
        </p:nvSpPr>
        <p:spPr>
          <a:xfrm>
            <a:off x="2148840" y="402336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3C9D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148840" y="4023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</a:t>
            </a:r>
            <a:endParaRPr lang="zh-CN" sz="1100" dirty="0"/>
          </a:p>
        </p:txBody>
      </p:sp>
      <p:sp>
        <p:nvSpPr>
          <p:cNvPr id="38" name="Shape 36"/>
          <p:cNvSpPr/>
          <p:nvPr/>
        </p:nvSpPr>
        <p:spPr>
          <a:xfrm>
            <a:off x="2990088" y="402336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0093C4"/>
          </a:solidFill>
          <a:ln w="9525">
            <a:solidFill>
              <a:srgbClr val="0093C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990088" y="4023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</a:t>
            </a:r>
            <a:endParaRPr lang="zh-CN" sz="1100" dirty="0"/>
          </a:p>
        </p:txBody>
      </p:sp>
      <p:sp>
        <p:nvSpPr>
          <p:cNvPr id="40" name="Shape 38"/>
          <p:cNvSpPr/>
          <p:nvPr/>
        </p:nvSpPr>
        <p:spPr>
          <a:xfrm>
            <a:off x="3831336" y="402336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3C9D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831336" y="4023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</a:t>
            </a:r>
            <a:endParaRPr lang="zh-CN" sz="1100" dirty="0"/>
          </a:p>
        </p:txBody>
      </p:sp>
      <p:sp>
        <p:nvSpPr>
          <p:cNvPr id="42" name="Shape 40"/>
          <p:cNvSpPr/>
          <p:nvPr/>
        </p:nvSpPr>
        <p:spPr>
          <a:xfrm>
            <a:off x="868680" y="457200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E3F4F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51560" y="45720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 ¥ 9.12　·　预计 16:30 前可取</a:t>
            </a:r>
            <a:endParaRPr lang="zh-CN" sz="1300" dirty="0"/>
          </a:p>
        </p:txBody>
      </p:sp>
      <p:sp>
        <p:nvSpPr>
          <p:cNvPr id="44" name="Shape 42"/>
          <p:cNvSpPr/>
          <p:nvPr/>
        </p:nvSpPr>
        <p:spPr>
          <a:xfrm>
            <a:off x="868680" y="530352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1B2030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68680" y="5303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提交订单</a:t>
            </a:r>
            <a:endParaRPr lang="zh-CN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0624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学生端：选规格 → 选档位 → 确认报价与取件时间 → 提交</a:t>
            </a:r>
            <a:endParaRPr lang="zh-CN" sz="1150" dirty="0"/>
          </a:p>
        </p:txBody>
      </p:sp>
      <p:sp>
        <p:nvSpPr>
          <p:cNvPr id="47" name="Shape 45"/>
          <p:cNvSpPr/>
          <p:nvPr/>
        </p:nvSpPr>
        <p:spPr>
          <a:xfrm>
            <a:off x="5669280" y="1600200"/>
            <a:ext cx="5971032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69280" y="1600200"/>
            <a:ext cx="5971032" cy="347472"/>
          </a:xfrm>
          <a:prstGeom prst="rect">
            <a:avLst/>
          </a:prstGeom>
          <a:solidFill>
            <a:srgbClr val="EEF0F4"/>
          </a:solidFill>
          <a:ln w="12700">
            <a:solidFill>
              <a:srgbClr val="C3C9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15584" y="1719072"/>
            <a:ext cx="109728" cy="109728"/>
          </a:xfrm>
          <a:prstGeom prst="ellipse">
            <a:avLst/>
          </a:prstGeom>
          <a:solidFill>
            <a:srgbClr val="C3C9D4"/>
          </a:solidFill>
          <a:ln/>
        </p:spPr>
      </p:sp>
      <p:sp>
        <p:nvSpPr>
          <p:cNvPr id="50" name="Shape 48"/>
          <p:cNvSpPr/>
          <p:nvPr/>
        </p:nvSpPr>
        <p:spPr>
          <a:xfrm>
            <a:off x="5998464" y="1719072"/>
            <a:ext cx="109728" cy="109728"/>
          </a:xfrm>
          <a:prstGeom prst="ellipse">
            <a:avLst/>
          </a:prstGeom>
          <a:solidFill>
            <a:srgbClr val="C3C9D4"/>
          </a:solidFill>
          <a:ln/>
        </p:spPr>
      </p:sp>
      <p:sp>
        <p:nvSpPr>
          <p:cNvPr id="51" name="Shape 49"/>
          <p:cNvSpPr/>
          <p:nvPr/>
        </p:nvSpPr>
        <p:spPr>
          <a:xfrm>
            <a:off x="6181344" y="1719072"/>
            <a:ext cx="109728" cy="109728"/>
          </a:xfrm>
          <a:prstGeom prst="ellipse">
            <a:avLst/>
          </a:prstGeom>
          <a:solidFill>
            <a:srgbClr val="C3C9D4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5669280" y="1600200"/>
            <a:ext cx="5971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05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店主端 · 工作台</a:t>
            </a:r>
            <a:endParaRPr lang="zh-CN" sz="1050" dirty="0"/>
          </a:p>
        </p:txBody>
      </p:sp>
      <p:sp>
        <p:nvSpPr>
          <p:cNvPr id="53" name="Shape 51"/>
          <p:cNvSpPr/>
          <p:nvPr/>
        </p:nvSpPr>
        <p:spPr>
          <a:xfrm>
            <a:off x="5943600" y="2103120"/>
            <a:ext cx="1685544" cy="731520"/>
          </a:xfrm>
          <a:prstGeom prst="roundRect">
            <a:avLst>
              <a:gd name="adj" fmla="val 7500"/>
            </a:avLst>
          </a:prstGeom>
          <a:solidFill>
            <a:srgbClr val="F5F6F9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071616" y="2176272"/>
            <a:ext cx="1502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今日营业额</a:t>
            </a:r>
            <a:endParaRPr lang="zh-CN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071616" y="2414016"/>
            <a:ext cx="1502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¥ 386.50</a:t>
            </a:r>
            <a:endParaRPr lang="zh-CN" sz="1600" dirty="0"/>
          </a:p>
        </p:txBody>
      </p:sp>
      <p:sp>
        <p:nvSpPr>
          <p:cNvPr id="56" name="Shape 54"/>
          <p:cNvSpPr/>
          <p:nvPr/>
        </p:nvSpPr>
        <p:spPr>
          <a:xfrm>
            <a:off x="7812024" y="2103120"/>
            <a:ext cx="1685544" cy="731520"/>
          </a:xfrm>
          <a:prstGeom prst="roundRect">
            <a:avLst>
              <a:gd name="adj" fmla="val 7500"/>
            </a:avLst>
          </a:prstGeom>
          <a:solidFill>
            <a:srgbClr val="F5F6F9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7940040" y="2176272"/>
            <a:ext cx="1502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等待中</a:t>
            </a:r>
            <a:endParaRPr lang="zh-CN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7940040" y="2414016"/>
            <a:ext cx="1502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单</a:t>
            </a:r>
            <a:endParaRPr lang="zh-CN" sz="1600" dirty="0"/>
          </a:p>
        </p:txBody>
      </p:sp>
      <p:sp>
        <p:nvSpPr>
          <p:cNvPr id="59" name="Shape 57"/>
          <p:cNvSpPr/>
          <p:nvPr/>
        </p:nvSpPr>
        <p:spPr>
          <a:xfrm>
            <a:off x="9680448" y="2103120"/>
            <a:ext cx="1685544" cy="731520"/>
          </a:xfrm>
          <a:prstGeom prst="roundRect">
            <a:avLst>
              <a:gd name="adj" fmla="val 7500"/>
            </a:avLst>
          </a:prstGeom>
          <a:solidFill>
            <a:srgbClr val="F5F6F9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808464" y="2176272"/>
            <a:ext cx="1502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已超时</a:t>
            </a:r>
            <a:endParaRPr lang="zh-CN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9808464" y="2414016"/>
            <a:ext cx="1502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BE1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单</a:t>
            </a:r>
            <a:endParaRPr lang="zh-CN" sz="1600" dirty="0"/>
          </a:p>
        </p:txBody>
      </p:sp>
      <p:sp>
        <p:nvSpPr>
          <p:cNvPr id="62" name="Shape 60"/>
          <p:cNvSpPr/>
          <p:nvPr/>
        </p:nvSpPr>
        <p:spPr>
          <a:xfrm>
            <a:off x="5943600" y="2971800"/>
            <a:ext cx="1685544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3C9D4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053328" y="3044952"/>
            <a:ext cx="1502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5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号 · 黑白 A4</a:t>
            </a:r>
            <a:endParaRPr lang="zh-CN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6053328" y="3300984"/>
            <a:ext cx="150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007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打印中 60%</a:t>
            </a:r>
            <a:endParaRPr lang="zh-CN" sz="950" dirty="0"/>
          </a:p>
        </p:txBody>
      </p:sp>
      <p:sp>
        <p:nvSpPr>
          <p:cNvPr id="65" name="Shape 63"/>
          <p:cNvSpPr/>
          <p:nvPr/>
        </p:nvSpPr>
        <p:spPr>
          <a:xfrm>
            <a:off x="6053328" y="3566160"/>
            <a:ext cx="1466088" cy="64008"/>
          </a:xfrm>
          <a:prstGeom prst="rect">
            <a:avLst/>
          </a:prstGeom>
          <a:solidFill>
            <a:srgbClr val="E1E5EC"/>
          </a:solidFill>
          <a:ln/>
        </p:spPr>
      </p:sp>
      <p:sp>
        <p:nvSpPr>
          <p:cNvPr id="66" name="Shape 64"/>
          <p:cNvSpPr/>
          <p:nvPr/>
        </p:nvSpPr>
        <p:spPr>
          <a:xfrm>
            <a:off x="6053328" y="3566160"/>
            <a:ext cx="879653" cy="64008"/>
          </a:xfrm>
          <a:prstGeom prst="rect">
            <a:avLst/>
          </a:prstGeom>
          <a:solidFill>
            <a:srgbClr val="0093C4"/>
          </a:solidFill>
          <a:ln/>
        </p:spPr>
      </p:sp>
      <p:sp>
        <p:nvSpPr>
          <p:cNvPr id="67" name="Shape 65"/>
          <p:cNvSpPr/>
          <p:nvPr/>
        </p:nvSpPr>
        <p:spPr>
          <a:xfrm>
            <a:off x="7812024" y="2971800"/>
            <a:ext cx="1685544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3C9D4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921752" y="3044952"/>
            <a:ext cx="1502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5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号 · 黑白 A4</a:t>
            </a:r>
            <a:endParaRPr lang="zh-CN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7921752" y="3300984"/>
            <a:ext cx="150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</a:t>
            </a:r>
            <a:endParaRPr lang="zh-CN" sz="950" dirty="0"/>
          </a:p>
        </p:txBody>
      </p:sp>
      <p:sp>
        <p:nvSpPr>
          <p:cNvPr id="70" name="Shape 68"/>
          <p:cNvSpPr/>
          <p:nvPr/>
        </p:nvSpPr>
        <p:spPr>
          <a:xfrm>
            <a:off x="7921752" y="3566160"/>
            <a:ext cx="1466088" cy="64008"/>
          </a:xfrm>
          <a:prstGeom prst="rect">
            <a:avLst/>
          </a:prstGeom>
          <a:solidFill>
            <a:srgbClr val="E1E5EC"/>
          </a:solidFill>
          <a:ln/>
        </p:spPr>
      </p:sp>
      <p:sp>
        <p:nvSpPr>
          <p:cNvPr id="71" name="Shape 69"/>
          <p:cNvSpPr/>
          <p:nvPr/>
        </p:nvSpPr>
        <p:spPr>
          <a:xfrm>
            <a:off x="9680448" y="2971800"/>
            <a:ext cx="1685544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3C9D4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790176" y="3044952"/>
            <a:ext cx="1502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5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号 · 黑白 A4 单面</a:t>
            </a:r>
            <a:endParaRPr lang="zh-CN" sz="1050" dirty="0"/>
          </a:p>
        </p:txBody>
      </p:sp>
      <p:sp>
        <p:nvSpPr>
          <p:cNvPr id="73" name="Text 71"/>
          <p:cNvSpPr txBox="1"/>
          <p:nvPr/>
        </p:nvSpPr>
        <p:spPr>
          <a:xfrm>
            <a:off x="9790176" y="3300984"/>
            <a:ext cx="150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007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打印中 25%</a:t>
            </a:r>
            <a:endParaRPr lang="zh-CN" sz="950" dirty="0"/>
          </a:p>
        </p:txBody>
      </p:sp>
      <p:sp>
        <p:nvSpPr>
          <p:cNvPr id="74" name="Shape 72"/>
          <p:cNvSpPr/>
          <p:nvPr/>
        </p:nvSpPr>
        <p:spPr>
          <a:xfrm>
            <a:off x="9790176" y="3566160"/>
            <a:ext cx="1466088" cy="64008"/>
          </a:xfrm>
          <a:prstGeom prst="rect">
            <a:avLst/>
          </a:prstGeom>
          <a:solidFill>
            <a:srgbClr val="E1E5EC"/>
          </a:solidFill>
          <a:ln/>
        </p:spPr>
      </p:sp>
      <p:sp>
        <p:nvSpPr>
          <p:cNvPr id="75" name="Shape 73"/>
          <p:cNvSpPr/>
          <p:nvPr/>
        </p:nvSpPr>
        <p:spPr>
          <a:xfrm>
            <a:off x="9790176" y="3566160"/>
            <a:ext cx="366522" cy="64008"/>
          </a:xfrm>
          <a:prstGeom prst="rect">
            <a:avLst/>
          </a:prstGeom>
          <a:solidFill>
            <a:srgbClr val="0093C4"/>
          </a:solidFill>
          <a:ln/>
        </p:spPr>
      </p:sp>
      <p:sp>
        <p:nvSpPr>
          <p:cNvPr id="76" name="Shape 74"/>
          <p:cNvSpPr/>
          <p:nvPr/>
        </p:nvSpPr>
        <p:spPr>
          <a:xfrm>
            <a:off x="5943600" y="3886200"/>
            <a:ext cx="1685544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3C9D4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053328" y="3959352"/>
            <a:ext cx="1502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5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号 · 彩色 A4</a:t>
            </a:r>
            <a:endParaRPr lang="zh-CN" sz="1050" dirty="0"/>
          </a:p>
        </p:txBody>
      </p:sp>
      <p:sp>
        <p:nvSpPr>
          <p:cNvPr id="78" name="Text 76"/>
          <p:cNvSpPr txBox="1"/>
          <p:nvPr/>
        </p:nvSpPr>
        <p:spPr>
          <a:xfrm>
            <a:off x="6053328" y="4215384"/>
            <a:ext cx="150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007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打印中 80%</a:t>
            </a:r>
            <a:endParaRPr lang="zh-CN" sz="950" dirty="0"/>
          </a:p>
        </p:txBody>
      </p:sp>
      <p:sp>
        <p:nvSpPr>
          <p:cNvPr id="79" name="Shape 77"/>
          <p:cNvSpPr/>
          <p:nvPr/>
        </p:nvSpPr>
        <p:spPr>
          <a:xfrm>
            <a:off x="6053328" y="4480560"/>
            <a:ext cx="1466088" cy="64008"/>
          </a:xfrm>
          <a:prstGeom prst="rect">
            <a:avLst/>
          </a:prstGeom>
          <a:solidFill>
            <a:srgbClr val="E1E5EC"/>
          </a:solidFill>
          <a:ln/>
        </p:spPr>
      </p:sp>
      <p:sp>
        <p:nvSpPr>
          <p:cNvPr id="80" name="Shape 78"/>
          <p:cNvSpPr/>
          <p:nvPr/>
        </p:nvSpPr>
        <p:spPr>
          <a:xfrm>
            <a:off x="6053328" y="4480560"/>
            <a:ext cx="1172870" cy="64008"/>
          </a:xfrm>
          <a:prstGeom prst="rect">
            <a:avLst/>
          </a:prstGeom>
          <a:solidFill>
            <a:srgbClr val="0093C4"/>
          </a:solidFill>
          <a:ln/>
        </p:spPr>
      </p:sp>
      <p:sp>
        <p:nvSpPr>
          <p:cNvPr id="81" name="Shape 79"/>
          <p:cNvSpPr/>
          <p:nvPr/>
        </p:nvSpPr>
        <p:spPr>
          <a:xfrm>
            <a:off x="7812024" y="3886200"/>
            <a:ext cx="1685544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3C9D4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7921752" y="3959352"/>
            <a:ext cx="1502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5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号 · 彩色 A4</a:t>
            </a:r>
            <a:endParaRPr lang="zh-CN" sz="1050" dirty="0"/>
          </a:p>
        </p:txBody>
      </p:sp>
      <p:sp>
        <p:nvSpPr>
          <p:cNvPr id="83" name="Text 81"/>
          <p:cNvSpPr txBox="1"/>
          <p:nvPr/>
        </p:nvSpPr>
        <p:spPr>
          <a:xfrm>
            <a:off x="7921752" y="4215384"/>
            <a:ext cx="150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8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暂停接单</a:t>
            </a:r>
            <a:endParaRPr lang="zh-CN" sz="950" dirty="0"/>
          </a:p>
        </p:txBody>
      </p:sp>
      <p:sp>
        <p:nvSpPr>
          <p:cNvPr id="84" name="Shape 82"/>
          <p:cNvSpPr/>
          <p:nvPr/>
        </p:nvSpPr>
        <p:spPr>
          <a:xfrm>
            <a:off x="7921752" y="4480560"/>
            <a:ext cx="1466088" cy="64008"/>
          </a:xfrm>
          <a:prstGeom prst="rect">
            <a:avLst/>
          </a:prstGeom>
          <a:solidFill>
            <a:srgbClr val="E1E5EC"/>
          </a:solidFill>
          <a:ln/>
        </p:spPr>
      </p:sp>
      <p:sp>
        <p:nvSpPr>
          <p:cNvPr id="85" name="Shape 83"/>
          <p:cNvSpPr/>
          <p:nvPr/>
        </p:nvSpPr>
        <p:spPr>
          <a:xfrm>
            <a:off x="9680448" y="3886200"/>
            <a:ext cx="1685544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3C9D4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9790176" y="3959352"/>
            <a:ext cx="1502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5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号 · A3/A4 全能</a:t>
            </a:r>
            <a:endParaRPr lang="zh-CN" sz="1050" dirty="0"/>
          </a:p>
        </p:txBody>
      </p:sp>
      <p:sp>
        <p:nvSpPr>
          <p:cNvPr id="87" name="Text 85"/>
          <p:cNvSpPr txBox="1"/>
          <p:nvPr/>
        </p:nvSpPr>
        <p:spPr>
          <a:xfrm>
            <a:off x="9790176" y="4215384"/>
            <a:ext cx="150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</a:t>
            </a:r>
            <a:endParaRPr lang="zh-CN" sz="950" dirty="0"/>
          </a:p>
        </p:txBody>
      </p:sp>
      <p:sp>
        <p:nvSpPr>
          <p:cNvPr id="88" name="Shape 86"/>
          <p:cNvSpPr/>
          <p:nvPr/>
        </p:nvSpPr>
        <p:spPr>
          <a:xfrm>
            <a:off x="9790176" y="4480560"/>
            <a:ext cx="1466088" cy="64008"/>
          </a:xfrm>
          <a:prstGeom prst="rect">
            <a:avLst/>
          </a:prstGeom>
          <a:solidFill>
            <a:srgbClr val="E1E5EC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5943600" y="4800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5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等待队列（按当前策略排序）</a:t>
            </a:r>
            <a:endParaRPr lang="zh-CN" sz="1050" dirty="0"/>
          </a:p>
        </p:txBody>
      </p:sp>
      <p:sp>
        <p:nvSpPr>
          <p:cNvPr id="90" name="Shape 88"/>
          <p:cNvSpPr/>
          <p:nvPr/>
        </p:nvSpPr>
        <p:spPr>
          <a:xfrm>
            <a:off x="9628632" y="4773168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3C9D4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9628632" y="47731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策略：优先级 + 老化</a:t>
            </a:r>
            <a:endParaRPr lang="zh-CN" sz="1100" dirty="0"/>
          </a:p>
        </p:txBody>
      </p:sp>
      <p:sp>
        <p:nvSpPr>
          <p:cNvPr id="92" name="Shape 90"/>
          <p:cNvSpPr/>
          <p:nvPr/>
        </p:nvSpPr>
        <p:spPr>
          <a:xfrm>
            <a:off x="5943600" y="5166360"/>
            <a:ext cx="5422392" cy="274320"/>
          </a:xfrm>
          <a:prstGeom prst="roundRect">
            <a:avLst>
              <a:gd name="adj" fmla="val 13333"/>
            </a:avLst>
          </a:prstGeom>
          <a:solidFill>
            <a:srgbClr val="F5F6F9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6053328" y="516636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#1041 · A4 黑白双面 · 48 面 · 普通档 · 16:30 前</a:t>
            </a:r>
            <a:endParaRPr lang="zh-CN" sz="1000" dirty="0"/>
          </a:p>
        </p:txBody>
      </p:sp>
      <p:sp>
        <p:nvSpPr>
          <p:cNvPr id="94" name="Shape 92"/>
          <p:cNvSpPr/>
          <p:nvPr/>
        </p:nvSpPr>
        <p:spPr>
          <a:xfrm>
            <a:off x="5943600" y="5495544"/>
            <a:ext cx="5422392" cy="274320"/>
          </a:xfrm>
          <a:prstGeom prst="roundRect">
            <a:avLst>
              <a:gd name="adj" fmla="val 13333"/>
            </a:avLst>
          </a:prstGeom>
          <a:solidFill>
            <a:srgbClr val="F5F6F9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6053328" y="5495544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#1042 · A3 彩色 · 6 面 · 快速档 · 15:05 前</a:t>
            </a:r>
            <a:endParaRPr lang="zh-CN" sz="1000" dirty="0"/>
          </a:p>
        </p:txBody>
      </p:sp>
      <p:sp>
        <p:nvSpPr>
          <p:cNvPr id="96" name="Text 94"/>
          <p:cNvSpPr txBox="1"/>
          <p:nvPr/>
        </p:nvSpPr>
        <p:spPr>
          <a:xfrm>
            <a:off x="5669280" y="6062472"/>
            <a:ext cx="5971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店主端：设备状态、等待队列与经营指标一屏可见，策略可随时切换</a:t>
            </a:r>
            <a:endParaRPr lang="zh-CN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spc="100" kern="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pPr indent="0" marL="0">
              <a:buNone/>
            </a:pPr>
            <a:r>
              <a:rPr lang="zh-CN" altLang="en-US" sz="1200" spc="100" kern="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难点与挑战</a:t>
            </a:r>
            <a:endParaRPr lang="zh-CN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潜在难点（一）：调度与业务层面</a:t>
            </a:r>
            <a:endParaRPr lang="zh-CN" sz="3000" dirty="0"/>
          </a:p>
        </p:txBody>
      </p:sp>
      <p:sp>
        <p:nvSpPr>
          <p:cNvPr id="4" name="Shape 2"/>
          <p:cNvSpPr/>
          <p:nvPr/>
        </p:nvSpPr>
        <p:spPr>
          <a:xfrm>
            <a:off x="10945368" y="457200"/>
            <a:ext cx="128016" cy="128016"/>
          </a:xfrm>
          <a:prstGeom prst="ellipse">
            <a:avLst/>
          </a:prstGeom>
          <a:solidFill>
            <a:srgbClr val="0093C4"/>
          </a:solidFill>
          <a:ln/>
        </p:spPr>
      </p:sp>
      <p:sp>
        <p:nvSpPr>
          <p:cNvPr id="5" name="Shape 3"/>
          <p:cNvSpPr/>
          <p:nvPr/>
        </p:nvSpPr>
        <p:spPr>
          <a:xfrm>
            <a:off x="11137392" y="457200"/>
            <a:ext cx="128016" cy="128016"/>
          </a:xfrm>
          <a:prstGeom prst="ellipse">
            <a:avLst/>
          </a:prstGeom>
          <a:solidFill>
            <a:srgbClr val="D0266E"/>
          </a:solidFill>
          <a:ln/>
        </p:spPr>
      </p:sp>
      <p:sp>
        <p:nvSpPr>
          <p:cNvPr id="6" name="Shape 4"/>
          <p:cNvSpPr/>
          <p:nvPr/>
        </p:nvSpPr>
        <p:spPr>
          <a:xfrm>
            <a:off x="11329416" y="457200"/>
            <a:ext cx="128016" cy="128016"/>
          </a:xfrm>
          <a:prstGeom prst="ellipse">
            <a:avLst/>
          </a:prstGeom>
          <a:solidFill>
            <a:srgbClr val="F2B600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457200"/>
            <a:ext cx="128016" cy="128016"/>
          </a:xfrm>
          <a:prstGeom prst="ellipse">
            <a:avLst/>
          </a:prstGeom>
          <a:solidFill>
            <a:srgbClr val="1B20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183112" y="64008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8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5408676" cy="21945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0093C4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645920" y="18745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多目标相互冲突</a:t>
            </a:r>
            <a:endParaRPr lang="zh-CN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6974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 </a:t>
            </a:r>
            <a:pPr indent="0" marL="0">
              <a:buNone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快、便宜、公平、多营收，无法同时做到最优</a:t>
            </a:r>
            <a:endParaRPr lang="zh-CN" sz="1400" dirty="0"/>
          </a:p>
        </p:txBody>
      </p:sp>
      <p:sp>
        <p:nvSpPr>
          <p:cNvPr id="14" name="Shape 11"/>
          <p:cNvSpPr/>
          <p:nvPr/>
        </p:nvSpPr>
        <p:spPr>
          <a:xfrm>
            <a:off x="731520" y="3172968"/>
            <a:ext cx="504291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31729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007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  </a:t>
            </a:r>
            <a:pPr indent="0" marL="0">
              <a:buNone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提供多种策略，用同一批订单量化比较取舍</a:t>
            </a:r>
            <a:endParaRPr lang="zh-CN" sz="1400" dirty="0"/>
          </a:p>
        </p:txBody>
      </p:sp>
      <p:sp>
        <p:nvSpPr>
          <p:cNvPr id="16" name="Shape 13"/>
          <p:cNvSpPr/>
          <p:nvPr/>
        </p:nvSpPr>
        <p:spPr>
          <a:xfrm>
            <a:off x="6231636" y="1600200"/>
            <a:ext cx="5408676" cy="21945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/>
        </p:spPr>
      </p:sp>
      <p:sp>
        <p:nvSpPr>
          <p:cNvPr id="17" name="Shape 14"/>
          <p:cNvSpPr/>
          <p:nvPr/>
        </p:nvSpPr>
        <p:spPr>
          <a:xfrm>
            <a:off x="6505956" y="1874520"/>
            <a:ext cx="640080" cy="640080"/>
          </a:xfrm>
          <a:prstGeom prst="ellipse">
            <a:avLst/>
          </a:prstGeom>
          <a:solidFill>
            <a:srgbClr val="D0266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0345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328916" y="18745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饥饿与公平性</a:t>
            </a:r>
            <a:endParaRPr lang="zh-CN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6505956" y="26974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 </a:t>
            </a:r>
            <a:pPr indent="0" marL="0">
              <a:buNone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短单、急单持续优先时，大单可能迟迟打不上</a:t>
            </a:r>
            <a:endParaRPr lang="zh-CN" sz="1400" dirty="0"/>
          </a:p>
        </p:txBody>
      </p:sp>
      <p:sp>
        <p:nvSpPr>
          <p:cNvPr id="21" name="Shape 17"/>
          <p:cNvSpPr/>
          <p:nvPr/>
        </p:nvSpPr>
        <p:spPr>
          <a:xfrm>
            <a:off x="6414516" y="3172968"/>
            <a:ext cx="504291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505956" y="31729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BE1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  </a:t>
            </a:r>
            <a:pPr indent="0" marL="0">
              <a:buNone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引入等待老化：等得越久，优先级越高</a:t>
            </a:r>
            <a:endParaRPr lang="zh-CN" sz="1400" dirty="0"/>
          </a:p>
        </p:txBody>
      </p:sp>
      <p:sp>
        <p:nvSpPr>
          <p:cNvPr id="23" name="Shape 19"/>
          <p:cNvSpPr/>
          <p:nvPr/>
        </p:nvSpPr>
        <p:spPr>
          <a:xfrm>
            <a:off x="548640" y="4069080"/>
            <a:ext cx="5408676" cy="21945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/>
        </p:spPr>
      </p:sp>
      <p:sp>
        <p:nvSpPr>
          <p:cNvPr id="24" name="Shape 20"/>
          <p:cNvSpPr/>
          <p:nvPr/>
        </p:nvSpPr>
        <p:spPr>
          <a:xfrm>
            <a:off x="822960" y="4343400"/>
            <a:ext cx="640080" cy="640080"/>
          </a:xfrm>
          <a:prstGeom prst="ellipse">
            <a:avLst/>
          </a:prstGeom>
          <a:solidFill>
            <a:srgbClr val="F2B600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503420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645920" y="43434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设备异构形成瓶颈</a:t>
            </a:r>
            <a:endParaRPr lang="zh-CN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822960" y="51663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 </a:t>
            </a:r>
            <a:pPr indent="0" marL="0">
              <a:buNone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A3、彩色只有少数设备能做，一忙就拖慢整体</a:t>
            </a:r>
            <a:endParaRPr lang="zh-CN" sz="1400" dirty="0"/>
          </a:p>
        </p:txBody>
      </p:sp>
      <p:sp>
        <p:nvSpPr>
          <p:cNvPr id="28" name="Shape 23"/>
          <p:cNvSpPr/>
          <p:nvPr/>
        </p:nvSpPr>
        <p:spPr>
          <a:xfrm>
            <a:off x="731520" y="5641848"/>
            <a:ext cx="504291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22960" y="56418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8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  </a:t>
            </a:r>
            <a:pPr indent="0" marL="0">
              <a:buNone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派单兼顾兼容性与速度，区分“能做”与“做得快”</a:t>
            </a:r>
            <a:endParaRPr lang="zh-CN" sz="1400" dirty="0"/>
          </a:p>
        </p:txBody>
      </p:sp>
      <p:sp>
        <p:nvSpPr>
          <p:cNvPr id="30" name="Shape 25"/>
          <p:cNvSpPr/>
          <p:nvPr/>
        </p:nvSpPr>
        <p:spPr>
          <a:xfrm>
            <a:off x="6231636" y="4069080"/>
            <a:ext cx="5408676" cy="21945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/>
        </p:spPr>
      </p:sp>
      <p:sp>
        <p:nvSpPr>
          <p:cNvPr id="31" name="Shape 26"/>
          <p:cNvSpPr/>
          <p:nvPr/>
        </p:nvSpPr>
        <p:spPr>
          <a:xfrm>
            <a:off x="6505956" y="4343400"/>
            <a:ext cx="640080" cy="640080"/>
          </a:xfrm>
          <a:prstGeom prst="ellipse">
            <a:avLst/>
          </a:prstGeom>
          <a:solidFill>
            <a:srgbClr val="1B2030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503420"/>
            <a:ext cx="320040" cy="32004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328916" y="43434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承诺期限与实际产能</a:t>
            </a:r>
            <a:endParaRPr lang="zh-CN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6505956" y="51663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 </a:t>
            </a:r>
            <a:pPr indent="0" marL="0">
              <a:buNone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高峰期订单集中，承诺的取件时间可能兑现不了</a:t>
            </a:r>
            <a:endParaRPr lang="zh-CN" sz="1400" dirty="0"/>
          </a:p>
        </p:txBody>
      </p:sp>
      <p:sp>
        <p:nvSpPr>
          <p:cNvPr id="35" name="Shape 29"/>
          <p:cNvSpPr/>
          <p:nvPr/>
        </p:nvSpPr>
        <p:spPr>
          <a:xfrm>
            <a:off x="6414516" y="5641848"/>
            <a:ext cx="504291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505956" y="56418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  </a:t>
            </a:r>
            <a:pPr indent="0" marL="0">
              <a:buNone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如实统计超时，用档位折扣引导错峰</a:t>
            </a:r>
            <a:endParaRPr lang="zh-CN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spc="100" kern="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pPr indent="0" marL="0">
              <a:buNone/>
            </a:pPr>
            <a:r>
              <a:rPr lang="zh-CN" altLang="en-US" sz="1200" spc="100" kern="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难点与挑战</a:t>
            </a:r>
            <a:endParaRPr lang="zh-CN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潜在难点（二）：系统与工程层面</a:t>
            </a:r>
            <a:endParaRPr lang="zh-CN" sz="3000" dirty="0"/>
          </a:p>
        </p:txBody>
      </p:sp>
      <p:sp>
        <p:nvSpPr>
          <p:cNvPr id="4" name="Shape 2"/>
          <p:cNvSpPr/>
          <p:nvPr/>
        </p:nvSpPr>
        <p:spPr>
          <a:xfrm>
            <a:off x="10945368" y="457200"/>
            <a:ext cx="128016" cy="128016"/>
          </a:xfrm>
          <a:prstGeom prst="ellipse">
            <a:avLst/>
          </a:prstGeom>
          <a:solidFill>
            <a:srgbClr val="0093C4"/>
          </a:solidFill>
          <a:ln/>
        </p:spPr>
      </p:sp>
      <p:sp>
        <p:nvSpPr>
          <p:cNvPr id="5" name="Shape 3"/>
          <p:cNvSpPr/>
          <p:nvPr/>
        </p:nvSpPr>
        <p:spPr>
          <a:xfrm>
            <a:off x="11137392" y="457200"/>
            <a:ext cx="128016" cy="128016"/>
          </a:xfrm>
          <a:prstGeom prst="ellipse">
            <a:avLst/>
          </a:prstGeom>
          <a:solidFill>
            <a:srgbClr val="D0266E"/>
          </a:solidFill>
          <a:ln/>
        </p:spPr>
      </p:sp>
      <p:sp>
        <p:nvSpPr>
          <p:cNvPr id="6" name="Shape 4"/>
          <p:cNvSpPr/>
          <p:nvPr/>
        </p:nvSpPr>
        <p:spPr>
          <a:xfrm>
            <a:off x="11329416" y="457200"/>
            <a:ext cx="128016" cy="128016"/>
          </a:xfrm>
          <a:prstGeom prst="ellipse">
            <a:avLst/>
          </a:prstGeom>
          <a:solidFill>
            <a:srgbClr val="F2B600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457200"/>
            <a:ext cx="128016" cy="128016"/>
          </a:xfrm>
          <a:prstGeom prst="ellipse">
            <a:avLst/>
          </a:prstGeom>
          <a:solidFill>
            <a:srgbClr val="1B20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183112" y="64008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8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5408676" cy="21945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0093C4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645920" y="18745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并发下的数据一致性</a:t>
            </a:r>
            <a:endParaRPr lang="zh-CN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6974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 </a:t>
            </a:r>
            <a:pPr indent="0" marL="0">
              <a:buNone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多台设备同时取单，可能重复打印或库存超扣</a:t>
            </a:r>
            <a:endParaRPr lang="zh-CN" sz="1400" dirty="0"/>
          </a:p>
        </p:txBody>
      </p:sp>
      <p:sp>
        <p:nvSpPr>
          <p:cNvPr id="14" name="Shape 11"/>
          <p:cNvSpPr/>
          <p:nvPr/>
        </p:nvSpPr>
        <p:spPr>
          <a:xfrm>
            <a:off x="731520" y="3172968"/>
            <a:ext cx="504291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31729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007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  </a:t>
            </a:r>
            <a:pPr indent="0" marL="0">
              <a:buNone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“选单—占设备—预留纸张”放进同一临界区</a:t>
            </a:r>
            <a:endParaRPr lang="zh-CN" sz="1400" dirty="0"/>
          </a:p>
        </p:txBody>
      </p:sp>
      <p:sp>
        <p:nvSpPr>
          <p:cNvPr id="16" name="Shape 13"/>
          <p:cNvSpPr/>
          <p:nvPr/>
        </p:nvSpPr>
        <p:spPr>
          <a:xfrm>
            <a:off x="6231636" y="1600200"/>
            <a:ext cx="5408676" cy="21945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/>
        </p:spPr>
      </p:sp>
      <p:sp>
        <p:nvSpPr>
          <p:cNvPr id="17" name="Shape 14"/>
          <p:cNvSpPr/>
          <p:nvPr/>
        </p:nvSpPr>
        <p:spPr>
          <a:xfrm>
            <a:off x="6505956" y="1874520"/>
            <a:ext cx="640080" cy="640080"/>
          </a:xfrm>
          <a:prstGeom prst="ellipse">
            <a:avLst/>
          </a:prstGeom>
          <a:solidFill>
            <a:srgbClr val="D0266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0345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328916" y="18745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常驻运行与故障恢复</a:t>
            </a:r>
            <a:endParaRPr lang="zh-CN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6505956" y="26974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 </a:t>
            </a:r>
            <a:pPr indent="0" marL="0">
              <a:buNone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界面关闭或后台崩溃时，订单可能丢失或重复执行</a:t>
            </a:r>
            <a:endParaRPr lang="zh-CN" sz="1400" dirty="0"/>
          </a:p>
        </p:txBody>
      </p:sp>
      <p:sp>
        <p:nvSpPr>
          <p:cNvPr id="21" name="Shape 17"/>
          <p:cNvSpPr/>
          <p:nvPr/>
        </p:nvSpPr>
        <p:spPr>
          <a:xfrm>
            <a:off x="6414516" y="3172968"/>
            <a:ext cx="504291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505956" y="31729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BE1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  </a:t>
            </a:r>
            <a:pPr indent="0" marL="0">
              <a:buNone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守护进程负责拉起；先保存状态再执行，重启先核对</a:t>
            </a:r>
            <a:endParaRPr lang="zh-CN" sz="1400" dirty="0"/>
          </a:p>
        </p:txBody>
      </p:sp>
      <p:sp>
        <p:nvSpPr>
          <p:cNvPr id="23" name="Shape 19"/>
          <p:cNvSpPr/>
          <p:nvPr/>
        </p:nvSpPr>
        <p:spPr>
          <a:xfrm>
            <a:off x="548640" y="4069080"/>
            <a:ext cx="5408676" cy="21945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/>
        </p:spPr>
      </p:sp>
      <p:sp>
        <p:nvSpPr>
          <p:cNvPr id="24" name="Shape 20"/>
          <p:cNvSpPr/>
          <p:nvPr/>
        </p:nvSpPr>
        <p:spPr>
          <a:xfrm>
            <a:off x="822960" y="4343400"/>
            <a:ext cx="640080" cy="640080"/>
          </a:xfrm>
          <a:prstGeom prst="ellipse">
            <a:avLst/>
          </a:prstGeom>
          <a:solidFill>
            <a:srgbClr val="F2B600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503420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645920" y="43434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跨平台差异</a:t>
            </a:r>
            <a:endParaRPr lang="zh-CN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822960" y="51663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 </a:t>
            </a:r>
            <a:pPr indent="0" marL="0">
              <a:buNone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传统守护进程依赖 fork、setsid，Windows 无直接对应</a:t>
            </a:r>
            <a:endParaRPr lang="zh-CN" sz="1400" dirty="0"/>
          </a:p>
        </p:txBody>
      </p:sp>
      <p:sp>
        <p:nvSpPr>
          <p:cNvPr id="28" name="Shape 23"/>
          <p:cNvSpPr/>
          <p:nvPr/>
        </p:nvSpPr>
        <p:spPr>
          <a:xfrm>
            <a:off x="731520" y="5641848"/>
            <a:ext cx="504291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22960" y="56418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8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  </a:t>
            </a:r>
            <a:pPr indent="0" marL="0">
              <a:buNone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按平台区分实现方式，并在答辩中如实说明差异</a:t>
            </a:r>
            <a:endParaRPr lang="zh-CN" sz="1400" dirty="0"/>
          </a:p>
        </p:txBody>
      </p:sp>
      <p:sp>
        <p:nvSpPr>
          <p:cNvPr id="30" name="Shape 25"/>
          <p:cNvSpPr/>
          <p:nvPr/>
        </p:nvSpPr>
        <p:spPr>
          <a:xfrm>
            <a:off x="6231636" y="4069080"/>
            <a:ext cx="5408676" cy="21945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/>
        </p:spPr>
      </p:sp>
      <p:sp>
        <p:nvSpPr>
          <p:cNvPr id="31" name="Shape 26"/>
          <p:cNvSpPr/>
          <p:nvPr/>
        </p:nvSpPr>
        <p:spPr>
          <a:xfrm>
            <a:off x="6505956" y="4343400"/>
            <a:ext cx="640080" cy="640080"/>
          </a:xfrm>
          <a:prstGeom prst="ellipse">
            <a:avLst/>
          </a:prstGeom>
          <a:solidFill>
            <a:srgbClr val="1B2030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503420"/>
            <a:ext cx="320040" cy="32004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328916" y="43434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缺少真实数据，评估困难</a:t>
            </a:r>
            <a:endParaRPr lang="zh-CN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6505956" y="51663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 </a:t>
            </a:r>
            <a:pPr indent="0" marL="0">
              <a:buNone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没有真实订单记录，顾客是否愿等也只能假设</a:t>
            </a:r>
            <a:endParaRPr lang="zh-CN" sz="1400" dirty="0"/>
          </a:p>
        </p:txBody>
      </p:sp>
      <p:sp>
        <p:nvSpPr>
          <p:cNvPr id="35" name="Shape 29"/>
          <p:cNvSpPr/>
          <p:nvPr/>
        </p:nvSpPr>
        <p:spPr>
          <a:xfrm>
            <a:off x="6414516" y="5641848"/>
            <a:ext cx="504291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505956" y="56418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  </a:t>
            </a:r>
            <a:pPr indent="0" marL="0">
              <a:buNone/>
            </a:pPr>
            <a:r>
              <a:rPr lang="zh-CN" altLang="en-US" sz="14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构造可复现的模拟订单，并明确标注各项假设</a:t>
            </a:r>
            <a:endParaRPr lang="zh-CN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spc="100" kern="0" dirty="0">
                <a:solidFill>
                  <a:srgbClr val="007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pPr indent="0" marL="0">
              <a:buNone/>
            </a:pPr>
            <a:r>
              <a:rPr lang="zh-CN" altLang="en-US" sz="1200" spc="100" kern="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分工与计划</a:t>
            </a:r>
            <a:endParaRPr lang="zh-CN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小组分工与后续安排</a:t>
            </a:r>
            <a:endParaRPr lang="zh-CN" sz="3000" dirty="0"/>
          </a:p>
        </p:txBody>
      </p:sp>
      <p:sp>
        <p:nvSpPr>
          <p:cNvPr id="4" name="Shape 2"/>
          <p:cNvSpPr/>
          <p:nvPr/>
        </p:nvSpPr>
        <p:spPr>
          <a:xfrm>
            <a:off x="10945368" y="457200"/>
            <a:ext cx="128016" cy="128016"/>
          </a:xfrm>
          <a:prstGeom prst="ellipse">
            <a:avLst/>
          </a:prstGeom>
          <a:solidFill>
            <a:srgbClr val="0093C4"/>
          </a:solidFill>
          <a:ln/>
        </p:spPr>
      </p:sp>
      <p:sp>
        <p:nvSpPr>
          <p:cNvPr id="5" name="Shape 3"/>
          <p:cNvSpPr/>
          <p:nvPr/>
        </p:nvSpPr>
        <p:spPr>
          <a:xfrm>
            <a:off x="11137392" y="457200"/>
            <a:ext cx="128016" cy="128016"/>
          </a:xfrm>
          <a:prstGeom prst="ellipse">
            <a:avLst/>
          </a:prstGeom>
          <a:solidFill>
            <a:srgbClr val="D0266E"/>
          </a:solidFill>
          <a:ln/>
        </p:spPr>
      </p:sp>
      <p:sp>
        <p:nvSpPr>
          <p:cNvPr id="6" name="Shape 4"/>
          <p:cNvSpPr/>
          <p:nvPr/>
        </p:nvSpPr>
        <p:spPr>
          <a:xfrm>
            <a:off x="11329416" y="457200"/>
            <a:ext cx="128016" cy="128016"/>
          </a:xfrm>
          <a:prstGeom prst="ellipse">
            <a:avLst/>
          </a:prstGeom>
          <a:solidFill>
            <a:srgbClr val="F2B600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457200"/>
            <a:ext cx="128016" cy="128016"/>
          </a:xfrm>
          <a:prstGeom prst="ellipse">
            <a:avLst/>
          </a:prstGeom>
          <a:solidFill>
            <a:srgbClr val="1B20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183112" y="64008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8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3514039" cy="2514600"/>
          </a:xfrm>
          <a:prstGeom prst="roundRect">
            <a:avLst>
              <a:gd name="adj" fmla="val 4364"/>
            </a:avLst>
          </a:prstGeom>
          <a:solidFill>
            <a:srgbClr val="F2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611880"/>
            <a:ext cx="296539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611880"/>
            <a:ext cx="2965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007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涉及原理  </a:t>
            </a:r>
            <a:pPr algn="ctr" indent="0" marL="0">
              <a:buNone/>
            </a:pPr>
            <a:r>
              <a:rPr lang="zh-CN" altLang="en-US" sz="12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处理机调度 · 同步互斥</a:t>
            </a:r>
            <a:endParaRPr lang="zh-CN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874520"/>
            <a:ext cx="621792" cy="621792"/>
          </a:xfrm>
          <a:prstGeom prst="ellipse">
            <a:avLst/>
          </a:prstGeom>
          <a:solidFill>
            <a:srgbClr val="0093C4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29968"/>
            <a:ext cx="310896" cy="31089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600200" y="18379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A · 韦祺振</a:t>
            </a:r>
            <a:endParaRPr lang="zh-CN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22037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50" b="1" dirty="0">
                <a:solidFill>
                  <a:srgbClr val="007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调度策略与经营分析</a:t>
            </a:r>
            <a:endParaRPr lang="zh-CN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267919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调度策略与订单状态设计</a:t>
            </a:r>
            <a:endParaRPr lang="zh-CN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报价、库存与经营统计口径</a:t>
            </a:r>
            <a:endParaRPr lang="zh-CN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策略对比实验与结果分析</a:t>
            </a:r>
            <a:endParaRPr lang="zh-CN" sz="1300" dirty="0"/>
          </a:p>
        </p:txBody>
      </p:sp>
      <p:sp>
        <p:nvSpPr>
          <p:cNvPr id="17" name="Shape 14"/>
          <p:cNvSpPr/>
          <p:nvPr/>
        </p:nvSpPr>
        <p:spPr>
          <a:xfrm>
            <a:off x="4336999" y="1600200"/>
            <a:ext cx="3514039" cy="2514600"/>
          </a:xfrm>
          <a:prstGeom prst="roundRect">
            <a:avLst>
              <a:gd name="adj" fmla="val 4364"/>
            </a:avLst>
          </a:prstGeom>
          <a:solidFill>
            <a:srgbClr val="F2F4F8"/>
          </a:solidFill>
          <a:ln/>
        </p:spPr>
      </p:sp>
      <p:sp>
        <p:nvSpPr>
          <p:cNvPr id="18" name="Shape 15"/>
          <p:cNvSpPr/>
          <p:nvPr/>
        </p:nvSpPr>
        <p:spPr>
          <a:xfrm>
            <a:off x="4611319" y="3611880"/>
            <a:ext cx="296539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611319" y="3611880"/>
            <a:ext cx="2965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BE1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涉及原理  </a:t>
            </a:r>
            <a:pPr algn="ctr" indent="0" marL="0">
              <a:buNone/>
            </a:pPr>
            <a:r>
              <a:rPr lang="zh-CN" altLang="en-US" sz="12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守护进程 · IPC · 文件锁</a:t>
            </a:r>
            <a:endParaRPr lang="zh-CN" sz="1200" dirty="0"/>
          </a:p>
        </p:txBody>
      </p:sp>
      <p:sp>
        <p:nvSpPr>
          <p:cNvPr id="20" name="Shape 17"/>
          <p:cNvSpPr/>
          <p:nvPr/>
        </p:nvSpPr>
        <p:spPr>
          <a:xfrm>
            <a:off x="4611319" y="1874520"/>
            <a:ext cx="621792" cy="621792"/>
          </a:xfrm>
          <a:prstGeom prst="ellipse">
            <a:avLst/>
          </a:prstGeom>
          <a:solidFill>
            <a:srgbClr val="D0266E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767" y="2029968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388559" y="18379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B</a:t>
            </a:r>
            <a:endParaRPr lang="zh-CN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5388559" y="22037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50" b="1" dirty="0">
                <a:solidFill>
                  <a:srgbClr val="BE1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进程管理与数据可靠</a:t>
            </a:r>
            <a:endParaRPr lang="zh-CN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4611319" y="267919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进程管理与守护进程</a:t>
            </a:r>
            <a:endParaRPr lang="zh-CN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前后台之间的进程通信</a:t>
            </a:r>
            <a:endParaRPr lang="zh-CN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文件存储、文件锁与故障恢复</a:t>
            </a:r>
            <a:endParaRPr lang="zh-CN" sz="1300" dirty="0"/>
          </a:p>
        </p:txBody>
      </p:sp>
      <p:sp>
        <p:nvSpPr>
          <p:cNvPr id="25" name="Shape 21"/>
          <p:cNvSpPr/>
          <p:nvPr/>
        </p:nvSpPr>
        <p:spPr>
          <a:xfrm>
            <a:off x="8125358" y="1600200"/>
            <a:ext cx="3514039" cy="2514600"/>
          </a:xfrm>
          <a:prstGeom prst="roundRect">
            <a:avLst>
              <a:gd name="adj" fmla="val 4364"/>
            </a:avLst>
          </a:prstGeom>
          <a:solidFill>
            <a:srgbClr val="F2F4F8"/>
          </a:solidFill>
          <a:ln/>
        </p:spPr>
      </p:sp>
      <p:sp>
        <p:nvSpPr>
          <p:cNvPr id="26" name="Shape 22"/>
          <p:cNvSpPr/>
          <p:nvPr/>
        </p:nvSpPr>
        <p:spPr>
          <a:xfrm>
            <a:off x="8399678" y="3611880"/>
            <a:ext cx="296539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399678" y="3611880"/>
            <a:ext cx="2965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8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涉及原理  </a:t>
            </a:r>
            <a:pPr algn="ctr" indent="0" marL="0">
              <a:buNone/>
            </a:pPr>
            <a:r>
              <a:rPr lang="zh-CN" altLang="en-US" sz="12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多线程 · 事件与消息传递</a:t>
            </a:r>
            <a:endParaRPr lang="zh-CN" sz="1200" dirty="0"/>
          </a:p>
        </p:txBody>
      </p:sp>
      <p:sp>
        <p:nvSpPr>
          <p:cNvPr id="28" name="Shape 24"/>
          <p:cNvSpPr/>
          <p:nvPr/>
        </p:nvSpPr>
        <p:spPr>
          <a:xfrm>
            <a:off x="8399678" y="1874520"/>
            <a:ext cx="621792" cy="621792"/>
          </a:xfrm>
          <a:prstGeom prst="ellipse">
            <a:avLst/>
          </a:prstGeom>
          <a:solidFill>
            <a:srgbClr val="F2B600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26" y="2029968"/>
            <a:ext cx="310896" cy="310896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176918" y="18379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C</a:t>
            </a:r>
            <a:endParaRPr lang="zh-CN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9176918" y="22037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50" b="1" dirty="0">
                <a:solidFill>
                  <a:srgbClr val="8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界面交互与跨平台集成</a:t>
            </a:r>
            <a:endParaRPr lang="zh-CN" sz="1250" dirty="0"/>
          </a:p>
        </p:txBody>
      </p:sp>
      <p:sp>
        <p:nvSpPr>
          <p:cNvPr id="32" name="Text 27"/>
          <p:cNvSpPr txBox="1"/>
          <p:nvPr/>
        </p:nvSpPr>
        <p:spPr>
          <a:xfrm>
            <a:off x="8399678" y="267919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学生端与店主端界面</a:t>
            </a:r>
            <a:endParaRPr lang="zh-CN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交互体验与界面响应</a:t>
            </a:r>
            <a:endParaRPr lang="zh-CN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跨平台构建、打包与联调</a:t>
            </a:r>
            <a:endParaRPr lang="zh-CN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后续进度（依据课程安排）</a:t>
            </a:r>
            <a:endParaRPr lang="zh-CN" sz="1300" dirty="0"/>
          </a:p>
        </p:txBody>
      </p:sp>
      <p:sp>
        <p:nvSpPr>
          <p:cNvPr id="34" name="Shape 29"/>
          <p:cNvSpPr/>
          <p:nvPr/>
        </p:nvSpPr>
        <p:spPr>
          <a:xfrm>
            <a:off x="1657807" y="5120640"/>
            <a:ext cx="8873338" cy="0"/>
          </a:xfrm>
          <a:prstGeom prst="line">
            <a:avLst/>
          </a:prstGeom>
          <a:noFill/>
          <a:ln w="31750">
            <a:solidFill>
              <a:srgbClr val="D9DEE7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511503" y="4974336"/>
            <a:ext cx="292608" cy="292608"/>
          </a:xfrm>
          <a:prstGeom prst="ellipse">
            <a:avLst/>
          </a:prstGeom>
          <a:solidFill>
            <a:srgbClr val="0093C4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606247" y="5440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1–2 周</a:t>
            </a:r>
            <a:endParaRPr lang="zh-CN" sz="1400" dirty="0"/>
          </a:p>
        </p:txBody>
      </p:sp>
      <p:sp>
        <p:nvSpPr>
          <p:cNvPr id="37" name="Text 32"/>
          <p:cNvSpPr txBox="1"/>
          <p:nvPr/>
        </p:nvSpPr>
        <p:spPr>
          <a:xfrm>
            <a:off x="651967" y="5788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5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组队、需求分析与概要设计</a:t>
            </a:r>
            <a:endParaRPr lang="zh-CN" sz="1250" dirty="0"/>
          </a:p>
        </p:txBody>
      </p:sp>
      <p:sp>
        <p:nvSpPr>
          <p:cNvPr id="38" name="Shape 33"/>
          <p:cNvSpPr/>
          <p:nvPr/>
        </p:nvSpPr>
        <p:spPr>
          <a:xfrm>
            <a:off x="3674974" y="4919472"/>
            <a:ext cx="402336" cy="402336"/>
          </a:xfrm>
          <a:prstGeom prst="ellipse">
            <a:avLst/>
          </a:prstGeom>
          <a:solidFill>
            <a:srgbClr val="D0266E"/>
          </a:solidFill>
          <a:ln w="50800">
            <a:solidFill>
              <a:srgbClr val="FBE6EF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2824582" y="5440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BE1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周（本周）</a:t>
            </a:r>
            <a:endParaRPr lang="zh-CN" sz="1400" dirty="0"/>
          </a:p>
        </p:txBody>
      </p:sp>
      <p:sp>
        <p:nvSpPr>
          <p:cNvPr id="40" name="Text 35"/>
          <p:cNvSpPr txBox="1"/>
          <p:nvPr/>
        </p:nvSpPr>
        <p:spPr>
          <a:xfrm>
            <a:off x="2870302" y="5788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5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选题、难点与分工汇报</a:t>
            </a:r>
            <a:endParaRPr lang="zh-CN" sz="1250" dirty="0"/>
          </a:p>
        </p:txBody>
      </p:sp>
      <p:sp>
        <p:nvSpPr>
          <p:cNvPr id="41" name="Shape 36"/>
          <p:cNvSpPr/>
          <p:nvPr/>
        </p:nvSpPr>
        <p:spPr>
          <a:xfrm>
            <a:off x="5948172" y="497433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E97AB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5042916" y="5440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4–5 周</a:t>
            </a:r>
            <a:endParaRPr lang="zh-CN" sz="1400" dirty="0"/>
          </a:p>
        </p:txBody>
      </p:sp>
      <p:sp>
        <p:nvSpPr>
          <p:cNvPr id="43" name="Text 38"/>
          <p:cNvSpPr txBox="1"/>
          <p:nvPr/>
        </p:nvSpPr>
        <p:spPr>
          <a:xfrm>
            <a:off x="5088636" y="5788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5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集中编码实现</a:t>
            </a:r>
            <a:endParaRPr lang="zh-CN" sz="1250" dirty="0"/>
          </a:p>
        </p:txBody>
      </p:sp>
      <p:sp>
        <p:nvSpPr>
          <p:cNvPr id="44" name="Shape 39"/>
          <p:cNvSpPr/>
          <p:nvPr/>
        </p:nvSpPr>
        <p:spPr>
          <a:xfrm>
            <a:off x="8166506" y="497433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E97AB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7261250" y="5440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周</a:t>
            </a:r>
            <a:endParaRPr lang="zh-CN" sz="1400" dirty="0"/>
          </a:p>
        </p:txBody>
      </p:sp>
      <p:sp>
        <p:nvSpPr>
          <p:cNvPr id="46" name="Text 41"/>
          <p:cNvSpPr txBox="1"/>
          <p:nvPr/>
        </p:nvSpPr>
        <p:spPr>
          <a:xfrm>
            <a:off x="7306970" y="5788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5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小组展示与验收</a:t>
            </a:r>
            <a:endParaRPr lang="zh-CN" sz="1250" dirty="0"/>
          </a:p>
        </p:txBody>
      </p:sp>
      <p:sp>
        <p:nvSpPr>
          <p:cNvPr id="47" name="Shape 42"/>
          <p:cNvSpPr/>
          <p:nvPr/>
        </p:nvSpPr>
        <p:spPr>
          <a:xfrm>
            <a:off x="10384841" y="497433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E97AB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9479585" y="5440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1B2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7–8 周</a:t>
            </a:r>
            <a:endParaRPr lang="zh-CN" sz="1400" dirty="0"/>
          </a:p>
        </p:txBody>
      </p:sp>
      <p:sp>
        <p:nvSpPr>
          <p:cNvPr id="49" name="Text 44"/>
          <p:cNvSpPr txBox="1"/>
          <p:nvPr/>
        </p:nvSpPr>
        <p:spPr>
          <a:xfrm>
            <a:off x="9525305" y="5788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5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个人汇报与答辩</a:t>
            </a:r>
            <a:endParaRPr lang="zh-CN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1261872"/>
            <a:ext cx="3017520" cy="3017520"/>
          </a:xfrm>
          <a:prstGeom prst="ellipse">
            <a:avLst/>
          </a:prstGeom>
          <a:solidFill>
            <a:srgbClr val="0093C4">
              <a:alpha val="7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41080" y="1261872"/>
            <a:ext cx="3017520" cy="3017520"/>
          </a:xfrm>
          <a:prstGeom prst="ellipse">
            <a:avLst/>
          </a:prstGeom>
          <a:solidFill>
            <a:srgbClr val="D0266E">
              <a:alpha val="7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2606040"/>
            <a:ext cx="3017520" cy="3017520"/>
          </a:xfrm>
          <a:prstGeom prst="ellipse">
            <a:avLst/>
          </a:prstGeom>
          <a:solidFill>
            <a:srgbClr val="F2B600">
              <a:alpha val="7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128016" cy="128016"/>
          </a:xfrm>
          <a:prstGeom prst="ellipse">
            <a:avLst/>
          </a:prstGeom>
          <a:solidFill>
            <a:srgbClr val="0093C4"/>
          </a:solidFill>
          <a:ln/>
        </p:spPr>
      </p:sp>
      <p:sp>
        <p:nvSpPr>
          <p:cNvPr id="6" name="Shape 4"/>
          <p:cNvSpPr/>
          <p:nvPr/>
        </p:nvSpPr>
        <p:spPr>
          <a:xfrm>
            <a:off x="923544" y="1828800"/>
            <a:ext cx="128016" cy="128016"/>
          </a:xfrm>
          <a:prstGeom prst="ellipse">
            <a:avLst/>
          </a:prstGeom>
          <a:solidFill>
            <a:srgbClr val="D0266E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1828800"/>
            <a:ext cx="128016" cy="128016"/>
          </a:xfrm>
          <a:prstGeom prst="ellipse">
            <a:avLst/>
          </a:prstGeom>
          <a:solidFill>
            <a:srgbClr val="F2B600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82880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1488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zh-CN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1089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C9CF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敬请老师和同学批评指正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406908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2B32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069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真实场景驱动</a:t>
            </a:r>
            <a:endParaRPr lang="zh-CN" sz="1300" dirty="0"/>
          </a:p>
        </p:txBody>
      </p:sp>
      <p:sp>
        <p:nvSpPr>
          <p:cNvPr id="13" name="Shape 11"/>
          <p:cNvSpPr/>
          <p:nvPr/>
        </p:nvSpPr>
        <p:spPr>
          <a:xfrm>
            <a:off x="2697480" y="406908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2B324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697480" y="4069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 原理贯通</a:t>
            </a:r>
            <a:endParaRPr lang="zh-CN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406908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2B32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4069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策略可量化对比</a:t>
            </a:r>
            <a:endParaRPr lang="zh-CN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校园打印店经营管理与多设备协同调度系统 · 第3周小组汇报</dc:title>
  <dc:subject>PptxGenJS Presentation</dc:subject>
  <dc:creator>PptxGenJS</dc:creator>
  <cp:lastModifiedBy>PptxGenJS</cp:lastModifiedBy>
  <cp:revision>1</cp:revision>
  <dcterms:created xsi:type="dcterms:W3CDTF">2026-09-27T12:46:26Z</dcterms:created>
  <dcterms:modified xsi:type="dcterms:W3CDTF">2026-09-27T12:46:26Z</dcterms:modified>
</cp:coreProperties>
</file>